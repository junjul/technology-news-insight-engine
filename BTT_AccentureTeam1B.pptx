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omments/comment1.xml" ContentType="application/vnd.openxmlformats-officedocument.presentationml.comment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omments/comment2.xml" ContentType="application/vnd.openxmlformats-officedocument.presentationml.comment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5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7" r:id="rId42"/>
    <p:sldId id="298" r:id="rId43"/>
    <p:sldId id="299" r:id="rId44"/>
    <p:sldId id="300" r:id="rId45"/>
    <p:sldId id="301" r:id="rId46"/>
    <p:sldId id="302" r:id="rId47"/>
    <p:sldId id="303" r:id="rId48"/>
    <p:sldId id="304" r:id="rId49"/>
  </p:sldIdLst>
  <p:sldSz cx="9144000" cy="5143500" type="screen16x9"/>
  <p:notesSz cx="6858000" cy="9144000"/>
  <p:embeddedFontLst>
    <p:embeddedFont>
      <p:font typeface="Montserrat" panose="00000500000000000000" pitchFamily="2" charset="0"/>
      <p:regular r:id="rId51"/>
      <p:bold r:id="rId52"/>
      <p:italic r:id="rId53"/>
      <p:boldItalic r:id="rId54"/>
    </p:embeddedFont>
    <p:embeddedFont>
      <p:font typeface="Open Sans" panose="020B0606030504020204" pitchFamily="34" charset="0"/>
      <p:regular r:id="rId55"/>
      <p:bold r:id="rId56"/>
      <p:italic r:id="rId57"/>
      <p:boldItalic r:id="rId58"/>
    </p:embeddedFont>
    <p:embeddedFont>
      <p:font typeface="Open Sans Light" panose="020B0306030504020204" pitchFamily="34" charset="0"/>
      <p:regular r:id="rId59"/>
      <p:bold r:id="rId60"/>
      <p:italic r:id="rId61"/>
      <p:boldItalic r:id="rId62"/>
    </p:embeddedFont>
    <p:embeddedFont>
      <p:font typeface="Roboto" panose="02000000000000000000" pitchFamily="2" charset="0"/>
      <p:regular r:id="rId63"/>
      <p:bold r:id="rId64"/>
      <p:italic r:id="rId65"/>
      <p:boldItalic r:id="rId6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73" roundtripDataSignature="AMtx7mgLG/USoSyWTLhjoiZun+WRCEYqzA=="/>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Hari Raghavan" initials="" lastIdx="3"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EC7C10E-6A8A-40AE-B7CC-C4A1520B83F7}">
  <a:tblStyle styleId="{FEC7C10E-6A8A-40AE-B7CC-C4A1520B83F7}"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58" d="100"/>
          <a:sy n="158" d="100"/>
        </p:scale>
        <p:origin x="264" y="13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13.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3.fntdata"/><Relationship Id="rId58" Type="http://schemas.openxmlformats.org/officeDocument/2006/relationships/font" Target="fonts/font8.fntdata"/><Relationship Id="rId66" Type="http://schemas.openxmlformats.org/officeDocument/2006/relationships/font" Target="fonts/font16.fntdata"/><Relationship Id="rId74" Type="http://schemas.openxmlformats.org/officeDocument/2006/relationships/commentAuthors" Target="commentAuthors.xml"/><Relationship Id="rId5" Type="http://schemas.openxmlformats.org/officeDocument/2006/relationships/slide" Target="slides/slide4.xml"/><Relationship Id="rId61" Type="http://schemas.openxmlformats.org/officeDocument/2006/relationships/font" Target="fonts/font11.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6.fntdata"/><Relationship Id="rId64" Type="http://schemas.openxmlformats.org/officeDocument/2006/relationships/font" Target="fonts/font14.fntdata"/><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font" Target="fonts/font1.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9.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4.fntdata"/><Relationship Id="rId62" Type="http://schemas.openxmlformats.org/officeDocument/2006/relationships/font" Target="fonts/font12.fntdata"/><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7.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2.fntdata"/><Relationship Id="rId60" Type="http://schemas.openxmlformats.org/officeDocument/2006/relationships/font" Target="fonts/font10.fntdata"/><Relationship Id="rId65" Type="http://schemas.openxmlformats.org/officeDocument/2006/relationships/font" Target="fonts/font15.fntdata"/><Relationship Id="rId73" Type="http://customschemas.google.com/relationships/presentationmetadata" Target="metadata"/><Relationship Id="rId7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notesMaster" Target="notesMasters/notesMaster1.xml"/><Relationship Id="rId55" Type="http://schemas.openxmlformats.org/officeDocument/2006/relationships/font" Target="fonts/font5.fntdata"/><Relationship Id="rId76" Type="http://schemas.openxmlformats.org/officeDocument/2006/relationships/viewProps" Target="viewProps.xml"/></Relationships>
</file>

<file path=ppt/comments/comment1.xml><?xml version="1.0" encoding="utf-8"?>
<p:cmLst xmlns:a="http://schemas.openxmlformats.org/drawingml/2006/main" xmlns:r="http://schemas.openxmlformats.org/officeDocument/2006/relationships" xmlns:p="http://schemas.openxmlformats.org/presentationml/2006/main">
  <p:cm authorId="0" dt="2024-10-09T19:48:34.499" idx="1">
    <p:pos x="196" y="570"/>
    <p:text>*Remember:* The audience for your final presentation will likely include both technical and non-technical employees of your AI Studio host company. Throughout your presentation, try to *explain technical concepts in a way that is detailed enough for technical audience members to appreciate the depth and complexity, while also being clear enough for non-technical audience members to understand the key ideas.*</p:text>
    <p:extLst>
      <p:ext uri="{C676402C-5697-4E1C-873F-D02D1690AC5C}">
        <p15:threadingInfo xmlns:p15="http://schemas.microsoft.com/office/powerpoint/2012/main" timeZoneBias="0"/>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commentPostId="AAABXXzTTXI"/>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0" dt="2022-11-18T17:20:43.565" idx="3">
    <p:pos x="0" y="0"/>
    <p:text>You might decide to just embed your visualizations on the previous slides related to the Data Phase. This slide and other ones like it can be used it you'd like to have a full slide dedicated to an image.</p:text>
    <p:extLst>
      <p:ext uri="{C676402C-5697-4E1C-873F-D02D1690AC5C}">
        <p15:threadingInfo xmlns:p15="http://schemas.microsoft.com/office/powerpoint/2012/main" timeZoneBias="0"/>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commentPostId="AAABXXg3QT4"/>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Jasmine</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8" name="Google Shape;58;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Everyone introduce themselves</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p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5" name="Google Shape;75;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Jasmine</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3" name="Google Shape;83;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solidFill>
                  <a:schemeClr val="dk1"/>
                </a:solidFill>
              </a:rPr>
              <a:t>Jasmine</a:t>
            </a: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9" name="Google Shape;89;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4" name="Google Shape;94;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Joyce</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2" name="Google Shape;102;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solidFill>
                  <a:schemeClr val="dk1"/>
                </a:solidFill>
              </a:rPr>
              <a:t>Heidi</a:t>
            </a:r>
            <a:endParaRPr>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9" name="Google Shape;109;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solidFill>
                  <a:schemeClr val="dk1"/>
                </a:solidFill>
              </a:rPr>
              <a:t>Joyce</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6" name="Google Shape;116;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Joyce</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3" name="Google Shape;153;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Joyce</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0" name="Google Shape;160;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Heidi</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5" name="Google Shape;165;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Heidi</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5" name="Google Shape;175;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May</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n"/>
              <a:t>Explain what’s on the slide and then say how the knowledge graph relations can be made. For example, we can do organization related to the tech topic and product related to the tech topic.</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4" name="Google Shape;184;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Jasmine</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5" name="Google Shape;195;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Jasmine</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0" name="Google Shape;200;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Jasmine</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n"/>
              <a:t>We can see how Microsoft and Google have a consistent sentiment analysis scores and never goes down to the negatives. Epic Games, Salesforce, and Sony fluctuates a lot. Looking at this data, I would recommend more use of Microsoft and Google products based on the graph because of their consistent sentiment as the sentiment is being measured by if the organization was mentioned in a positive or negative way in the articles.</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31a12ce4440_1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8" name="Google Shape;208;g31a12ce4440_1_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Heidi</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n"/>
              <a:t>We see that Google consistently has the highest volume of articles over time in our sample while the other companies tend to fluctuate more. This tells us that the company receives more media attention and appears to be the leader in terms of influence and innovation in the dataset, so we would recommend Accenture seek potential partnerships and collaborations with the company,</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g31a12ce4440_1_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5" name="Google Shape;215;g31a12ce4440_1_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Heidi</a:t>
            </a:r>
            <a:endParaRPr/>
          </a:p>
          <a:p>
            <a:pPr marL="0" lvl="0" indent="0" algn="l" rtl="0">
              <a:lnSpc>
                <a:spcPct val="100000"/>
              </a:lnSpc>
              <a:spcBef>
                <a:spcPts val="0"/>
              </a:spcBef>
              <a:spcAft>
                <a:spcPts val="0"/>
              </a:spcAft>
              <a:buSzPts val="1100"/>
              <a:buNone/>
            </a:pPr>
            <a:endParaRPr sz="900">
              <a:solidFill>
                <a:schemeClr val="dk1"/>
              </a:solidFill>
            </a:endParaRPr>
          </a:p>
          <a:p>
            <a:pPr marL="0" lvl="0" indent="0" algn="l" rtl="0">
              <a:lnSpc>
                <a:spcPct val="100000"/>
              </a:lnSpc>
              <a:spcBef>
                <a:spcPts val="0"/>
              </a:spcBef>
              <a:spcAft>
                <a:spcPts val="0"/>
              </a:spcAft>
              <a:buSzPts val="1100"/>
              <a:buNone/>
            </a:pPr>
            <a:r>
              <a:rPr lang="en">
                <a:solidFill>
                  <a:schemeClr val="dk1"/>
                </a:solidFill>
              </a:rPr>
              <a:t>For trend forecasting, we also visualized the volume of target keywords in the articles over time.To do this, we defined a list of target keywords to search for in the articles, filtered the articles containing each keyword and aggregated the count of articles mentioning the keywords on a monthly basis, then plotted the results as time-series data. We decided to plot data for the keywords AI, data science, machine learning, and Chatgpt, and we see that from the graph, AI overwhelmingly appears more in the articles than the rest of the keywords. </a:t>
            </a:r>
            <a:endParaRPr>
              <a:solidFill>
                <a:schemeClr val="dk1"/>
              </a:solidFill>
            </a:endParaRPr>
          </a:p>
          <a:p>
            <a:pPr marL="0" lvl="0" indent="0" algn="l" rtl="0">
              <a:lnSpc>
                <a:spcPct val="100000"/>
              </a:lnSpc>
              <a:spcBef>
                <a:spcPts val="0"/>
              </a:spcBef>
              <a:spcAft>
                <a:spcPts val="0"/>
              </a:spcAft>
              <a:buSzPts val="1100"/>
              <a:buNone/>
            </a:pPr>
            <a:endParaRPr sz="8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31a12ce4440_0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2" name="Google Shape;222;g31a12ce4440_0_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Jasmine</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g315f99d6be6_0_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8" name="Google Shape;228;g315f99d6be6_0_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Jun</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315f99d6be6_0_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3" name="Google Shape;233;g315f99d6be6_0_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Jun</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3039e3768f9_4_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4" name="Google Shape;244;g3039e3768f9_4_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Jun</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g3039e3768f9_4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9" name="Google Shape;249;g3039e3768f9_4_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Jun</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g31a98d15345_0_5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7" name="Google Shape;257;g31a98d15345_0_5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jun</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g31747919a0d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3" name="Google Shape;263;g31747919a0d_0_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Jun</a:t>
            </a:r>
            <a:endParaRPr/>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31747919a0d_0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4" name="Google Shape;274;g31747919a0d_0_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Jun</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31381c18348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2" name="Google Shape;282;g31381c18348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Jun</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g315f99d6be6_0_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2" name="Google Shape;292;g315f99d6be6_0_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Jun</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g315c8fdcda6_0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9" name="Google Shape;299;g315c8fdcda6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May</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315c8fdcda6_0_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4" name="Google Shape;304;g315c8fdcda6_0_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May</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g315c8fdcda6_0_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1" name="Google Shape;311;g315c8fdcda6_0_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May</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g31956de225e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8" name="Google Shape;318;g31956de225e_0_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Jun</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g31956de225e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3" name="Google Shape;323;g31956de225e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Jun</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g31956de225e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0" name="Google Shape;330;g31956de225e_0_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Jun</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g31a98d15345_0_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6" name="Google Shape;336;g31a98d15345_0_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Jun</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g31a98d15345_0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2" name="Google Shape;342;g31a98d15345_0_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Jun</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p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9" name="Google Shape;349;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p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54" name="Google Shape;354;p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Joyce</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g31c6c500ab9_0_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0" name="Google Shape;360;g31c6c500ab9_0_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p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5" name="Google Shape;365;p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g31a98d15345_0_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76" name="Google Shape;376;g31a98d15345_0_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
        <p:cNvGrpSpPr/>
        <p:nvPr/>
      </p:nvGrpSpPr>
      <p:grpSpPr>
        <a:xfrm>
          <a:off x="0" y="0"/>
          <a:ext cx="0" cy="0"/>
          <a:chOff x="0" y="0"/>
          <a:chExt cx="0" cy="0"/>
        </a:xfrm>
      </p:grpSpPr>
      <p:sp>
        <p:nvSpPr>
          <p:cNvPr id="380" name="Google Shape;380;g31a98d15345_0_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81" name="Google Shape;381;g31a98d15345_0_2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g31a98d15345_0_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87" name="Google Shape;387;g31a98d15345_0_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p:cNvGrpSpPr/>
        <p:nvPr/>
      </p:nvGrpSpPr>
      <p:grpSpPr>
        <a:xfrm>
          <a:off x="0" y="0"/>
          <a:ext cx="0" cy="0"/>
          <a:chOff x="0" y="0"/>
          <a:chExt cx="0" cy="0"/>
        </a:xfrm>
      </p:grpSpPr>
      <p:sp>
        <p:nvSpPr>
          <p:cNvPr id="392" name="Google Shape;392;g31a98d15345_0_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93" name="Google Shape;393;g31a98d15345_0_4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p:cNvGrpSpPr/>
        <p:nvPr/>
      </p:nvGrpSpPr>
      <p:grpSpPr>
        <a:xfrm>
          <a:off x="0" y="0"/>
          <a:ext cx="0" cy="0"/>
          <a:chOff x="0" y="0"/>
          <a:chExt cx="0" cy="0"/>
        </a:xfrm>
      </p:grpSpPr>
      <p:sp>
        <p:nvSpPr>
          <p:cNvPr id="398" name="Google Shape;398;g31a98d15345_0_4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99" name="Google Shape;399;g31a98d15345_0_4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g31c6c500ab9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05" name="Google Shape;405;g31c6c500ab9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9"/>
        <p:cNvGrpSpPr/>
        <p:nvPr/>
      </p:nvGrpSpPr>
      <p:grpSpPr>
        <a:xfrm>
          <a:off x="0" y="0"/>
          <a:ext cx="0" cy="0"/>
          <a:chOff x="0" y="0"/>
          <a:chExt cx="0" cy="0"/>
        </a:xfrm>
      </p:grpSpPr>
      <p:sp>
        <p:nvSpPr>
          <p:cNvPr id="410" name="Google Shape;410;g31c6c500ab9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1" name="Google Shape;411;g31c6c500ab9_0_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5"/>
        <p:cNvGrpSpPr/>
        <p:nvPr/>
      </p:nvGrpSpPr>
      <p:grpSpPr>
        <a:xfrm>
          <a:off x="0" y="0"/>
          <a:ext cx="0" cy="0"/>
          <a:chOff x="0" y="0"/>
          <a:chExt cx="0" cy="0"/>
        </a:xfrm>
      </p:grpSpPr>
      <p:sp>
        <p:nvSpPr>
          <p:cNvPr id="416" name="Google Shape;416;g31c6c500ab9_0_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7" name="Google Shape;417;g31c6c500ab9_0_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36"/>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36"/>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3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9"/>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5" name="Google Shape;15;p3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8" name="Google Shape;18;p40"/>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9" name="Google Shape;19;p4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4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41"/>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3" name="Google Shape;23;p41"/>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4" name="Google Shape;24;p4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4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4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43"/>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43"/>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4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44"/>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4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45"/>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45"/>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45"/>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45"/>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4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46"/>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4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47"/>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47"/>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7" name="Google Shape;47;p4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4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3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35"/>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3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comments" Target="../comments/commen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5.jp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comments" Target="../comments/comment2.xml"/><Relationship Id="rId5" Type="http://schemas.openxmlformats.org/officeDocument/2006/relationships/image" Target="../media/image13.png"/><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19.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3"/>
        <p:cNvGrpSpPr/>
        <p:nvPr/>
      </p:nvGrpSpPr>
      <p:grpSpPr>
        <a:xfrm>
          <a:off x="0" y="0"/>
          <a:ext cx="0" cy="0"/>
          <a:chOff x="0" y="0"/>
          <a:chExt cx="0" cy="0"/>
        </a:xfrm>
      </p:grpSpPr>
      <p:sp>
        <p:nvSpPr>
          <p:cNvPr id="54" name="Google Shape;54;p4"/>
          <p:cNvSpPr txBox="1"/>
          <p:nvPr/>
        </p:nvSpPr>
        <p:spPr>
          <a:xfrm>
            <a:off x="301175" y="2045425"/>
            <a:ext cx="8259300" cy="20526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rgbClr val="000000"/>
              </a:buClr>
              <a:buSzPts val="3600"/>
              <a:buFont typeface="Arial"/>
              <a:buNone/>
            </a:pPr>
            <a:r>
              <a:rPr lang="en" sz="3600">
                <a:solidFill>
                  <a:schemeClr val="lt1"/>
                </a:solidFill>
                <a:latin typeface="Montserrat"/>
                <a:ea typeface="Montserrat"/>
                <a:cs typeface="Montserrat"/>
                <a:sym typeface="Montserrat"/>
              </a:rPr>
              <a:t>Accenture</a:t>
            </a:r>
            <a:r>
              <a:rPr lang="en" sz="3600" b="0" i="0" u="none" strike="noStrike" cap="none">
                <a:solidFill>
                  <a:schemeClr val="lt1"/>
                </a:solidFill>
                <a:latin typeface="Montserrat"/>
                <a:ea typeface="Montserrat"/>
                <a:cs typeface="Montserrat"/>
                <a:sym typeface="Montserrat"/>
              </a:rPr>
              <a:t> and</a:t>
            </a:r>
            <a:r>
              <a:rPr lang="en" sz="3600">
                <a:solidFill>
                  <a:schemeClr val="lt1"/>
                </a:solidFill>
                <a:latin typeface="Montserrat"/>
                <a:ea typeface="Montserrat"/>
                <a:cs typeface="Montserrat"/>
                <a:sym typeface="Montserrat"/>
              </a:rPr>
              <a:t> Technology News Insights Engine</a:t>
            </a:r>
            <a:endParaRPr sz="3600" b="0" i="0" u="none" strike="noStrike" cap="none">
              <a:solidFill>
                <a:schemeClr val="lt1"/>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3600"/>
              <a:buFont typeface="Arial"/>
              <a:buNone/>
            </a:pPr>
            <a:r>
              <a:rPr lang="en" sz="3600" b="0" i="0" u="none" strike="noStrike" cap="none">
                <a:solidFill>
                  <a:schemeClr val="accent6"/>
                </a:solidFill>
                <a:latin typeface="Montserrat"/>
                <a:ea typeface="Montserrat"/>
                <a:cs typeface="Montserrat"/>
                <a:sym typeface="Montserrat"/>
              </a:rPr>
              <a:t>AI Studio Final Presentation</a:t>
            </a:r>
            <a:endParaRPr sz="3600" b="0" i="0" u="none" strike="noStrike" cap="none">
              <a:solidFill>
                <a:schemeClr val="accent6"/>
              </a:solidFill>
              <a:latin typeface="Montserrat"/>
              <a:ea typeface="Montserrat"/>
              <a:cs typeface="Montserrat"/>
              <a:sym typeface="Montserrat"/>
            </a:endParaRPr>
          </a:p>
        </p:txBody>
      </p:sp>
      <p:sp>
        <p:nvSpPr>
          <p:cNvPr id="55" name="Google Shape;55;p4"/>
          <p:cNvSpPr txBox="1"/>
          <p:nvPr/>
        </p:nvSpPr>
        <p:spPr>
          <a:xfrm>
            <a:off x="301175" y="4098024"/>
            <a:ext cx="8576400" cy="565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a:solidFill>
                  <a:schemeClr val="lt1"/>
                </a:solidFill>
                <a:latin typeface="Open Sans Light"/>
                <a:ea typeface="Open Sans Light"/>
                <a:cs typeface="Open Sans Light"/>
                <a:sym typeface="Open Sans Light"/>
              </a:rPr>
              <a:t>UCLA</a:t>
            </a:r>
            <a:endParaRPr sz="1400" b="0" i="0" u="none" strike="noStrike" cap="none">
              <a:solidFill>
                <a:schemeClr val="lt1"/>
              </a:solidFill>
              <a:latin typeface="Open Sans Light"/>
              <a:ea typeface="Open Sans Light"/>
              <a:cs typeface="Open Sans Light"/>
              <a:sym typeface="Open Sans Light"/>
            </a:endParaRPr>
          </a:p>
          <a:p>
            <a:pPr marL="0" marR="0" lvl="0" indent="0" algn="l" rtl="0">
              <a:lnSpc>
                <a:spcPct val="100000"/>
              </a:lnSpc>
              <a:spcBef>
                <a:spcPts val="0"/>
              </a:spcBef>
              <a:spcAft>
                <a:spcPts val="0"/>
              </a:spcAft>
              <a:buClr>
                <a:srgbClr val="000000"/>
              </a:buClr>
              <a:buSzPts val="1400"/>
              <a:buFont typeface="Arial"/>
              <a:buNone/>
            </a:pPr>
            <a:r>
              <a:rPr lang="en">
                <a:solidFill>
                  <a:schemeClr val="lt1"/>
                </a:solidFill>
                <a:latin typeface="Open Sans Light"/>
                <a:ea typeface="Open Sans Light"/>
                <a:cs typeface="Open Sans Light"/>
                <a:sym typeface="Open Sans Light"/>
              </a:rPr>
              <a:t>December 6, 2024</a:t>
            </a:r>
            <a:endParaRPr sz="1400" b="0" i="0" u="none" strike="noStrike" cap="none">
              <a:solidFill>
                <a:schemeClr val="lt1"/>
              </a:solidFill>
              <a:latin typeface="Open Sans Light"/>
              <a:ea typeface="Open Sans Light"/>
              <a:cs typeface="Open Sans Light"/>
              <a:sym typeface="Open Sans Ligh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9"/>
        <p:cNvGrpSpPr/>
        <p:nvPr/>
      </p:nvGrpSpPr>
      <p:grpSpPr>
        <a:xfrm>
          <a:off x="0" y="0"/>
          <a:ext cx="0" cy="0"/>
          <a:chOff x="0" y="0"/>
          <a:chExt cx="0" cy="0"/>
        </a:xfrm>
      </p:grpSpPr>
      <p:sp>
        <p:nvSpPr>
          <p:cNvPr id="60" name="Google Shape;60;p6"/>
          <p:cNvSpPr txBox="1"/>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 sz="2800">
                <a:solidFill>
                  <a:srgbClr val="002D45"/>
                </a:solidFill>
                <a:latin typeface="Montserrat"/>
                <a:ea typeface="Montserrat"/>
                <a:cs typeface="Montserrat"/>
                <a:sym typeface="Montserrat"/>
              </a:rPr>
              <a:t>Introductions</a:t>
            </a:r>
            <a:endParaRPr sz="2800" b="0" i="0" u="none" strike="noStrike" cap="none">
              <a:solidFill>
                <a:srgbClr val="002D45"/>
              </a:solidFill>
              <a:latin typeface="Montserrat"/>
              <a:ea typeface="Montserrat"/>
              <a:cs typeface="Montserrat"/>
              <a:sym typeface="Montserrat"/>
            </a:endParaRPr>
          </a:p>
        </p:txBody>
      </p:sp>
      <p:sp>
        <p:nvSpPr>
          <p:cNvPr id="61" name="Google Shape;61;p6"/>
          <p:cNvSpPr txBox="1"/>
          <p:nvPr/>
        </p:nvSpPr>
        <p:spPr>
          <a:xfrm>
            <a:off x="729850" y="2486523"/>
            <a:ext cx="2057400" cy="6138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300"/>
              </a:spcAft>
              <a:buClr>
                <a:srgbClr val="000000"/>
              </a:buClr>
              <a:buSzPts val="1400"/>
              <a:buFont typeface="Arial"/>
              <a:buNone/>
            </a:pPr>
            <a:r>
              <a:rPr lang="en" b="1">
                <a:solidFill>
                  <a:srgbClr val="002A44"/>
                </a:solidFill>
                <a:latin typeface="Open Sans"/>
                <a:ea typeface="Open Sans"/>
                <a:cs typeface="Open Sans"/>
                <a:sym typeface="Open Sans"/>
              </a:rPr>
              <a:t>Heidi Yu</a:t>
            </a:r>
            <a:br>
              <a:rPr lang="en" sz="1400" b="1" i="0" u="none" strike="noStrike" cap="none">
                <a:solidFill>
                  <a:srgbClr val="002A44"/>
                </a:solidFill>
                <a:latin typeface="Open Sans"/>
                <a:ea typeface="Open Sans"/>
                <a:cs typeface="Open Sans"/>
                <a:sym typeface="Open Sans"/>
              </a:rPr>
            </a:br>
            <a:r>
              <a:rPr lang="en">
                <a:solidFill>
                  <a:srgbClr val="595959"/>
                </a:solidFill>
                <a:latin typeface="Open Sans Light"/>
                <a:ea typeface="Open Sans Light"/>
                <a:cs typeface="Open Sans Light"/>
                <a:sym typeface="Open Sans Light"/>
              </a:rPr>
              <a:t>UCLA</a:t>
            </a:r>
            <a:endParaRPr sz="1400" b="0" i="0" u="none" strike="noStrike" cap="none">
              <a:solidFill>
                <a:srgbClr val="002A44"/>
              </a:solidFill>
              <a:latin typeface="Open Sans Light"/>
              <a:ea typeface="Open Sans Light"/>
              <a:cs typeface="Open Sans Light"/>
              <a:sym typeface="Open Sans Light"/>
            </a:endParaRPr>
          </a:p>
        </p:txBody>
      </p:sp>
      <p:sp>
        <p:nvSpPr>
          <p:cNvPr id="63" name="Google Shape;63;p6"/>
          <p:cNvSpPr txBox="1"/>
          <p:nvPr/>
        </p:nvSpPr>
        <p:spPr>
          <a:xfrm>
            <a:off x="2092450" y="4423448"/>
            <a:ext cx="2057400" cy="6138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1100"/>
              <a:buFont typeface="Arial"/>
              <a:buNone/>
            </a:pPr>
            <a:r>
              <a:rPr lang="en" b="1">
                <a:solidFill>
                  <a:srgbClr val="002A44"/>
                </a:solidFill>
                <a:latin typeface="Open Sans"/>
                <a:ea typeface="Open Sans"/>
                <a:cs typeface="Open Sans"/>
                <a:sym typeface="Open Sans"/>
              </a:rPr>
              <a:t>May Chan</a:t>
            </a:r>
            <a:br>
              <a:rPr lang="en" sz="1400" b="1" i="0" u="none" strike="noStrike" cap="none">
                <a:solidFill>
                  <a:srgbClr val="002A44"/>
                </a:solidFill>
                <a:latin typeface="Open Sans"/>
                <a:ea typeface="Open Sans"/>
                <a:cs typeface="Open Sans"/>
                <a:sym typeface="Open Sans"/>
              </a:rPr>
            </a:br>
            <a:r>
              <a:rPr lang="en">
                <a:solidFill>
                  <a:schemeClr val="dk2"/>
                </a:solidFill>
                <a:latin typeface="Open Sans Light"/>
                <a:ea typeface="Open Sans Light"/>
                <a:cs typeface="Open Sans Light"/>
                <a:sym typeface="Open Sans Light"/>
              </a:rPr>
              <a:t>UCLA</a:t>
            </a:r>
            <a:endParaRPr sz="1400" b="1" i="0" u="none" strike="noStrike" cap="none">
              <a:solidFill>
                <a:srgbClr val="002A44"/>
              </a:solidFill>
              <a:latin typeface="Open Sans"/>
              <a:ea typeface="Open Sans"/>
              <a:cs typeface="Open Sans"/>
              <a:sym typeface="Open Sans"/>
            </a:endParaRPr>
          </a:p>
        </p:txBody>
      </p:sp>
      <p:sp>
        <p:nvSpPr>
          <p:cNvPr id="64" name="Google Shape;64;p6"/>
          <p:cNvSpPr txBox="1"/>
          <p:nvPr/>
        </p:nvSpPr>
        <p:spPr>
          <a:xfrm>
            <a:off x="3543300" y="2486523"/>
            <a:ext cx="2057400" cy="6138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1100"/>
              <a:buFont typeface="Arial"/>
              <a:buNone/>
            </a:pPr>
            <a:r>
              <a:rPr lang="en" sz="1400" b="1" i="0" u="none" strike="noStrike" cap="none">
                <a:solidFill>
                  <a:srgbClr val="002A44"/>
                </a:solidFill>
                <a:latin typeface="Open Sans"/>
                <a:ea typeface="Open Sans"/>
                <a:cs typeface="Open Sans"/>
                <a:sym typeface="Open Sans"/>
              </a:rPr>
              <a:t>Jun Ze He</a:t>
            </a:r>
            <a:br>
              <a:rPr lang="en" sz="1400" b="1" i="0" u="none" strike="noStrike" cap="none">
                <a:solidFill>
                  <a:srgbClr val="002A44"/>
                </a:solidFill>
                <a:latin typeface="Open Sans"/>
                <a:ea typeface="Open Sans"/>
                <a:cs typeface="Open Sans"/>
                <a:sym typeface="Open Sans"/>
              </a:rPr>
            </a:br>
            <a:r>
              <a:rPr lang="en">
                <a:solidFill>
                  <a:schemeClr val="dk2"/>
                </a:solidFill>
                <a:latin typeface="Open Sans Light"/>
                <a:ea typeface="Open Sans Light"/>
                <a:cs typeface="Open Sans Light"/>
                <a:sym typeface="Open Sans Light"/>
              </a:rPr>
              <a:t>UCLA</a:t>
            </a:r>
            <a:endParaRPr sz="1400" b="0" i="0" u="none" strike="noStrike" cap="none">
              <a:solidFill>
                <a:srgbClr val="002A44"/>
              </a:solidFill>
              <a:latin typeface="Open Sans Light"/>
              <a:ea typeface="Open Sans Light"/>
              <a:cs typeface="Open Sans Light"/>
              <a:sym typeface="Open Sans Light"/>
            </a:endParaRPr>
          </a:p>
          <a:p>
            <a:pPr marL="0" marR="0" lvl="0" indent="0" algn="ctr" rtl="0">
              <a:lnSpc>
                <a:spcPct val="100000"/>
              </a:lnSpc>
              <a:spcBef>
                <a:spcPts val="300"/>
              </a:spcBef>
              <a:spcAft>
                <a:spcPts val="300"/>
              </a:spcAft>
              <a:buClr>
                <a:srgbClr val="000000"/>
              </a:buClr>
              <a:buSzPts val="1400"/>
              <a:buFont typeface="Arial"/>
              <a:buNone/>
            </a:pPr>
            <a:endParaRPr sz="1400" b="1" i="0" u="none" strike="noStrike" cap="none">
              <a:solidFill>
                <a:srgbClr val="002A44"/>
              </a:solidFill>
              <a:latin typeface="Open Sans"/>
              <a:ea typeface="Open Sans"/>
              <a:cs typeface="Open Sans"/>
              <a:sym typeface="Open Sans"/>
            </a:endParaRPr>
          </a:p>
        </p:txBody>
      </p:sp>
      <p:sp>
        <p:nvSpPr>
          <p:cNvPr id="66" name="Google Shape;66;p6"/>
          <p:cNvSpPr txBox="1"/>
          <p:nvPr/>
        </p:nvSpPr>
        <p:spPr>
          <a:xfrm>
            <a:off x="4905900" y="4423448"/>
            <a:ext cx="2057400" cy="6138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1100"/>
              <a:buFont typeface="Arial"/>
              <a:buNone/>
            </a:pPr>
            <a:r>
              <a:rPr lang="en" b="1">
                <a:solidFill>
                  <a:srgbClr val="002A44"/>
                </a:solidFill>
                <a:latin typeface="Open Sans"/>
                <a:ea typeface="Open Sans"/>
                <a:cs typeface="Open Sans"/>
                <a:sym typeface="Open Sans"/>
              </a:rPr>
              <a:t>Joyce Zhou</a:t>
            </a:r>
            <a:br>
              <a:rPr lang="en" sz="1400" b="1" i="0" u="none" strike="noStrike" cap="none">
                <a:solidFill>
                  <a:srgbClr val="002A44"/>
                </a:solidFill>
                <a:latin typeface="Open Sans"/>
                <a:ea typeface="Open Sans"/>
                <a:cs typeface="Open Sans"/>
                <a:sym typeface="Open Sans"/>
              </a:rPr>
            </a:br>
            <a:r>
              <a:rPr lang="en">
                <a:solidFill>
                  <a:schemeClr val="dk2"/>
                </a:solidFill>
                <a:latin typeface="Open Sans Light"/>
                <a:ea typeface="Open Sans Light"/>
                <a:cs typeface="Open Sans Light"/>
                <a:sym typeface="Open Sans Light"/>
              </a:rPr>
              <a:t>USC</a:t>
            </a:r>
            <a:endParaRPr sz="1400" b="0" i="0" u="none" strike="noStrike" cap="none">
              <a:solidFill>
                <a:srgbClr val="002A44"/>
              </a:solidFill>
              <a:latin typeface="Open Sans Light"/>
              <a:ea typeface="Open Sans Light"/>
              <a:cs typeface="Open Sans Light"/>
              <a:sym typeface="Open Sans Light"/>
            </a:endParaRPr>
          </a:p>
          <a:p>
            <a:pPr marL="0" marR="0" lvl="0" indent="0" algn="ctr" rtl="0">
              <a:lnSpc>
                <a:spcPct val="100000"/>
              </a:lnSpc>
              <a:spcBef>
                <a:spcPts val="300"/>
              </a:spcBef>
              <a:spcAft>
                <a:spcPts val="300"/>
              </a:spcAft>
              <a:buClr>
                <a:srgbClr val="000000"/>
              </a:buClr>
              <a:buSzPts val="1400"/>
              <a:buFont typeface="Arial"/>
              <a:buNone/>
            </a:pPr>
            <a:endParaRPr sz="1400" b="1" i="0" u="none" strike="noStrike" cap="none">
              <a:solidFill>
                <a:srgbClr val="002A44"/>
              </a:solidFill>
              <a:latin typeface="Open Sans"/>
              <a:ea typeface="Open Sans"/>
              <a:cs typeface="Open Sans"/>
              <a:sym typeface="Open Sans"/>
            </a:endParaRPr>
          </a:p>
        </p:txBody>
      </p:sp>
      <p:sp>
        <p:nvSpPr>
          <p:cNvPr id="67" name="Google Shape;67;p6"/>
          <p:cNvSpPr txBox="1"/>
          <p:nvPr/>
        </p:nvSpPr>
        <p:spPr>
          <a:xfrm>
            <a:off x="6059150" y="2486525"/>
            <a:ext cx="2652600" cy="6138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1100"/>
              <a:buFont typeface="Arial"/>
              <a:buNone/>
            </a:pPr>
            <a:r>
              <a:rPr lang="en" b="1">
                <a:solidFill>
                  <a:srgbClr val="002A44"/>
                </a:solidFill>
                <a:latin typeface="Open Sans"/>
                <a:ea typeface="Open Sans"/>
                <a:cs typeface="Open Sans"/>
                <a:sym typeface="Open Sans"/>
              </a:rPr>
              <a:t>Jasmine Wongphatarakul</a:t>
            </a:r>
            <a:br>
              <a:rPr lang="en" sz="1400" b="1" i="0" u="none" strike="noStrike" cap="none">
                <a:solidFill>
                  <a:srgbClr val="002A44"/>
                </a:solidFill>
                <a:latin typeface="Open Sans"/>
                <a:ea typeface="Open Sans"/>
                <a:cs typeface="Open Sans"/>
                <a:sym typeface="Open Sans"/>
              </a:rPr>
            </a:br>
            <a:r>
              <a:rPr lang="en">
                <a:solidFill>
                  <a:schemeClr val="dk2"/>
                </a:solidFill>
                <a:latin typeface="Open Sans Light"/>
                <a:ea typeface="Open Sans Light"/>
                <a:cs typeface="Open Sans Light"/>
                <a:sym typeface="Open Sans Light"/>
              </a:rPr>
              <a:t>UCLA</a:t>
            </a:r>
            <a:endParaRPr sz="1400" b="0" i="0" u="none" strike="noStrike" cap="none">
              <a:solidFill>
                <a:srgbClr val="002A44"/>
              </a:solidFill>
              <a:latin typeface="Open Sans Light"/>
              <a:ea typeface="Open Sans Light"/>
              <a:cs typeface="Open Sans Light"/>
              <a:sym typeface="Open Sans Light"/>
            </a:endParaRPr>
          </a:p>
          <a:p>
            <a:pPr marL="0" marR="0" lvl="0" indent="0" algn="ctr" rtl="0">
              <a:lnSpc>
                <a:spcPct val="100000"/>
              </a:lnSpc>
              <a:spcBef>
                <a:spcPts val="300"/>
              </a:spcBef>
              <a:spcAft>
                <a:spcPts val="300"/>
              </a:spcAft>
              <a:buClr>
                <a:srgbClr val="000000"/>
              </a:buClr>
              <a:buSzPts val="1400"/>
              <a:buFont typeface="Arial"/>
              <a:buNone/>
            </a:pPr>
            <a:endParaRPr sz="1400" b="1" i="0" u="none" strike="noStrike" cap="none">
              <a:solidFill>
                <a:srgbClr val="002A44"/>
              </a:solidFill>
              <a:latin typeface="Open Sans"/>
              <a:ea typeface="Open Sans"/>
              <a:cs typeface="Open Sans"/>
              <a:sym typeface="Open 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6"/>
        <p:cNvGrpSpPr/>
        <p:nvPr/>
      </p:nvGrpSpPr>
      <p:grpSpPr>
        <a:xfrm>
          <a:off x="0" y="0"/>
          <a:ext cx="0" cy="0"/>
          <a:chOff x="0" y="0"/>
          <a:chExt cx="0" cy="0"/>
        </a:xfrm>
      </p:grpSpPr>
      <p:sp>
        <p:nvSpPr>
          <p:cNvPr id="77" name="Google Shape;77;p7"/>
          <p:cNvSpPr txBox="1"/>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 sz="2800" b="0" i="0" u="none" strike="noStrike" cap="none">
                <a:solidFill>
                  <a:srgbClr val="002D45"/>
                </a:solidFill>
                <a:latin typeface="Montserrat"/>
                <a:ea typeface="Montserrat"/>
                <a:cs typeface="Montserrat"/>
                <a:sym typeface="Montserrat"/>
              </a:rPr>
              <a:t>Our AI Studio TA and Challenge Advisors</a:t>
            </a:r>
            <a:endParaRPr sz="2800" b="0" i="0" u="none" strike="noStrike" cap="none">
              <a:solidFill>
                <a:srgbClr val="002D45"/>
              </a:solidFill>
              <a:latin typeface="Montserrat"/>
              <a:ea typeface="Montserrat"/>
              <a:cs typeface="Montserrat"/>
              <a:sym typeface="Montserrat"/>
            </a:endParaRPr>
          </a:p>
        </p:txBody>
      </p:sp>
      <p:sp>
        <p:nvSpPr>
          <p:cNvPr id="78" name="Google Shape;78;p7"/>
          <p:cNvSpPr txBox="1"/>
          <p:nvPr/>
        </p:nvSpPr>
        <p:spPr>
          <a:xfrm>
            <a:off x="729850" y="2264848"/>
            <a:ext cx="2057400" cy="6138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300"/>
              </a:spcAft>
              <a:buClr>
                <a:srgbClr val="000000"/>
              </a:buClr>
              <a:buSzPts val="1400"/>
              <a:buFont typeface="Arial"/>
              <a:buNone/>
            </a:pPr>
            <a:r>
              <a:rPr lang="en" b="1">
                <a:solidFill>
                  <a:schemeClr val="dk1"/>
                </a:solidFill>
                <a:latin typeface="Open Sans"/>
                <a:ea typeface="Open Sans"/>
                <a:cs typeface="Open Sans"/>
                <a:sym typeface="Open Sans"/>
              </a:rPr>
              <a:t>Aryaman Gokarn</a:t>
            </a:r>
            <a:br>
              <a:rPr lang="en" sz="1400" b="1" i="0" u="none" strike="noStrike" cap="none">
                <a:solidFill>
                  <a:srgbClr val="002A44"/>
                </a:solidFill>
                <a:latin typeface="Open Sans"/>
                <a:ea typeface="Open Sans"/>
                <a:cs typeface="Open Sans"/>
                <a:sym typeface="Open Sans"/>
              </a:rPr>
            </a:br>
            <a:r>
              <a:rPr lang="en" sz="1400" b="0" i="0" u="none" strike="noStrike" cap="none">
                <a:solidFill>
                  <a:srgbClr val="595959"/>
                </a:solidFill>
                <a:latin typeface="Open Sans Light"/>
                <a:ea typeface="Open Sans Light"/>
                <a:cs typeface="Open Sans Light"/>
                <a:sym typeface="Open Sans Light"/>
              </a:rPr>
              <a:t>AI Studio TA</a:t>
            </a:r>
            <a:endParaRPr sz="1400" b="0" i="0" u="none" strike="noStrike" cap="none">
              <a:solidFill>
                <a:srgbClr val="002A44"/>
              </a:solidFill>
              <a:latin typeface="Open Sans Light"/>
              <a:ea typeface="Open Sans Light"/>
              <a:cs typeface="Open Sans Light"/>
              <a:sym typeface="Open Sans Light"/>
            </a:endParaRPr>
          </a:p>
        </p:txBody>
      </p:sp>
      <p:sp>
        <p:nvSpPr>
          <p:cNvPr id="79" name="Google Shape;79;p7"/>
          <p:cNvSpPr txBox="1"/>
          <p:nvPr/>
        </p:nvSpPr>
        <p:spPr>
          <a:xfrm>
            <a:off x="3543300" y="2264848"/>
            <a:ext cx="2057400" cy="6138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b="1">
                <a:solidFill>
                  <a:srgbClr val="1F1F1F"/>
                </a:solidFill>
                <a:highlight>
                  <a:srgbClr val="FFFFFF"/>
                </a:highlight>
                <a:latin typeface="Open Sans"/>
                <a:ea typeface="Open Sans"/>
                <a:cs typeface="Open Sans"/>
                <a:sym typeface="Open Sans"/>
              </a:rPr>
              <a:t>Lauren Jensen</a:t>
            </a:r>
            <a:br>
              <a:rPr lang="en" sz="1400" b="1" i="0" u="none" strike="noStrike" cap="none">
                <a:solidFill>
                  <a:srgbClr val="002A44"/>
                </a:solidFill>
                <a:latin typeface="Open Sans"/>
                <a:ea typeface="Open Sans"/>
                <a:cs typeface="Open Sans"/>
                <a:sym typeface="Open Sans"/>
              </a:rPr>
            </a:br>
            <a:r>
              <a:rPr lang="en" sz="1400" i="0" u="none" strike="noStrike" cap="none">
                <a:solidFill>
                  <a:srgbClr val="002A44"/>
                </a:solidFill>
                <a:latin typeface="Open Sans Light"/>
                <a:ea typeface="Open Sans Light"/>
                <a:cs typeface="Open Sans Light"/>
                <a:sym typeface="Open Sans Light"/>
              </a:rPr>
              <a:t>Challenge Advisor</a:t>
            </a:r>
            <a:endParaRPr sz="1400" i="0" u="none" strike="noStrike" cap="none">
              <a:solidFill>
                <a:srgbClr val="002A44"/>
              </a:solidFill>
              <a:latin typeface="Open Sans Light"/>
              <a:ea typeface="Open Sans Light"/>
              <a:cs typeface="Open Sans Light"/>
              <a:sym typeface="Open Sans Light"/>
            </a:endParaRPr>
          </a:p>
          <a:p>
            <a:pPr marL="0" marR="0" lvl="0" indent="0" algn="ctr" rtl="0">
              <a:lnSpc>
                <a:spcPct val="100000"/>
              </a:lnSpc>
              <a:spcBef>
                <a:spcPts val="300"/>
              </a:spcBef>
              <a:spcAft>
                <a:spcPts val="300"/>
              </a:spcAft>
              <a:buClr>
                <a:srgbClr val="000000"/>
              </a:buClr>
              <a:buSzPts val="1400"/>
              <a:buFont typeface="Arial"/>
              <a:buNone/>
            </a:pPr>
            <a:endParaRPr sz="1400" b="0" i="0" u="none" strike="noStrike" cap="none">
              <a:solidFill>
                <a:srgbClr val="595959"/>
              </a:solidFill>
              <a:latin typeface="Open Sans Light"/>
              <a:ea typeface="Open Sans Light"/>
              <a:cs typeface="Open Sans Light"/>
              <a:sym typeface="Open Sans Light"/>
            </a:endParaRPr>
          </a:p>
        </p:txBody>
      </p:sp>
      <p:sp>
        <p:nvSpPr>
          <p:cNvPr id="80" name="Google Shape;80;p7"/>
          <p:cNvSpPr txBox="1"/>
          <p:nvPr/>
        </p:nvSpPr>
        <p:spPr>
          <a:xfrm>
            <a:off x="6356750" y="2264848"/>
            <a:ext cx="2057400" cy="6138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b="1">
                <a:solidFill>
                  <a:srgbClr val="002A44"/>
                </a:solidFill>
                <a:latin typeface="Open Sans"/>
                <a:ea typeface="Open Sans"/>
                <a:cs typeface="Open Sans"/>
                <a:sym typeface="Open Sans"/>
              </a:rPr>
              <a:t>Timo </a:t>
            </a:r>
            <a:r>
              <a:rPr lang="en" b="1">
                <a:solidFill>
                  <a:srgbClr val="202124"/>
                </a:solidFill>
                <a:latin typeface="Open Sans"/>
                <a:ea typeface="Open Sans"/>
                <a:cs typeface="Open Sans"/>
                <a:sym typeface="Open Sans"/>
              </a:rPr>
              <a:t>Budiono</a:t>
            </a:r>
            <a:endParaRPr b="1" i="0" u="none" strike="noStrike" cap="none">
              <a:solidFill>
                <a:srgbClr val="002A44"/>
              </a:solidFill>
              <a:latin typeface="Open Sans"/>
              <a:ea typeface="Open Sans"/>
              <a:cs typeface="Open Sans"/>
              <a:sym typeface="Open Sans"/>
            </a:endParaRPr>
          </a:p>
          <a:p>
            <a:pPr marL="0" marR="0" lvl="0" indent="0" algn="ctr" rtl="0">
              <a:lnSpc>
                <a:spcPct val="100000"/>
              </a:lnSpc>
              <a:spcBef>
                <a:spcPts val="300"/>
              </a:spcBef>
              <a:spcAft>
                <a:spcPts val="0"/>
              </a:spcAft>
              <a:buClr>
                <a:srgbClr val="000000"/>
              </a:buClr>
              <a:buSzPts val="1400"/>
              <a:buFont typeface="Arial"/>
              <a:buNone/>
            </a:pPr>
            <a:r>
              <a:rPr lang="en" i="0" u="none" strike="noStrike" cap="none">
                <a:solidFill>
                  <a:srgbClr val="002A44"/>
                </a:solidFill>
                <a:latin typeface="Open Sans Light"/>
                <a:ea typeface="Open Sans Light"/>
                <a:cs typeface="Open Sans Light"/>
                <a:sym typeface="Open Sans Light"/>
              </a:rPr>
              <a:t>Challenge Advisor</a:t>
            </a:r>
            <a:endParaRPr i="0" u="none" strike="noStrike" cap="none">
              <a:solidFill>
                <a:srgbClr val="002A44"/>
              </a:solidFill>
              <a:latin typeface="Open Sans Light"/>
              <a:ea typeface="Open Sans Light"/>
              <a:cs typeface="Open Sans Light"/>
              <a:sym typeface="Open Sans Light"/>
            </a:endParaRPr>
          </a:p>
          <a:p>
            <a:pPr marL="0" marR="0" lvl="0" indent="0" algn="ctr" rtl="0">
              <a:lnSpc>
                <a:spcPct val="100000"/>
              </a:lnSpc>
              <a:spcBef>
                <a:spcPts val="300"/>
              </a:spcBef>
              <a:spcAft>
                <a:spcPts val="300"/>
              </a:spcAft>
              <a:buClr>
                <a:srgbClr val="000000"/>
              </a:buClr>
              <a:buSzPts val="1400"/>
              <a:buFont typeface="Arial"/>
              <a:buNone/>
            </a:pPr>
            <a:endParaRPr sz="1400" b="0" i="0" u="none" strike="noStrike" cap="none">
              <a:solidFill>
                <a:srgbClr val="595959"/>
              </a:solidFill>
              <a:latin typeface="Open Sans Light"/>
              <a:ea typeface="Open Sans Light"/>
              <a:cs typeface="Open Sans Light"/>
              <a:sym typeface="Open Sans Ligh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4"/>
        <p:cNvGrpSpPr/>
        <p:nvPr/>
      </p:nvGrpSpPr>
      <p:grpSpPr>
        <a:xfrm>
          <a:off x="0" y="0"/>
          <a:ext cx="0" cy="0"/>
          <a:chOff x="0" y="0"/>
          <a:chExt cx="0" cy="0"/>
        </a:xfrm>
      </p:grpSpPr>
      <p:sp>
        <p:nvSpPr>
          <p:cNvPr id="85" name="Google Shape;85;p8"/>
          <p:cNvSpPr txBox="1"/>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 sz="2800" b="0" i="0" u="none" strike="noStrike" cap="none">
                <a:solidFill>
                  <a:srgbClr val="002D45"/>
                </a:solidFill>
                <a:latin typeface="Montserrat"/>
                <a:ea typeface="Montserrat"/>
                <a:cs typeface="Montserrat"/>
                <a:sym typeface="Montserrat"/>
              </a:rPr>
              <a:t>Presentation Agenda</a:t>
            </a:r>
            <a:endParaRPr sz="2800" b="0" i="0" u="none" strike="noStrike" cap="none">
              <a:solidFill>
                <a:srgbClr val="002D45"/>
              </a:solidFill>
              <a:latin typeface="Montserrat"/>
              <a:ea typeface="Montserrat"/>
              <a:cs typeface="Montserrat"/>
              <a:sym typeface="Montserrat"/>
            </a:endParaRPr>
          </a:p>
        </p:txBody>
      </p:sp>
      <p:sp>
        <p:nvSpPr>
          <p:cNvPr id="86" name="Google Shape;86;p8"/>
          <p:cNvSpPr txBox="1"/>
          <p:nvPr/>
        </p:nvSpPr>
        <p:spPr>
          <a:xfrm>
            <a:off x="311700" y="1247150"/>
            <a:ext cx="8520600" cy="3329400"/>
          </a:xfrm>
          <a:prstGeom prst="rect">
            <a:avLst/>
          </a:prstGeom>
          <a:noFill/>
          <a:ln>
            <a:noFill/>
          </a:ln>
        </p:spPr>
        <p:txBody>
          <a:bodyPr spcFirstLastPara="1" wrap="square" lIns="91425" tIns="91425" rIns="91425" bIns="91425" anchor="t" anchorCtr="0">
            <a:noAutofit/>
          </a:bodyPr>
          <a:lstStyle/>
          <a:p>
            <a:pPr marL="457200" marR="0" lvl="0" indent="-342900" algn="l" rtl="0">
              <a:lnSpc>
                <a:spcPct val="115000"/>
              </a:lnSpc>
              <a:spcBef>
                <a:spcPts val="0"/>
              </a:spcBef>
              <a:spcAft>
                <a:spcPts val="0"/>
              </a:spcAft>
              <a:buClr>
                <a:schemeClr val="dk2"/>
              </a:buClr>
              <a:buSzPts val="1800"/>
              <a:buFont typeface="Open Sans Light"/>
              <a:buAutoNum type="arabicPeriod"/>
            </a:pPr>
            <a:r>
              <a:rPr lang="en" sz="1800">
                <a:solidFill>
                  <a:schemeClr val="dk2"/>
                </a:solidFill>
                <a:latin typeface="Open Sans Light"/>
                <a:ea typeface="Open Sans Light"/>
                <a:cs typeface="Open Sans Light"/>
                <a:sym typeface="Open Sans Light"/>
              </a:rPr>
              <a:t>Data Understanding &amp; Preparation</a:t>
            </a:r>
            <a:endParaRPr sz="1800">
              <a:solidFill>
                <a:schemeClr val="dk2"/>
              </a:solidFill>
              <a:latin typeface="Open Sans Light"/>
              <a:ea typeface="Open Sans Light"/>
              <a:cs typeface="Open Sans Light"/>
              <a:sym typeface="Open Sans Light"/>
            </a:endParaRPr>
          </a:p>
          <a:p>
            <a:pPr marL="457200" marR="0" lvl="0" indent="0" algn="l" rtl="0">
              <a:lnSpc>
                <a:spcPct val="115000"/>
              </a:lnSpc>
              <a:spcBef>
                <a:spcPts val="0"/>
              </a:spcBef>
              <a:spcAft>
                <a:spcPts val="0"/>
              </a:spcAft>
              <a:buNone/>
            </a:pPr>
            <a:endParaRPr sz="1800">
              <a:solidFill>
                <a:schemeClr val="dk2"/>
              </a:solidFill>
              <a:latin typeface="Open Sans Light"/>
              <a:ea typeface="Open Sans Light"/>
              <a:cs typeface="Open Sans Light"/>
              <a:sym typeface="Open Sans Light"/>
            </a:endParaRPr>
          </a:p>
          <a:p>
            <a:pPr marL="457200" marR="0" lvl="0" indent="-342900" algn="l" rtl="0">
              <a:lnSpc>
                <a:spcPct val="115000"/>
              </a:lnSpc>
              <a:spcBef>
                <a:spcPts val="0"/>
              </a:spcBef>
              <a:spcAft>
                <a:spcPts val="0"/>
              </a:spcAft>
              <a:buClr>
                <a:schemeClr val="dk2"/>
              </a:buClr>
              <a:buSzPts val="1800"/>
              <a:buFont typeface="Open Sans Light"/>
              <a:buAutoNum type="arabicPeriod"/>
            </a:pPr>
            <a:r>
              <a:rPr lang="en" sz="1800">
                <a:solidFill>
                  <a:schemeClr val="dk2"/>
                </a:solidFill>
                <a:latin typeface="Open Sans Light"/>
                <a:ea typeface="Open Sans Light"/>
                <a:cs typeface="Open Sans Light"/>
                <a:sym typeface="Open Sans Light"/>
              </a:rPr>
              <a:t>Technology News Sentiment Analysis &amp; Forecasting</a:t>
            </a:r>
            <a:endParaRPr sz="1800">
              <a:solidFill>
                <a:schemeClr val="dk2"/>
              </a:solidFill>
              <a:latin typeface="Open Sans Light"/>
              <a:ea typeface="Open Sans Light"/>
              <a:cs typeface="Open Sans Light"/>
              <a:sym typeface="Open Sans Light"/>
            </a:endParaRPr>
          </a:p>
          <a:p>
            <a:pPr marL="457200" marR="0" lvl="0" indent="0" algn="l" rtl="0">
              <a:lnSpc>
                <a:spcPct val="115000"/>
              </a:lnSpc>
              <a:spcBef>
                <a:spcPts val="0"/>
              </a:spcBef>
              <a:spcAft>
                <a:spcPts val="0"/>
              </a:spcAft>
              <a:buNone/>
            </a:pPr>
            <a:endParaRPr sz="1800">
              <a:solidFill>
                <a:schemeClr val="dk2"/>
              </a:solidFill>
              <a:latin typeface="Open Sans Light"/>
              <a:ea typeface="Open Sans Light"/>
              <a:cs typeface="Open Sans Light"/>
              <a:sym typeface="Open Sans Light"/>
            </a:endParaRPr>
          </a:p>
          <a:p>
            <a:pPr marL="457200" lvl="0" indent="-342900" algn="l" rtl="0">
              <a:lnSpc>
                <a:spcPct val="115000"/>
              </a:lnSpc>
              <a:spcBef>
                <a:spcPts val="0"/>
              </a:spcBef>
              <a:spcAft>
                <a:spcPts val="0"/>
              </a:spcAft>
              <a:buClr>
                <a:schemeClr val="dk2"/>
              </a:buClr>
              <a:buSzPts val="1800"/>
              <a:buFont typeface="Open Sans Light"/>
              <a:buAutoNum type="arabicPeriod"/>
            </a:pPr>
            <a:r>
              <a:rPr lang="en" sz="1800">
                <a:solidFill>
                  <a:schemeClr val="dk2"/>
                </a:solidFill>
                <a:latin typeface="Open Sans Light"/>
                <a:ea typeface="Open Sans Light"/>
                <a:cs typeface="Open Sans Light"/>
                <a:sym typeface="Open Sans Light"/>
              </a:rPr>
              <a:t>Technology News Preprocessing Pipeline &amp; Topic Modeling</a:t>
            </a:r>
            <a:endParaRPr sz="1800">
              <a:solidFill>
                <a:schemeClr val="dk2"/>
              </a:solidFill>
              <a:latin typeface="Open Sans Light"/>
              <a:ea typeface="Open Sans Light"/>
              <a:cs typeface="Open Sans Light"/>
              <a:sym typeface="Open Sans Light"/>
            </a:endParaRPr>
          </a:p>
          <a:p>
            <a:pPr marL="457200" lvl="0" indent="0" algn="l" rtl="0">
              <a:lnSpc>
                <a:spcPct val="115000"/>
              </a:lnSpc>
              <a:spcBef>
                <a:spcPts val="0"/>
              </a:spcBef>
              <a:spcAft>
                <a:spcPts val="0"/>
              </a:spcAft>
              <a:buNone/>
            </a:pPr>
            <a:endParaRPr sz="1800">
              <a:solidFill>
                <a:schemeClr val="dk2"/>
              </a:solidFill>
              <a:latin typeface="Open Sans Light"/>
              <a:ea typeface="Open Sans Light"/>
              <a:cs typeface="Open Sans Light"/>
              <a:sym typeface="Open Sans Light"/>
            </a:endParaRPr>
          </a:p>
          <a:p>
            <a:pPr marL="457200" lvl="0" indent="-342900" algn="l" rtl="0">
              <a:lnSpc>
                <a:spcPct val="115000"/>
              </a:lnSpc>
              <a:spcBef>
                <a:spcPts val="0"/>
              </a:spcBef>
              <a:spcAft>
                <a:spcPts val="0"/>
              </a:spcAft>
              <a:buClr>
                <a:schemeClr val="dk2"/>
              </a:buClr>
              <a:buSzPts val="1800"/>
              <a:buFont typeface="Open Sans Light"/>
              <a:buAutoNum type="arabicPeriod"/>
            </a:pPr>
            <a:r>
              <a:rPr lang="en" sz="1800">
                <a:solidFill>
                  <a:schemeClr val="dk2"/>
                </a:solidFill>
                <a:latin typeface="Open Sans Light"/>
                <a:ea typeface="Open Sans Light"/>
                <a:cs typeface="Open Sans Light"/>
                <a:sym typeface="Open Sans Light"/>
              </a:rPr>
              <a:t>Technology News Entity Relationship Mapping</a:t>
            </a:r>
            <a:endParaRPr sz="1800">
              <a:solidFill>
                <a:schemeClr val="dk2"/>
              </a:solidFill>
              <a:latin typeface="Open Sans Light"/>
              <a:ea typeface="Open Sans Light"/>
              <a:cs typeface="Open Sans Light"/>
              <a:sym typeface="Open Sans Light"/>
            </a:endParaRPr>
          </a:p>
          <a:p>
            <a:pPr marL="457200" lvl="0" indent="0" algn="l" rtl="0">
              <a:lnSpc>
                <a:spcPct val="115000"/>
              </a:lnSpc>
              <a:spcBef>
                <a:spcPts val="0"/>
              </a:spcBef>
              <a:spcAft>
                <a:spcPts val="0"/>
              </a:spcAft>
              <a:buNone/>
            </a:pPr>
            <a:endParaRPr sz="1800">
              <a:solidFill>
                <a:schemeClr val="dk2"/>
              </a:solidFill>
              <a:latin typeface="Open Sans Light"/>
              <a:ea typeface="Open Sans Light"/>
              <a:cs typeface="Open Sans Light"/>
              <a:sym typeface="Open Sans Light"/>
            </a:endParaRPr>
          </a:p>
          <a:p>
            <a:pPr marL="457200" marR="0" lvl="0" indent="-342900" algn="l" rtl="0">
              <a:lnSpc>
                <a:spcPct val="115000"/>
              </a:lnSpc>
              <a:spcBef>
                <a:spcPts val="0"/>
              </a:spcBef>
              <a:spcAft>
                <a:spcPts val="0"/>
              </a:spcAft>
              <a:buClr>
                <a:schemeClr val="dk2"/>
              </a:buClr>
              <a:buSzPts val="1800"/>
              <a:buFont typeface="Open Sans Light"/>
              <a:buAutoNum type="arabicPeriod"/>
            </a:pPr>
            <a:r>
              <a:rPr lang="en" sz="1800">
                <a:solidFill>
                  <a:schemeClr val="dk2"/>
                </a:solidFill>
                <a:latin typeface="Open Sans Light"/>
                <a:ea typeface="Open Sans Light"/>
                <a:cs typeface="Open Sans Light"/>
                <a:sym typeface="Open Sans Light"/>
              </a:rPr>
              <a:t>Technology News Recommendation System</a:t>
            </a:r>
            <a:endParaRPr sz="1800">
              <a:solidFill>
                <a:schemeClr val="dk2"/>
              </a:solidFill>
              <a:latin typeface="Open Sans Light"/>
              <a:ea typeface="Open Sans Light"/>
              <a:cs typeface="Open Sans Light"/>
              <a:sym typeface="Open Sans Ligh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0"/>
        <p:cNvGrpSpPr/>
        <p:nvPr/>
      </p:nvGrpSpPr>
      <p:grpSpPr>
        <a:xfrm>
          <a:off x="0" y="0"/>
          <a:ext cx="0" cy="0"/>
          <a:chOff x="0" y="0"/>
          <a:chExt cx="0" cy="0"/>
        </a:xfrm>
      </p:grpSpPr>
      <p:sp>
        <p:nvSpPr>
          <p:cNvPr id="91" name="Google Shape;91;p9"/>
          <p:cNvSpPr txBox="1"/>
          <p:nvPr/>
        </p:nvSpPr>
        <p:spPr>
          <a:xfrm>
            <a:off x="311700" y="2317802"/>
            <a:ext cx="8520600" cy="507900"/>
          </a:xfrm>
          <a:prstGeom prst="rect">
            <a:avLst/>
          </a:prstGeom>
          <a:noFill/>
          <a:ln>
            <a:noFill/>
          </a:ln>
        </p:spPr>
        <p:txBody>
          <a:bodyPr spcFirstLastPara="1" wrap="square" lIns="91425" tIns="91425" rIns="91425" bIns="91425" anchor="b" anchorCtr="0">
            <a:noAutofit/>
          </a:bodyPr>
          <a:lstStyle/>
          <a:p>
            <a:pPr marL="0" marR="0" lvl="0" indent="0" algn="ctr" rtl="0">
              <a:lnSpc>
                <a:spcPct val="100000"/>
              </a:lnSpc>
              <a:spcBef>
                <a:spcPts val="0"/>
              </a:spcBef>
              <a:spcAft>
                <a:spcPts val="0"/>
              </a:spcAft>
              <a:buNone/>
            </a:pPr>
            <a:r>
              <a:rPr lang="en" sz="3400" b="0" i="0" u="none" strike="noStrike" cap="none">
                <a:solidFill>
                  <a:srgbClr val="002D45"/>
                </a:solidFill>
                <a:latin typeface="Montserrat"/>
                <a:ea typeface="Montserrat"/>
                <a:cs typeface="Montserrat"/>
                <a:sym typeface="Montserrat"/>
              </a:rPr>
              <a:t>AI Studio Project Overview</a:t>
            </a:r>
            <a:endParaRPr sz="3400" b="0" i="0" u="none" strike="noStrike" cap="none">
              <a:solidFill>
                <a:srgbClr val="002D45"/>
              </a:solidFill>
              <a:latin typeface="Montserrat"/>
              <a:ea typeface="Montserrat"/>
              <a:cs typeface="Montserrat"/>
              <a:sym typeface="Montserra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5"/>
        <p:cNvGrpSpPr/>
        <p:nvPr/>
      </p:nvGrpSpPr>
      <p:grpSpPr>
        <a:xfrm>
          <a:off x="0" y="0"/>
          <a:ext cx="0" cy="0"/>
          <a:chOff x="0" y="0"/>
          <a:chExt cx="0" cy="0"/>
        </a:xfrm>
      </p:grpSpPr>
      <p:sp>
        <p:nvSpPr>
          <p:cNvPr id="96" name="Google Shape;96;p10"/>
          <p:cNvSpPr txBox="1"/>
          <p:nvPr/>
        </p:nvSpPr>
        <p:spPr>
          <a:xfrm>
            <a:off x="3953250" y="304925"/>
            <a:ext cx="1237500" cy="1432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6000"/>
              <a:buFont typeface="Arial"/>
              <a:buNone/>
            </a:pPr>
            <a:r>
              <a:rPr lang="en" sz="16000" b="1" i="0" u="none" strike="noStrike" cap="none">
                <a:solidFill>
                  <a:srgbClr val="C1F400"/>
                </a:solidFill>
                <a:latin typeface="Montserrat"/>
                <a:ea typeface="Montserrat"/>
                <a:cs typeface="Montserrat"/>
                <a:sym typeface="Montserrat"/>
              </a:rPr>
              <a:t>“</a:t>
            </a:r>
            <a:endParaRPr sz="16000" b="1" i="0" u="none" strike="noStrike" cap="none">
              <a:solidFill>
                <a:srgbClr val="C1F400"/>
              </a:solidFill>
              <a:latin typeface="Montserrat"/>
              <a:ea typeface="Montserrat"/>
              <a:cs typeface="Montserrat"/>
              <a:sym typeface="Montserrat"/>
            </a:endParaRPr>
          </a:p>
        </p:txBody>
      </p:sp>
      <p:cxnSp>
        <p:nvCxnSpPr>
          <p:cNvPr id="97" name="Google Shape;97;p10"/>
          <p:cNvCxnSpPr/>
          <p:nvPr/>
        </p:nvCxnSpPr>
        <p:spPr>
          <a:xfrm>
            <a:off x="3789600" y="3830950"/>
            <a:ext cx="1564800" cy="0"/>
          </a:xfrm>
          <a:prstGeom prst="straightConnector1">
            <a:avLst/>
          </a:prstGeom>
          <a:noFill/>
          <a:ln w="38100" cap="flat" cmpd="sng">
            <a:solidFill>
              <a:srgbClr val="C1F400"/>
            </a:solidFill>
            <a:prstDash val="solid"/>
            <a:round/>
            <a:headEnd type="none" w="sm" len="sm"/>
            <a:tailEnd type="none" w="sm" len="sm"/>
          </a:ln>
        </p:spPr>
      </p:cxnSp>
      <p:sp>
        <p:nvSpPr>
          <p:cNvPr id="98" name="Google Shape;98;p10"/>
          <p:cNvSpPr txBox="1"/>
          <p:nvPr/>
        </p:nvSpPr>
        <p:spPr>
          <a:xfrm>
            <a:off x="2967150" y="4176000"/>
            <a:ext cx="3209700" cy="6258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Montserrat"/>
              <a:ea typeface="Montserrat"/>
              <a:cs typeface="Montserrat"/>
              <a:sym typeface="Montserrat"/>
            </a:endParaRPr>
          </a:p>
        </p:txBody>
      </p:sp>
      <p:sp>
        <p:nvSpPr>
          <p:cNvPr id="99" name="Google Shape;99;p10"/>
          <p:cNvSpPr txBox="1"/>
          <p:nvPr/>
        </p:nvSpPr>
        <p:spPr>
          <a:xfrm>
            <a:off x="1009500" y="1959200"/>
            <a:ext cx="7125000" cy="159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2800"/>
              <a:buFont typeface="Arial"/>
              <a:buNone/>
            </a:pPr>
            <a:r>
              <a:rPr lang="en" sz="2000">
                <a:latin typeface="Open Sans Light"/>
                <a:ea typeface="Open Sans Light"/>
                <a:cs typeface="Open Sans Light"/>
                <a:sym typeface="Open Sans Light"/>
              </a:rPr>
              <a:t>The Technology News Insights Engine analyzes various technology news articles to uncover trends in tech products and services for advising tech startups on how to grow their businesses.</a:t>
            </a:r>
            <a:endParaRPr sz="3600" i="0" u="none" strike="noStrike" cap="none">
              <a:solidFill>
                <a:srgbClr val="FFFFFF"/>
              </a:solidFill>
              <a:latin typeface="Open Sans Light"/>
              <a:ea typeface="Open Sans Light"/>
              <a:cs typeface="Open Sans Light"/>
              <a:sym typeface="Open Sans Ligh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3"/>
        <p:cNvGrpSpPr/>
        <p:nvPr/>
      </p:nvGrpSpPr>
      <p:grpSpPr>
        <a:xfrm>
          <a:off x="0" y="0"/>
          <a:ext cx="0" cy="0"/>
          <a:chOff x="0" y="0"/>
          <a:chExt cx="0" cy="0"/>
        </a:xfrm>
      </p:grpSpPr>
      <p:sp>
        <p:nvSpPr>
          <p:cNvPr id="104" name="Google Shape;104;p11"/>
          <p:cNvSpPr txBox="1"/>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 sz="2800" b="0" i="0" u="none" strike="noStrike" cap="none">
                <a:solidFill>
                  <a:srgbClr val="002D45"/>
                </a:solidFill>
                <a:latin typeface="Montserrat"/>
                <a:ea typeface="Montserrat"/>
                <a:cs typeface="Montserrat"/>
                <a:sym typeface="Montserrat"/>
              </a:rPr>
              <a:t>Our Goal</a:t>
            </a:r>
            <a:endParaRPr sz="2800" b="0" i="0" u="none" strike="noStrike" cap="none">
              <a:solidFill>
                <a:srgbClr val="002D45"/>
              </a:solidFill>
              <a:latin typeface="Montserrat"/>
              <a:ea typeface="Montserrat"/>
              <a:cs typeface="Montserrat"/>
              <a:sym typeface="Montserrat"/>
            </a:endParaRPr>
          </a:p>
        </p:txBody>
      </p:sp>
      <p:sp>
        <p:nvSpPr>
          <p:cNvPr id="105" name="Google Shape;105;p11"/>
          <p:cNvSpPr txBox="1"/>
          <p:nvPr/>
        </p:nvSpPr>
        <p:spPr>
          <a:xfrm>
            <a:off x="311700" y="1247150"/>
            <a:ext cx="6339000" cy="3329400"/>
          </a:xfrm>
          <a:prstGeom prst="rect">
            <a:avLst/>
          </a:prstGeom>
          <a:noFill/>
          <a:ln>
            <a:noFill/>
          </a:ln>
        </p:spPr>
        <p:txBody>
          <a:bodyPr spcFirstLastPara="1" wrap="square" lIns="91425" tIns="91425" rIns="91425" bIns="91425" anchor="t" anchorCtr="0">
            <a:noAutofit/>
          </a:bodyPr>
          <a:lstStyle/>
          <a:p>
            <a:pPr marL="457200" lvl="0" indent="-323850" algn="l" rtl="0">
              <a:lnSpc>
                <a:spcPct val="115000"/>
              </a:lnSpc>
              <a:spcBef>
                <a:spcPts val="0"/>
              </a:spcBef>
              <a:spcAft>
                <a:spcPts val="0"/>
              </a:spcAft>
              <a:buClr>
                <a:schemeClr val="dk2"/>
              </a:buClr>
              <a:buSzPts val="1500"/>
              <a:buFont typeface="Open Sans Light"/>
              <a:buAutoNum type="arabicPeriod"/>
            </a:pPr>
            <a:r>
              <a:rPr lang="en" sz="1500">
                <a:solidFill>
                  <a:schemeClr val="dk2"/>
                </a:solidFill>
                <a:latin typeface="Open Sans Light"/>
                <a:ea typeface="Open Sans Light"/>
                <a:cs typeface="Open Sans Light"/>
                <a:sym typeface="Open Sans Light"/>
              </a:rPr>
              <a:t>Organize technology news articles into each technology category</a:t>
            </a:r>
            <a:endParaRPr sz="1500">
              <a:solidFill>
                <a:schemeClr val="dk2"/>
              </a:solidFill>
              <a:latin typeface="Open Sans Light"/>
              <a:ea typeface="Open Sans Light"/>
              <a:cs typeface="Open Sans Light"/>
              <a:sym typeface="Open Sans Light"/>
            </a:endParaRPr>
          </a:p>
          <a:p>
            <a:pPr marL="457200" lvl="0" indent="0" algn="l" rtl="0">
              <a:lnSpc>
                <a:spcPct val="115000"/>
              </a:lnSpc>
              <a:spcBef>
                <a:spcPts val="0"/>
              </a:spcBef>
              <a:spcAft>
                <a:spcPts val="0"/>
              </a:spcAft>
              <a:buNone/>
            </a:pPr>
            <a:endParaRPr sz="1500">
              <a:solidFill>
                <a:schemeClr val="dk2"/>
              </a:solidFill>
              <a:latin typeface="Open Sans Light"/>
              <a:ea typeface="Open Sans Light"/>
              <a:cs typeface="Open Sans Light"/>
              <a:sym typeface="Open Sans Light"/>
            </a:endParaRPr>
          </a:p>
          <a:p>
            <a:pPr marL="457200" lvl="0" indent="-323850" algn="l" rtl="0">
              <a:lnSpc>
                <a:spcPct val="115000"/>
              </a:lnSpc>
              <a:spcBef>
                <a:spcPts val="0"/>
              </a:spcBef>
              <a:spcAft>
                <a:spcPts val="0"/>
              </a:spcAft>
              <a:buClr>
                <a:schemeClr val="dk2"/>
              </a:buClr>
              <a:buSzPts val="1500"/>
              <a:buFont typeface="Open Sans Light"/>
              <a:buAutoNum type="arabicPeriod"/>
            </a:pPr>
            <a:r>
              <a:rPr lang="en" sz="1500">
                <a:solidFill>
                  <a:schemeClr val="dk2"/>
                </a:solidFill>
                <a:latin typeface="Open Sans Light"/>
                <a:ea typeface="Open Sans Light"/>
                <a:cs typeface="Open Sans Light"/>
                <a:sym typeface="Open Sans Light"/>
              </a:rPr>
              <a:t>Assign a topic name to each group of technology news articles</a:t>
            </a:r>
            <a:endParaRPr sz="1500">
              <a:solidFill>
                <a:schemeClr val="dk2"/>
              </a:solidFill>
              <a:latin typeface="Open Sans Light"/>
              <a:ea typeface="Open Sans Light"/>
              <a:cs typeface="Open Sans Light"/>
              <a:sym typeface="Open Sans Light"/>
            </a:endParaRPr>
          </a:p>
          <a:p>
            <a:pPr marL="457200" lvl="0" indent="0" algn="l" rtl="0">
              <a:lnSpc>
                <a:spcPct val="115000"/>
              </a:lnSpc>
              <a:spcBef>
                <a:spcPts val="0"/>
              </a:spcBef>
              <a:spcAft>
                <a:spcPts val="0"/>
              </a:spcAft>
              <a:buNone/>
            </a:pPr>
            <a:endParaRPr sz="1500">
              <a:solidFill>
                <a:schemeClr val="dk2"/>
              </a:solidFill>
              <a:latin typeface="Open Sans Light"/>
              <a:ea typeface="Open Sans Light"/>
              <a:cs typeface="Open Sans Light"/>
              <a:sym typeface="Open Sans Light"/>
            </a:endParaRPr>
          </a:p>
          <a:p>
            <a:pPr marL="457200" lvl="0" indent="-323850" algn="l" rtl="0">
              <a:lnSpc>
                <a:spcPct val="115000"/>
              </a:lnSpc>
              <a:spcBef>
                <a:spcPts val="0"/>
              </a:spcBef>
              <a:spcAft>
                <a:spcPts val="0"/>
              </a:spcAft>
              <a:buClr>
                <a:schemeClr val="dk2"/>
              </a:buClr>
              <a:buSzPts val="1500"/>
              <a:buFont typeface="Open Sans Light"/>
              <a:buAutoNum type="arabicPeriod"/>
            </a:pPr>
            <a:r>
              <a:rPr lang="en" sz="1500">
                <a:solidFill>
                  <a:schemeClr val="dk2"/>
                </a:solidFill>
                <a:latin typeface="Open Sans Light"/>
                <a:ea typeface="Open Sans Light"/>
                <a:cs typeface="Open Sans Light"/>
                <a:sym typeface="Open Sans Light"/>
              </a:rPr>
              <a:t>Uncover short terms trends in the tech industry and development</a:t>
            </a:r>
            <a:endParaRPr sz="1500">
              <a:solidFill>
                <a:schemeClr val="dk2"/>
              </a:solidFill>
              <a:latin typeface="Open Sans Light"/>
              <a:ea typeface="Open Sans Light"/>
              <a:cs typeface="Open Sans Light"/>
              <a:sym typeface="Open Sans Light"/>
            </a:endParaRPr>
          </a:p>
          <a:p>
            <a:pPr marL="457200" lvl="0" indent="0" algn="l" rtl="0">
              <a:lnSpc>
                <a:spcPct val="115000"/>
              </a:lnSpc>
              <a:spcBef>
                <a:spcPts val="0"/>
              </a:spcBef>
              <a:spcAft>
                <a:spcPts val="0"/>
              </a:spcAft>
              <a:buNone/>
            </a:pPr>
            <a:endParaRPr sz="1500">
              <a:solidFill>
                <a:schemeClr val="dk2"/>
              </a:solidFill>
              <a:latin typeface="Open Sans Light"/>
              <a:ea typeface="Open Sans Light"/>
              <a:cs typeface="Open Sans Light"/>
              <a:sym typeface="Open Sans Light"/>
            </a:endParaRPr>
          </a:p>
          <a:p>
            <a:pPr marL="457200" lvl="0" indent="-323850" algn="l" rtl="0">
              <a:lnSpc>
                <a:spcPct val="115000"/>
              </a:lnSpc>
              <a:spcBef>
                <a:spcPts val="0"/>
              </a:spcBef>
              <a:spcAft>
                <a:spcPts val="0"/>
              </a:spcAft>
              <a:buClr>
                <a:schemeClr val="dk2"/>
              </a:buClr>
              <a:buSzPts val="1500"/>
              <a:buFont typeface="Open Sans Light"/>
              <a:buAutoNum type="arabicPeriod"/>
            </a:pPr>
            <a:r>
              <a:rPr lang="en" sz="1500">
                <a:solidFill>
                  <a:schemeClr val="dk2"/>
                </a:solidFill>
                <a:latin typeface="Open Sans Light"/>
                <a:ea typeface="Open Sans Light"/>
                <a:cs typeface="Open Sans Light"/>
                <a:sym typeface="Open Sans Light"/>
              </a:rPr>
              <a:t>Identify emerging trends, key players, and potential partnerships within the tech industry</a:t>
            </a:r>
            <a:endParaRPr sz="1500">
              <a:solidFill>
                <a:schemeClr val="dk2"/>
              </a:solidFill>
              <a:latin typeface="Open Sans Light"/>
              <a:ea typeface="Open Sans Light"/>
              <a:cs typeface="Open Sans Light"/>
              <a:sym typeface="Open Sans Light"/>
            </a:endParaRPr>
          </a:p>
          <a:p>
            <a:pPr marL="457200" lvl="0" indent="0" algn="l" rtl="0">
              <a:lnSpc>
                <a:spcPct val="115000"/>
              </a:lnSpc>
              <a:spcBef>
                <a:spcPts val="0"/>
              </a:spcBef>
              <a:spcAft>
                <a:spcPts val="0"/>
              </a:spcAft>
              <a:buNone/>
            </a:pPr>
            <a:endParaRPr sz="1500">
              <a:solidFill>
                <a:schemeClr val="dk2"/>
              </a:solidFill>
              <a:latin typeface="Open Sans Light"/>
              <a:ea typeface="Open Sans Light"/>
              <a:cs typeface="Open Sans Light"/>
              <a:sym typeface="Open Sans Light"/>
            </a:endParaRPr>
          </a:p>
          <a:p>
            <a:pPr marL="457200" lvl="0" indent="-323850" algn="l" rtl="0">
              <a:lnSpc>
                <a:spcPct val="115000"/>
              </a:lnSpc>
              <a:spcBef>
                <a:spcPts val="0"/>
              </a:spcBef>
              <a:spcAft>
                <a:spcPts val="0"/>
              </a:spcAft>
              <a:buClr>
                <a:schemeClr val="dk2"/>
              </a:buClr>
              <a:buSzPts val="1500"/>
              <a:buFont typeface="Open Sans Light"/>
              <a:buAutoNum type="arabicPeriod"/>
            </a:pPr>
            <a:r>
              <a:rPr lang="en" sz="1500">
                <a:solidFill>
                  <a:schemeClr val="dk2"/>
                </a:solidFill>
                <a:latin typeface="Open Sans Light"/>
                <a:ea typeface="Open Sans Light"/>
                <a:cs typeface="Open Sans Light"/>
                <a:sym typeface="Open Sans Light"/>
              </a:rPr>
              <a:t>Enable data-driven insights from technology news articles to inform strategic decisions based on a recommendation system</a:t>
            </a:r>
            <a:endParaRPr sz="1500">
              <a:solidFill>
                <a:schemeClr val="dk2"/>
              </a:solidFill>
              <a:latin typeface="Open Sans Light"/>
              <a:ea typeface="Open Sans Light"/>
              <a:cs typeface="Open Sans Light"/>
              <a:sym typeface="Open Sans Light"/>
            </a:endParaRPr>
          </a:p>
          <a:p>
            <a:pPr marL="0" lvl="0" indent="0" algn="l" rtl="0">
              <a:lnSpc>
                <a:spcPct val="115000"/>
              </a:lnSpc>
              <a:spcBef>
                <a:spcPts val="0"/>
              </a:spcBef>
              <a:spcAft>
                <a:spcPts val="0"/>
              </a:spcAft>
              <a:buNone/>
            </a:pPr>
            <a:endParaRPr>
              <a:solidFill>
                <a:schemeClr val="dk2"/>
              </a:solidFill>
              <a:latin typeface="Open Sans Light"/>
              <a:ea typeface="Open Sans Light"/>
              <a:cs typeface="Open Sans Light"/>
              <a:sym typeface="Open Sans Light"/>
            </a:endParaRPr>
          </a:p>
          <a:p>
            <a:pPr marL="457200" marR="0" lvl="0" indent="0" algn="l" rtl="0">
              <a:lnSpc>
                <a:spcPct val="115000"/>
              </a:lnSpc>
              <a:spcBef>
                <a:spcPts val="0"/>
              </a:spcBef>
              <a:spcAft>
                <a:spcPts val="0"/>
              </a:spcAft>
              <a:buNone/>
            </a:pPr>
            <a:endParaRPr>
              <a:solidFill>
                <a:schemeClr val="dk2"/>
              </a:solidFill>
              <a:latin typeface="Open Sans Light"/>
              <a:ea typeface="Open Sans Light"/>
              <a:cs typeface="Open Sans Light"/>
              <a:sym typeface="Open Sans Light"/>
            </a:endParaRPr>
          </a:p>
        </p:txBody>
      </p:sp>
      <p:pic>
        <p:nvPicPr>
          <p:cNvPr id="106" name="Google Shape;106;p11"/>
          <p:cNvPicPr preferRelativeResize="0"/>
          <p:nvPr/>
        </p:nvPicPr>
        <p:blipFill>
          <a:blip r:embed="rId4">
            <a:alphaModFix/>
          </a:blip>
          <a:stretch>
            <a:fillRect/>
          </a:stretch>
        </p:blipFill>
        <p:spPr>
          <a:xfrm>
            <a:off x="6840425" y="1724075"/>
            <a:ext cx="1932900" cy="1932900"/>
          </a:xfrm>
          <a:prstGeom prst="flowChartAlternateProcess">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10"/>
        <p:cNvGrpSpPr/>
        <p:nvPr/>
      </p:nvGrpSpPr>
      <p:grpSpPr>
        <a:xfrm>
          <a:off x="0" y="0"/>
          <a:ext cx="0" cy="0"/>
          <a:chOff x="0" y="0"/>
          <a:chExt cx="0" cy="0"/>
        </a:xfrm>
      </p:grpSpPr>
      <p:sp>
        <p:nvSpPr>
          <p:cNvPr id="111" name="Google Shape;111;p12"/>
          <p:cNvSpPr txBox="1"/>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 sz="2800" b="0" i="0" u="none" strike="noStrike" cap="none">
                <a:solidFill>
                  <a:srgbClr val="002D45"/>
                </a:solidFill>
                <a:latin typeface="Montserrat"/>
                <a:ea typeface="Montserrat"/>
                <a:cs typeface="Montserrat"/>
                <a:sym typeface="Montserrat"/>
              </a:rPr>
              <a:t>Business Impact</a:t>
            </a:r>
            <a:endParaRPr sz="2800" b="0" i="0" u="none" strike="noStrike" cap="none">
              <a:solidFill>
                <a:srgbClr val="002D45"/>
              </a:solidFill>
              <a:latin typeface="Montserrat"/>
              <a:ea typeface="Montserrat"/>
              <a:cs typeface="Montserrat"/>
              <a:sym typeface="Montserrat"/>
            </a:endParaRPr>
          </a:p>
        </p:txBody>
      </p:sp>
      <p:sp>
        <p:nvSpPr>
          <p:cNvPr id="112" name="Google Shape;112;p12"/>
          <p:cNvSpPr txBox="1"/>
          <p:nvPr/>
        </p:nvSpPr>
        <p:spPr>
          <a:xfrm>
            <a:off x="311700" y="1089825"/>
            <a:ext cx="6138900" cy="34866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n" b="1">
                <a:solidFill>
                  <a:schemeClr val="dk2"/>
                </a:solidFill>
                <a:latin typeface="Open Sans"/>
                <a:ea typeface="Open Sans"/>
                <a:cs typeface="Open Sans"/>
                <a:sym typeface="Open Sans"/>
              </a:rPr>
              <a:t>Aid technology consultants at Accenture:</a:t>
            </a:r>
            <a:endParaRPr b="1">
              <a:solidFill>
                <a:schemeClr val="dk2"/>
              </a:solidFill>
              <a:latin typeface="Open Sans"/>
              <a:ea typeface="Open Sans"/>
              <a:cs typeface="Open Sans"/>
              <a:sym typeface="Open Sans"/>
            </a:endParaRPr>
          </a:p>
          <a:p>
            <a:pPr marL="457200" marR="0" lvl="0" indent="-317500" algn="l" rtl="0">
              <a:lnSpc>
                <a:spcPct val="115000"/>
              </a:lnSpc>
              <a:spcBef>
                <a:spcPts val="0"/>
              </a:spcBef>
              <a:spcAft>
                <a:spcPts val="0"/>
              </a:spcAft>
              <a:buClr>
                <a:schemeClr val="dk2"/>
              </a:buClr>
              <a:buSzPts val="1400"/>
              <a:buFont typeface="Open Sans Light"/>
              <a:buChar char="●"/>
            </a:pPr>
            <a:r>
              <a:rPr lang="en">
                <a:solidFill>
                  <a:schemeClr val="dk2"/>
                </a:solidFill>
                <a:latin typeface="Open Sans Light"/>
                <a:ea typeface="Open Sans Light"/>
                <a:cs typeface="Open Sans Light"/>
                <a:sym typeface="Open Sans Light"/>
              </a:rPr>
              <a:t>Assess the tech resources available in their engine or database to gain insights into existing capabilities and infrastructure</a:t>
            </a:r>
            <a:endParaRPr>
              <a:solidFill>
                <a:schemeClr val="dk2"/>
              </a:solidFill>
              <a:latin typeface="Open Sans Light"/>
              <a:ea typeface="Open Sans Light"/>
              <a:cs typeface="Open Sans Light"/>
              <a:sym typeface="Open Sans Light"/>
            </a:endParaRPr>
          </a:p>
          <a:p>
            <a:pPr marL="457200" marR="0" lvl="0" indent="0" algn="l" rtl="0">
              <a:lnSpc>
                <a:spcPct val="115000"/>
              </a:lnSpc>
              <a:spcBef>
                <a:spcPts val="0"/>
              </a:spcBef>
              <a:spcAft>
                <a:spcPts val="0"/>
              </a:spcAft>
              <a:buNone/>
            </a:pPr>
            <a:endParaRPr>
              <a:solidFill>
                <a:schemeClr val="dk2"/>
              </a:solidFill>
              <a:latin typeface="Open Sans Light"/>
              <a:ea typeface="Open Sans Light"/>
              <a:cs typeface="Open Sans Light"/>
              <a:sym typeface="Open Sans Light"/>
            </a:endParaRPr>
          </a:p>
          <a:p>
            <a:pPr marL="457200" marR="0" lvl="0" indent="-317500" algn="l" rtl="0">
              <a:lnSpc>
                <a:spcPct val="115000"/>
              </a:lnSpc>
              <a:spcBef>
                <a:spcPts val="0"/>
              </a:spcBef>
              <a:spcAft>
                <a:spcPts val="0"/>
              </a:spcAft>
              <a:buClr>
                <a:schemeClr val="dk2"/>
              </a:buClr>
              <a:buSzPts val="1400"/>
              <a:buFont typeface="Open Sans Light"/>
              <a:buChar char="●"/>
            </a:pPr>
            <a:r>
              <a:rPr lang="en">
                <a:solidFill>
                  <a:schemeClr val="dk2"/>
                </a:solidFill>
                <a:latin typeface="Open Sans Light"/>
                <a:ea typeface="Open Sans Light"/>
                <a:cs typeface="Open Sans Light"/>
                <a:sym typeface="Open Sans Light"/>
              </a:rPr>
              <a:t>Analyze emerging trends and support tech startups in leveraging new market opportunities for growth and innovation</a:t>
            </a:r>
            <a:endParaRPr>
              <a:solidFill>
                <a:schemeClr val="dk2"/>
              </a:solidFill>
              <a:latin typeface="Open Sans Light"/>
              <a:ea typeface="Open Sans Light"/>
              <a:cs typeface="Open Sans Light"/>
              <a:sym typeface="Open Sans Light"/>
            </a:endParaRPr>
          </a:p>
          <a:p>
            <a:pPr marL="457200" marR="0" lvl="0" indent="0" algn="l" rtl="0">
              <a:lnSpc>
                <a:spcPct val="115000"/>
              </a:lnSpc>
              <a:spcBef>
                <a:spcPts val="0"/>
              </a:spcBef>
              <a:spcAft>
                <a:spcPts val="0"/>
              </a:spcAft>
              <a:buNone/>
            </a:pPr>
            <a:endParaRPr>
              <a:solidFill>
                <a:schemeClr val="dk2"/>
              </a:solidFill>
              <a:latin typeface="Open Sans Light"/>
              <a:ea typeface="Open Sans Light"/>
              <a:cs typeface="Open Sans Light"/>
              <a:sym typeface="Open Sans Light"/>
            </a:endParaRPr>
          </a:p>
          <a:p>
            <a:pPr marL="457200" marR="0" lvl="0" indent="-317500" algn="l" rtl="0">
              <a:lnSpc>
                <a:spcPct val="115000"/>
              </a:lnSpc>
              <a:spcBef>
                <a:spcPts val="0"/>
              </a:spcBef>
              <a:spcAft>
                <a:spcPts val="0"/>
              </a:spcAft>
              <a:buClr>
                <a:schemeClr val="dk2"/>
              </a:buClr>
              <a:buSzPts val="1400"/>
              <a:buFont typeface="Open Sans Light"/>
              <a:buChar char="●"/>
            </a:pPr>
            <a:r>
              <a:rPr lang="en">
                <a:solidFill>
                  <a:schemeClr val="dk2"/>
                </a:solidFill>
                <a:latin typeface="Open Sans Light"/>
                <a:ea typeface="Open Sans Light"/>
                <a:cs typeface="Open Sans Light"/>
                <a:sym typeface="Open Sans Light"/>
              </a:rPr>
              <a:t>Efficiently gather the latest information on specific technologies tailored to the types of technologies clients work with</a:t>
            </a:r>
            <a:endParaRPr>
              <a:solidFill>
                <a:schemeClr val="dk2"/>
              </a:solidFill>
              <a:latin typeface="Open Sans Light"/>
              <a:ea typeface="Open Sans Light"/>
              <a:cs typeface="Open Sans Light"/>
              <a:sym typeface="Open Sans Light"/>
            </a:endParaRPr>
          </a:p>
          <a:p>
            <a:pPr marL="457200" marR="0" lvl="0" indent="0" algn="l" rtl="0">
              <a:lnSpc>
                <a:spcPct val="115000"/>
              </a:lnSpc>
              <a:spcBef>
                <a:spcPts val="0"/>
              </a:spcBef>
              <a:spcAft>
                <a:spcPts val="0"/>
              </a:spcAft>
              <a:buNone/>
            </a:pPr>
            <a:endParaRPr>
              <a:solidFill>
                <a:schemeClr val="dk2"/>
              </a:solidFill>
              <a:latin typeface="Open Sans Light"/>
              <a:ea typeface="Open Sans Light"/>
              <a:cs typeface="Open Sans Light"/>
              <a:sym typeface="Open Sans Light"/>
            </a:endParaRPr>
          </a:p>
          <a:p>
            <a:pPr marL="457200" marR="0" lvl="0" indent="-317500" algn="l" rtl="0">
              <a:lnSpc>
                <a:spcPct val="115000"/>
              </a:lnSpc>
              <a:spcBef>
                <a:spcPts val="0"/>
              </a:spcBef>
              <a:spcAft>
                <a:spcPts val="0"/>
              </a:spcAft>
              <a:buClr>
                <a:schemeClr val="dk2"/>
              </a:buClr>
              <a:buSzPts val="1400"/>
              <a:buFont typeface="Open Sans Light"/>
              <a:buChar char="●"/>
            </a:pPr>
            <a:r>
              <a:rPr lang="en">
                <a:solidFill>
                  <a:schemeClr val="dk2"/>
                </a:solidFill>
                <a:latin typeface="Open Sans Light"/>
                <a:ea typeface="Open Sans Light"/>
                <a:cs typeface="Open Sans Light"/>
                <a:sym typeface="Open Sans Light"/>
              </a:rPr>
              <a:t>Explore strategic partnerships and identify growth opportunities by evaluating potential collaborations, partnerships, or acquisitions with organizations that align with business objectives</a:t>
            </a:r>
            <a:endParaRPr>
              <a:solidFill>
                <a:schemeClr val="dk2"/>
              </a:solidFill>
              <a:latin typeface="Open Sans Light"/>
              <a:ea typeface="Open Sans Light"/>
              <a:cs typeface="Open Sans Light"/>
              <a:sym typeface="Open Sans Light"/>
            </a:endParaRPr>
          </a:p>
          <a:p>
            <a:pPr marL="457200" marR="0" lvl="0" indent="0" algn="l" rtl="0">
              <a:lnSpc>
                <a:spcPct val="115000"/>
              </a:lnSpc>
              <a:spcBef>
                <a:spcPts val="0"/>
              </a:spcBef>
              <a:spcAft>
                <a:spcPts val="0"/>
              </a:spcAft>
              <a:buNone/>
            </a:pPr>
            <a:endParaRPr sz="1400" b="0" i="0" u="none" strike="noStrike" cap="none">
              <a:solidFill>
                <a:schemeClr val="dk2"/>
              </a:solidFill>
              <a:latin typeface="Open Sans Light"/>
              <a:ea typeface="Open Sans Light"/>
              <a:cs typeface="Open Sans Light"/>
              <a:sym typeface="Open Sans Light"/>
            </a:endParaRPr>
          </a:p>
        </p:txBody>
      </p:sp>
      <p:pic>
        <p:nvPicPr>
          <p:cNvPr id="113" name="Google Shape;113;p12" descr="Free Images : work, technology, line, communication, blue, world ..."/>
          <p:cNvPicPr preferRelativeResize="0"/>
          <p:nvPr/>
        </p:nvPicPr>
        <p:blipFill>
          <a:blip r:embed="rId4">
            <a:alphaModFix/>
          </a:blip>
          <a:stretch>
            <a:fillRect/>
          </a:stretch>
        </p:blipFill>
        <p:spPr>
          <a:xfrm>
            <a:off x="6662500" y="1739100"/>
            <a:ext cx="2106573" cy="166531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17"/>
        <p:cNvGrpSpPr/>
        <p:nvPr/>
      </p:nvGrpSpPr>
      <p:grpSpPr>
        <a:xfrm>
          <a:off x="0" y="0"/>
          <a:ext cx="0" cy="0"/>
          <a:chOff x="0" y="0"/>
          <a:chExt cx="0" cy="0"/>
        </a:xfrm>
      </p:grpSpPr>
      <p:sp>
        <p:nvSpPr>
          <p:cNvPr id="118" name="Google Shape;118;p13"/>
          <p:cNvSpPr txBox="1"/>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 sz="2800" b="0" i="0" u="none" strike="noStrike" cap="none">
                <a:solidFill>
                  <a:srgbClr val="002D45"/>
                </a:solidFill>
                <a:latin typeface="Montserrat"/>
                <a:ea typeface="Montserrat"/>
                <a:cs typeface="Montserrat"/>
                <a:sym typeface="Montserrat"/>
              </a:rPr>
              <a:t>Our Approach</a:t>
            </a:r>
            <a:endParaRPr sz="2800" b="0" i="0" u="none" strike="noStrike" cap="none">
              <a:solidFill>
                <a:srgbClr val="002D45"/>
              </a:solidFill>
              <a:latin typeface="Montserrat"/>
              <a:ea typeface="Montserrat"/>
              <a:cs typeface="Montserrat"/>
              <a:sym typeface="Montserrat"/>
            </a:endParaRPr>
          </a:p>
        </p:txBody>
      </p:sp>
      <p:grpSp>
        <p:nvGrpSpPr>
          <p:cNvPr id="119" name="Google Shape;119;p13"/>
          <p:cNvGrpSpPr/>
          <p:nvPr/>
        </p:nvGrpSpPr>
        <p:grpSpPr>
          <a:xfrm>
            <a:off x="4513725" y="1864926"/>
            <a:ext cx="2480148" cy="1728849"/>
            <a:chOff x="4526675" y="1857800"/>
            <a:chExt cx="2480148" cy="1728849"/>
          </a:xfrm>
        </p:grpSpPr>
        <p:sp>
          <p:nvSpPr>
            <p:cNvPr id="120" name="Google Shape;120;p13"/>
            <p:cNvSpPr/>
            <p:nvPr/>
          </p:nvSpPr>
          <p:spPr>
            <a:xfrm>
              <a:off x="4849302" y="3079475"/>
              <a:ext cx="1958400" cy="133500"/>
            </a:xfrm>
            <a:prstGeom prst="rect">
              <a:avLst/>
            </a:prstGeom>
            <a:solidFill>
              <a:srgbClr val="0E945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21" name="Google Shape;121;p13"/>
            <p:cNvGrpSpPr/>
            <p:nvPr/>
          </p:nvGrpSpPr>
          <p:grpSpPr>
            <a:xfrm>
              <a:off x="4526675" y="1857800"/>
              <a:ext cx="2480148" cy="1728849"/>
              <a:chOff x="4526675" y="1857800"/>
              <a:chExt cx="2480148" cy="1728849"/>
            </a:xfrm>
          </p:grpSpPr>
          <p:grpSp>
            <p:nvGrpSpPr>
              <p:cNvPr id="122" name="Google Shape;122;p13"/>
              <p:cNvGrpSpPr/>
              <p:nvPr/>
            </p:nvGrpSpPr>
            <p:grpSpPr>
              <a:xfrm>
                <a:off x="4808316" y="2800065"/>
                <a:ext cx="92400" cy="411825"/>
                <a:chOff x="845575" y="2563700"/>
                <a:chExt cx="92400" cy="411825"/>
              </a:xfrm>
            </p:grpSpPr>
            <p:cxnSp>
              <p:nvCxnSpPr>
                <p:cNvPr id="123" name="Google Shape;123;p13"/>
                <p:cNvCxnSpPr/>
                <p:nvPr/>
              </p:nvCxnSpPr>
              <p:spPr>
                <a:xfrm>
                  <a:off x="891775" y="2616125"/>
                  <a:ext cx="0" cy="359400"/>
                </a:xfrm>
                <a:prstGeom prst="straightConnector1">
                  <a:avLst/>
                </a:prstGeom>
                <a:noFill/>
                <a:ln w="9525" cap="flat" cmpd="sng">
                  <a:solidFill>
                    <a:srgbClr val="000000"/>
                  </a:solidFill>
                  <a:prstDash val="solid"/>
                  <a:round/>
                  <a:headEnd type="none" w="sm" len="sm"/>
                  <a:tailEnd type="none" w="sm" len="sm"/>
                </a:ln>
              </p:spPr>
            </p:cxnSp>
            <p:sp>
              <p:nvSpPr>
                <p:cNvPr id="124" name="Google Shape;124;p13"/>
                <p:cNvSpPr/>
                <p:nvPr/>
              </p:nvSpPr>
              <p:spPr>
                <a:xfrm>
                  <a:off x="845575" y="2563700"/>
                  <a:ext cx="92400" cy="92400"/>
                </a:xfrm>
                <a:prstGeom prst="ellipse">
                  <a:avLst/>
                </a:prstGeom>
                <a:solidFill>
                  <a:srgbClr val="0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25" name="Google Shape;125;p13"/>
              <p:cNvSpPr txBox="1"/>
              <p:nvPr/>
            </p:nvSpPr>
            <p:spPr>
              <a:xfrm>
                <a:off x="4526675" y="3215249"/>
                <a:ext cx="1297200" cy="3714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0"/>
                  </a:spcBef>
                  <a:spcAft>
                    <a:spcPts val="1600"/>
                  </a:spcAft>
                  <a:buClr>
                    <a:srgbClr val="000000"/>
                  </a:buClr>
                  <a:buSzPts val="1200"/>
                  <a:buFont typeface="Arial"/>
                  <a:buNone/>
                </a:pPr>
                <a:r>
                  <a:rPr lang="en" sz="1200" b="1">
                    <a:latin typeface="Roboto"/>
                    <a:ea typeface="Roboto"/>
                    <a:cs typeface="Roboto"/>
                    <a:sym typeface="Roboto"/>
                  </a:rPr>
                  <a:t>Early Nov 2024</a:t>
                </a:r>
                <a:endParaRPr sz="1200" b="1" i="0" u="none" strike="noStrike" cap="none">
                  <a:solidFill>
                    <a:srgbClr val="000000"/>
                  </a:solidFill>
                  <a:latin typeface="Roboto"/>
                  <a:ea typeface="Roboto"/>
                  <a:cs typeface="Roboto"/>
                  <a:sym typeface="Roboto"/>
                </a:endParaRPr>
              </a:p>
            </p:txBody>
          </p:sp>
          <p:sp>
            <p:nvSpPr>
              <p:cNvPr id="126" name="Google Shape;126;p13"/>
              <p:cNvSpPr txBox="1"/>
              <p:nvPr/>
            </p:nvSpPr>
            <p:spPr>
              <a:xfrm>
                <a:off x="4753223" y="1857800"/>
                <a:ext cx="2253600" cy="943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800"/>
                  <a:buFont typeface="Arial"/>
                  <a:buNone/>
                </a:pPr>
                <a:r>
                  <a:rPr lang="en" sz="800" b="1">
                    <a:latin typeface="Roboto"/>
                    <a:ea typeface="Roboto"/>
                    <a:cs typeface="Roboto"/>
                    <a:sym typeface="Roboto"/>
                  </a:rPr>
                  <a:t>Entity Relationship Mapping</a:t>
                </a:r>
                <a:endParaRPr sz="800" b="1" i="0" u="none" strike="noStrike" cap="none">
                  <a:solidFill>
                    <a:srgbClr val="000000"/>
                  </a:solidFill>
                  <a:latin typeface="Roboto"/>
                  <a:ea typeface="Roboto"/>
                  <a:cs typeface="Roboto"/>
                  <a:sym typeface="Roboto"/>
                </a:endParaRPr>
              </a:p>
              <a:p>
                <a:pPr marL="0" marR="0" lvl="0" indent="0" algn="l" rtl="0">
                  <a:lnSpc>
                    <a:spcPct val="100000"/>
                  </a:lnSpc>
                  <a:spcBef>
                    <a:spcPts val="0"/>
                  </a:spcBef>
                  <a:spcAft>
                    <a:spcPts val="0"/>
                  </a:spcAft>
                  <a:buClr>
                    <a:srgbClr val="000000"/>
                  </a:buClr>
                  <a:buSzPts val="800"/>
                  <a:buFont typeface="Arial"/>
                  <a:buNone/>
                </a:pPr>
                <a:endParaRPr sz="800" b="1" i="0" u="none" strike="noStrike" cap="none">
                  <a:solidFill>
                    <a:srgbClr val="000000"/>
                  </a:solidFill>
                  <a:latin typeface="Roboto"/>
                  <a:ea typeface="Roboto"/>
                  <a:cs typeface="Roboto"/>
                  <a:sym typeface="Roboto"/>
                </a:endParaRPr>
              </a:p>
              <a:p>
                <a:pPr marL="0" marR="0" lvl="0" indent="0" algn="l" rtl="0">
                  <a:lnSpc>
                    <a:spcPct val="100000"/>
                  </a:lnSpc>
                  <a:spcBef>
                    <a:spcPts val="0"/>
                  </a:spcBef>
                  <a:spcAft>
                    <a:spcPts val="1600"/>
                  </a:spcAft>
                  <a:buClr>
                    <a:srgbClr val="000000"/>
                  </a:buClr>
                  <a:buSzPts val="800"/>
                  <a:buFont typeface="Arial"/>
                  <a:buNone/>
                </a:pPr>
                <a:r>
                  <a:rPr lang="en" sz="800">
                    <a:solidFill>
                      <a:schemeClr val="dk1"/>
                    </a:solidFill>
                    <a:latin typeface="Roboto"/>
                    <a:ea typeface="Roboto"/>
                    <a:cs typeface="Roboto"/>
                    <a:sym typeface="Roboto"/>
                  </a:rPr>
                  <a:t>Find which organizations invest in similar technologies which reveal missing links which might be opportunistically recommended for implementation</a:t>
                </a:r>
                <a:endParaRPr sz="800" b="1" i="0" u="none" strike="noStrike" cap="none">
                  <a:solidFill>
                    <a:schemeClr val="dk1"/>
                  </a:solidFill>
                  <a:latin typeface="Roboto"/>
                  <a:ea typeface="Roboto"/>
                  <a:cs typeface="Roboto"/>
                  <a:sym typeface="Roboto"/>
                </a:endParaRPr>
              </a:p>
            </p:txBody>
          </p:sp>
        </p:grpSp>
      </p:grpSp>
      <p:grpSp>
        <p:nvGrpSpPr>
          <p:cNvPr id="127" name="Google Shape;127;p13"/>
          <p:cNvGrpSpPr/>
          <p:nvPr/>
        </p:nvGrpSpPr>
        <p:grpSpPr>
          <a:xfrm>
            <a:off x="6422851" y="2709725"/>
            <a:ext cx="2721149" cy="1735651"/>
            <a:chOff x="6435801" y="2702599"/>
            <a:chExt cx="2721149" cy="1735651"/>
          </a:xfrm>
        </p:grpSpPr>
        <p:sp>
          <p:nvSpPr>
            <p:cNvPr id="128" name="Google Shape;128;p13"/>
            <p:cNvSpPr/>
            <p:nvPr/>
          </p:nvSpPr>
          <p:spPr>
            <a:xfrm>
              <a:off x="6807650" y="3079475"/>
              <a:ext cx="2349300" cy="133500"/>
            </a:xfrm>
            <a:prstGeom prst="rect">
              <a:avLst/>
            </a:prstGeom>
            <a:solidFill>
              <a:srgbClr val="08563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29" name="Google Shape;129;p13"/>
            <p:cNvGrpSpPr/>
            <p:nvPr/>
          </p:nvGrpSpPr>
          <p:grpSpPr>
            <a:xfrm>
              <a:off x="6435801" y="2702599"/>
              <a:ext cx="2494572" cy="1735651"/>
              <a:chOff x="6435801" y="2702599"/>
              <a:chExt cx="2494572" cy="1735651"/>
            </a:xfrm>
          </p:grpSpPr>
          <p:grpSp>
            <p:nvGrpSpPr>
              <p:cNvPr id="130" name="Google Shape;130;p13"/>
              <p:cNvGrpSpPr/>
              <p:nvPr/>
            </p:nvGrpSpPr>
            <p:grpSpPr>
              <a:xfrm rot="10800000">
                <a:off x="6760035" y="3079467"/>
                <a:ext cx="92400" cy="411825"/>
                <a:chOff x="2070100" y="2563700"/>
                <a:chExt cx="92400" cy="411825"/>
              </a:xfrm>
            </p:grpSpPr>
            <p:cxnSp>
              <p:nvCxnSpPr>
                <p:cNvPr id="131" name="Google Shape;131;p13"/>
                <p:cNvCxnSpPr/>
                <p:nvPr/>
              </p:nvCxnSpPr>
              <p:spPr>
                <a:xfrm>
                  <a:off x="2116300" y="2616125"/>
                  <a:ext cx="0" cy="359400"/>
                </a:xfrm>
                <a:prstGeom prst="straightConnector1">
                  <a:avLst/>
                </a:prstGeom>
                <a:noFill/>
                <a:ln w="9525" cap="flat" cmpd="sng">
                  <a:solidFill>
                    <a:srgbClr val="000000"/>
                  </a:solidFill>
                  <a:prstDash val="solid"/>
                  <a:round/>
                  <a:headEnd type="none" w="sm" len="sm"/>
                  <a:tailEnd type="none" w="sm" len="sm"/>
                </a:ln>
              </p:spPr>
            </p:cxnSp>
            <p:sp>
              <p:nvSpPr>
                <p:cNvPr id="132" name="Google Shape;132;p13"/>
                <p:cNvSpPr/>
                <p:nvPr/>
              </p:nvSpPr>
              <p:spPr>
                <a:xfrm>
                  <a:off x="2070100" y="2563700"/>
                  <a:ext cx="92400" cy="92400"/>
                </a:xfrm>
                <a:prstGeom prst="ellipse">
                  <a:avLst/>
                </a:prstGeom>
                <a:solidFill>
                  <a:srgbClr val="0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33" name="Google Shape;133;p13"/>
              <p:cNvSpPr txBox="1"/>
              <p:nvPr/>
            </p:nvSpPr>
            <p:spPr>
              <a:xfrm>
                <a:off x="6435801" y="2702599"/>
                <a:ext cx="1314000" cy="3714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0"/>
                  </a:spcBef>
                  <a:spcAft>
                    <a:spcPts val="1600"/>
                  </a:spcAft>
                  <a:buClr>
                    <a:srgbClr val="000000"/>
                  </a:buClr>
                  <a:buSzPts val="1200"/>
                  <a:buFont typeface="Arial"/>
                  <a:buNone/>
                </a:pPr>
                <a:r>
                  <a:rPr lang="en" sz="1200" b="1">
                    <a:latin typeface="Roboto"/>
                    <a:ea typeface="Roboto"/>
                    <a:cs typeface="Roboto"/>
                    <a:sym typeface="Roboto"/>
                  </a:rPr>
                  <a:t>Late Nov 2024</a:t>
                </a:r>
                <a:endParaRPr sz="1200" b="1" i="0" u="none" strike="noStrike" cap="none">
                  <a:solidFill>
                    <a:srgbClr val="000000"/>
                  </a:solidFill>
                  <a:latin typeface="Roboto"/>
                  <a:ea typeface="Roboto"/>
                  <a:cs typeface="Roboto"/>
                  <a:sym typeface="Roboto"/>
                </a:endParaRPr>
              </a:p>
            </p:txBody>
          </p:sp>
          <p:sp>
            <p:nvSpPr>
              <p:cNvPr id="134" name="Google Shape;134;p13"/>
              <p:cNvSpPr txBox="1"/>
              <p:nvPr/>
            </p:nvSpPr>
            <p:spPr>
              <a:xfrm>
                <a:off x="6676773" y="3494450"/>
                <a:ext cx="2253600" cy="943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800"/>
                  <a:buFont typeface="Arial"/>
                  <a:buNone/>
                </a:pPr>
                <a:r>
                  <a:rPr lang="en" sz="800" b="1">
                    <a:latin typeface="Roboto"/>
                    <a:ea typeface="Roboto"/>
                    <a:cs typeface="Roboto"/>
                    <a:sym typeface="Roboto"/>
                  </a:rPr>
                  <a:t>Recommendation System</a:t>
                </a:r>
                <a:endParaRPr sz="800" b="1" i="0" u="none" strike="noStrike" cap="none">
                  <a:solidFill>
                    <a:srgbClr val="000000"/>
                  </a:solidFill>
                  <a:latin typeface="Roboto"/>
                  <a:ea typeface="Roboto"/>
                  <a:cs typeface="Roboto"/>
                  <a:sym typeface="Roboto"/>
                </a:endParaRPr>
              </a:p>
              <a:p>
                <a:pPr marL="0" marR="0" lvl="0" indent="0" algn="l" rtl="0">
                  <a:lnSpc>
                    <a:spcPct val="100000"/>
                  </a:lnSpc>
                  <a:spcBef>
                    <a:spcPts val="0"/>
                  </a:spcBef>
                  <a:spcAft>
                    <a:spcPts val="0"/>
                  </a:spcAft>
                  <a:buClr>
                    <a:srgbClr val="000000"/>
                  </a:buClr>
                  <a:buSzPts val="800"/>
                  <a:buFont typeface="Arial"/>
                  <a:buNone/>
                </a:pPr>
                <a:endParaRPr sz="800" b="1" i="0" u="none" strike="noStrike" cap="none">
                  <a:solidFill>
                    <a:srgbClr val="000000"/>
                  </a:solidFill>
                  <a:latin typeface="Roboto"/>
                  <a:ea typeface="Roboto"/>
                  <a:cs typeface="Roboto"/>
                  <a:sym typeface="Roboto"/>
                </a:endParaRPr>
              </a:p>
              <a:p>
                <a:pPr marL="0" marR="0" lvl="0" indent="0" algn="l" rtl="0">
                  <a:lnSpc>
                    <a:spcPct val="100000"/>
                  </a:lnSpc>
                  <a:spcBef>
                    <a:spcPts val="0"/>
                  </a:spcBef>
                  <a:spcAft>
                    <a:spcPts val="1600"/>
                  </a:spcAft>
                  <a:buClr>
                    <a:srgbClr val="000000"/>
                  </a:buClr>
                  <a:buSzPts val="800"/>
                  <a:buFont typeface="Arial"/>
                  <a:buNone/>
                </a:pPr>
                <a:r>
                  <a:rPr lang="en" sz="800">
                    <a:latin typeface="Roboto"/>
                    <a:ea typeface="Roboto"/>
                    <a:cs typeface="Roboto"/>
                    <a:sym typeface="Roboto"/>
                  </a:rPr>
                  <a:t>Developed a recommendation system by retrieve &amp; re-rank, sentiment score , and retrieval augmented generation.</a:t>
                </a:r>
                <a:endParaRPr sz="800" b="1" i="0" u="none" strike="noStrike" cap="none">
                  <a:solidFill>
                    <a:srgbClr val="000000"/>
                  </a:solidFill>
                  <a:latin typeface="Roboto"/>
                  <a:ea typeface="Roboto"/>
                  <a:cs typeface="Roboto"/>
                  <a:sym typeface="Roboto"/>
                </a:endParaRPr>
              </a:p>
            </p:txBody>
          </p:sp>
        </p:grpSp>
      </p:grpSp>
      <p:grpSp>
        <p:nvGrpSpPr>
          <p:cNvPr id="135" name="Google Shape;135;p13"/>
          <p:cNvGrpSpPr/>
          <p:nvPr/>
        </p:nvGrpSpPr>
        <p:grpSpPr>
          <a:xfrm>
            <a:off x="129900" y="1864926"/>
            <a:ext cx="2895747" cy="1726574"/>
            <a:chOff x="142850" y="1857800"/>
            <a:chExt cx="2895747" cy="1726574"/>
          </a:xfrm>
        </p:grpSpPr>
        <p:sp>
          <p:nvSpPr>
            <p:cNvPr id="136" name="Google Shape;136;p13"/>
            <p:cNvSpPr/>
            <p:nvPr/>
          </p:nvSpPr>
          <p:spPr>
            <a:xfrm>
              <a:off x="932600" y="3079475"/>
              <a:ext cx="1958400" cy="133500"/>
            </a:xfrm>
            <a:prstGeom prst="rect">
              <a:avLst/>
            </a:prstGeom>
            <a:solidFill>
              <a:srgbClr val="0E945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37" name="Google Shape;137;p13"/>
            <p:cNvGrpSpPr/>
            <p:nvPr/>
          </p:nvGrpSpPr>
          <p:grpSpPr>
            <a:xfrm>
              <a:off x="142850" y="1857800"/>
              <a:ext cx="2895747" cy="1726574"/>
              <a:chOff x="142850" y="1857800"/>
              <a:chExt cx="2895747" cy="1726574"/>
            </a:xfrm>
          </p:grpSpPr>
          <p:sp>
            <p:nvSpPr>
              <p:cNvPr id="138" name="Google Shape;138;p13"/>
              <p:cNvSpPr txBox="1"/>
              <p:nvPr/>
            </p:nvSpPr>
            <p:spPr>
              <a:xfrm>
                <a:off x="142850" y="3212974"/>
                <a:ext cx="1725600" cy="3714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0"/>
                  </a:spcBef>
                  <a:spcAft>
                    <a:spcPts val="1600"/>
                  </a:spcAft>
                  <a:buClr>
                    <a:srgbClr val="000000"/>
                  </a:buClr>
                  <a:buSzPts val="1200"/>
                  <a:buFont typeface="Arial"/>
                  <a:buNone/>
                </a:pPr>
                <a:r>
                  <a:rPr lang="en" sz="1200" b="1">
                    <a:latin typeface="Roboto"/>
                    <a:ea typeface="Roboto"/>
                    <a:cs typeface="Roboto"/>
                    <a:sym typeface="Roboto"/>
                  </a:rPr>
                  <a:t>Aug, Sep </a:t>
                </a:r>
                <a:r>
                  <a:rPr lang="en" sz="1200" b="1" i="0" u="none" strike="noStrike" cap="none">
                    <a:solidFill>
                      <a:srgbClr val="000000"/>
                    </a:solidFill>
                    <a:latin typeface="Roboto"/>
                    <a:ea typeface="Roboto"/>
                    <a:cs typeface="Roboto"/>
                    <a:sym typeface="Roboto"/>
                  </a:rPr>
                  <a:t>20</a:t>
                </a:r>
                <a:r>
                  <a:rPr lang="en" sz="1200" b="1">
                    <a:latin typeface="Roboto"/>
                    <a:ea typeface="Roboto"/>
                    <a:cs typeface="Roboto"/>
                    <a:sym typeface="Roboto"/>
                  </a:rPr>
                  <a:t>24</a:t>
                </a:r>
                <a:endParaRPr sz="1200" b="1" i="0" u="none" strike="noStrike" cap="none">
                  <a:solidFill>
                    <a:srgbClr val="000000"/>
                  </a:solidFill>
                  <a:latin typeface="Roboto"/>
                  <a:ea typeface="Roboto"/>
                  <a:cs typeface="Roboto"/>
                  <a:sym typeface="Roboto"/>
                </a:endParaRPr>
              </a:p>
            </p:txBody>
          </p:sp>
          <p:grpSp>
            <p:nvGrpSpPr>
              <p:cNvPr id="139" name="Google Shape;139;p13"/>
              <p:cNvGrpSpPr/>
              <p:nvPr/>
            </p:nvGrpSpPr>
            <p:grpSpPr>
              <a:xfrm>
                <a:off x="881025" y="2800065"/>
                <a:ext cx="92400" cy="411825"/>
                <a:chOff x="845575" y="2563700"/>
                <a:chExt cx="92400" cy="411825"/>
              </a:xfrm>
            </p:grpSpPr>
            <p:cxnSp>
              <p:nvCxnSpPr>
                <p:cNvPr id="140" name="Google Shape;140;p13"/>
                <p:cNvCxnSpPr/>
                <p:nvPr/>
              </p:nvCxnSpPr>
              <p:spPr>
                <a:xfrm>
                  <a:off x="891775" y="2616125"/>
                  <a:ext cx="0" cy="359400"/>
                </a:xfrm>
                <a:prstGeom prst="straightConnector1">
                  <a:avLst/>
                </a:prstGeom>
                <a:noFill/>
                <a:ln w="9525" cap="flat" cmpd="sng">
                  <a:solidFill>
                    <a:srgbClr val="000000"/>
                  </a:solidFill>
                  <a:prstDash val="solid"/>
                  <a:round/>
                  <a:headEnd type="none" w="sm" len="sm"/>
                  <a:tailEnd type="none" w="sm" len="sm"/>
                </a:ln>
              </p:spPr>
            </p:cxnSp>
            <p:sp>
              <p:nvSpPr>
                <p:cNvPr id="141" name="Google Shape;141;p13"/>
                <p:cNvSpPr/>
                <p:nvPr/>
              </p:nvSpPr>
              <p:spPr>
                <a:xfrm>
                  <a:off x="845575" y="2563700"/>
                  <a:ext cx="92400" cy="92400"/>
                </a:xfrm>
                <a:prstGeom prst="ellipse">
                  <a:avLst/>
                </a:prstGeom>
                <a:solidFill>
                  <a:srgbClr val="0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42" name="Google Shape;142;p13"/>
              <p:cNvSpPr txBox="1"/>
              <p:nvPr/>
            </p:nvSpPr>
            <p:spPr>
              <a:xfrm>
                <a:off x="784997" y="1857800"/>
                <a:ext cx="2253600" cy="943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800"/>
                  <a:buFont typeface="Arial"/>
                  <a:buNone/>
                </a:pPr>
                <a:r>
                  <a:rPr lang="en" sz="800" b="1">
                    <a:latin typeface="Roboto"/>
                    <a:ea typeface="Roboto"/>
                    <a:cs typeface="Roboto"/>
                    <a:sym typeface="Roboto"/>
                  </a:rPr>
                  <a:t>Data Understanding, Preparation, and Topic Modeling</a:t>
                </a:r>
                <a:endParaRPr sz="800" b="1" i="0" u="none" strike="noStrike" cap="none">
                  <a:solidFill>
                    <a:srgbClr val="000000"/>
                  </a:solidFill>
                  <a:latin typeface="Roboto"/>
                  <a:ea typeface="Roboto"/>
                  <a:cs typeface="Roboto"/>
                  <a:sym typeface="Roboto"/>
                </a:endParaRPr>
              </a:p>
              <a:p>
                <a:pPr marL="0" marR="0" lvl="0" indent="0" algn="l" rtl="0">
                  <a:lnSpc>
                    <a:spcPct val="100000"/>
                  </a:lnSpc>
                  <a:spcBef>
                    <a:spcPts val="0"/>
                  </a:spcBef>
                  <a:spcAft>
                    <a:spcPts val="0"/>
                  </a:spcAft>
                  <a:buClr>
                    <a:srgbClr val="000000"/>
                  </a:buClr>
                  <a:buSzPts val="800"/>
                  <a:buFont typeface="Arial"/>
                  <a:buNone/>
                </a:pPr>
                <a:endParaRPr sz="800" b="1" i="0" u="none" strike="noStrike" cap="none">
                  <a:solidFill>
                    <a:srgbClr val="000000"/>
                  </a:solidFill>
                  <a:latin typeface="Roboto"/>
                  <a:ea typeface="Roboto"/>
                  <a:cs typeface="Roboto"/>
                  <a:sym typeface="Roboto"/>
                </a:endParaRPr>
              </a:p>
              <a:p>
                <a:pPr marL="0" marR="0" lvl="0" indent="0" algn="l" rtl="0">
                  <a:lnSpc>
                    <a:spcPct val="100000"/>
                  </a:lnSpc>
                  <a:spcBef>
                    <a:spcPts val="0"/>
                  </a:spcBef>
                  <a:spcAft>
                    <a:spcPts val="1600"/>
                  </a:spcAft>
                  <a:buClr>
                    <a:srgbClr val="000000"/>
                  </a:buClr>
                  <a:buSzPts val="800"/>
                  <a:buFont typeface="Arial"/>
                  <a:buNone/>
                </a:pPr>
                <a:r>
                  <a:rPr lang="en" sz="800">
                    <a:latin typeface="Roboto"/>
                    <a:ea typeface="Roboto"/>
                    <a:cs typeface="Roboto"/>
                    <a:sym typeface="Roboto"/>
                  </a:rPr>
                  <a:t>Explored Hackernoon dataset by data visualization, and data preprocessing. After data preprocessing, categorized tech news into each topic.</a:t>
                </a:r>
                <a:endParaRPr sz="800" b="1" i="0" u="none" strike="noStrike" cap="none">
                  <a:solidFill>
                    <a:srgbClr val="000000"/>
                  </a:solidFill>
                  <a:latin typeface="Roboto"/>
                  <a:ea typeface="Roboto"/>
                  <a:cs typeface="Roboto"/>
                  <a:sym typeface="Roboto"/>
                </a:endParaRPr>
              </a:p>
            </p:txBody>
          </p:sp>
        </p:grpSp>
      </p:grpSp>
      <p:grpSp>
        <p:nvGrpSpPr>
          <p:cNvPr id="143" name="Google Shape;143;p13"/>
          <p:cNvGrpSpPr/>
          <p:nvPr/>
        </p:nvGrpSpPr>
        <p:grpSpPr>
          <a:xfrm>
            <a:off x="2512650" y="2709725"/>
            <a:ext cx="2501350" cy="1735651"/>
            <a:chOff x="2525600" y="2702599"/>
            <a:chExt cx="2501350" cy="1735651"/>
          </a:xfrm>
        </p:grpSpPr>
        <p:sp>
          <p:nvSpPr>
            <p:cNvPr id="144" name="Google Shape;144;p13"/>
            <p:cNvSpPr/>
            <p:nvPr/>
          </p:nvSpPr>
          <p:spPr>
            <a:xfrm>
              <a:off x="2890952" y="3079475"/>
              <a:ext cx="1958400" cy="133500"/>
            </a:xfrm>
            <a:prstGeom prst="rect">
              <a:avLst/>
            </a:prstGeom>
            <a:solidFill>
              <a:srgbClr val="08563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45" name="Google Shape;145;p13"/>
            <p:cNvGrpSpPr/>
            <p:nvPr/>
          </p:nvGrpSpPr>
          <p:grpSpPr>
            <a:xfrm>
              <a:off x="2525600" y="2702599"/>
              <a:ext cx="2501350" cy="1735651"/>
              <a:chOff x="2525600" y="2702599"/>
              <a:chExt cx="2501350" cy="1735651"/>
            </a:xfrm>
          </p:grpSpPr>
          <p:sp>
            <p:nvSpPr>
              <p:cNvPr id="146" name="Google Shape;146;p13"/>
              <p:cNvSpPr txBox="1"/>
              <p:nvPr/>
            </p:nvSpPr>
            <p:spPr>
              <a:xfrm>
                <a:off x="2525600" y="2702599"/>
                <a:ext cx="968400" cy="3714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0"/>
                  </a:spcBef>
                  <a:spcAft>
                    <a:spcPts val="1600"/>
                  </a:spcAft>
                  <a:buClr>
                    <a:srgbClr val="000000"/>
                  </a:buClr>
                  <a:buSzPts val="1200"/>
                  <a:buFont typeface="Arial"/>
                  <a:buNone/>
                </a:pPr>
                <a:r>
                  <a:rPr lang="en" sz="1200" b="1">
                    <a:latin typeface="Roboto"/>
                    <a:ea typeface="Roboto"/>
                    <a:cs typeface="Roboto"/>
                    <a:sym typeface="Roboto"/>
                  </a:rPr>
                  <a:t>Oct </a:t>
                </a:r>
                <a:r>
                  <a:rPr lang="en" sz="1200" b="1" i="0" u="none" strike="noStrike" cap="none">
                    <a:solidFill>
                      <a:srgbClr val="000000"/>
                    </a:solidFill>
                    <a:latin typeface="Roboto"/>
                    <a:ea typeface="Roboto"/>
                    <a:cs typeface="Roboto"/>
                    <a:sym typeface="Roboto"/>
                  </a:rPr>
                  <a:t>20</a:t>
                </a:r>
                <a:r>
                  <a:rPr lang="en" sz="1200" b="1">
                    <a:latin typeface="Roboto"/>
                    <a:ea typeface="Roboto"/>
                    <a:cs typeface="Roboto"/>
                    <a:sym typeface="Roboto"/>
                  </a:rPr>
                  <a:t>24</a:t>
                </a:r>
                <a:endParaRPr sz="1200" b="1" i="0" u="none" strike="noStrike" cap="none">
                  <a:solidFill>
                    <a:srgbClr val="000000"/>
                  </a:solidFill>
                  <a:latin typeface="Roboto"/>
                  <a:ea typeface="Roboto"/>
                  <a:cs typeface="Roboto"/>
                  <a:sym typeface="Roboto"/>
                </a:endParaRPr>
              </a:p>
            </p:txBody>
          </p:sp>
          <p:grpSp>
            <p:nvGrpSpPr>
              <p:cNvPr id="147" name="Google Shape;147;p13"/>
              <p:cNvGrpSpPr/>
              <p:nvPr/>
            </p:nvGrpSpPr>
            <p:grpSpPr>
              <a:xfrm rot="10800000">
                <a:off x="2849073" y="3079467"/>
                <a:ext cx="92400" cy="411825"/>
                <a:chOff x="2070100" y="2563700"/>
                <a:chExt cx="92400" cy="411825"/>
              </a:xfrm>
            </p:grpSpPr>
            <p:cxnSp>
              <p:nvCxnSpPr>
                <p:cNvPr id="148" name="Google Shape;148;p13"/>
                <p:cNvCxnSpPr/>
                <p:nvPr/>
              </p:nvCxnSpPr>
              <p:spPr>
                <a:xfrm>
                  <a:off x="2116300" y="2616125"/>
                  <a:ext cx="0" cy="359400"/>
                </a:xfrm>
                <a:prstGeom prst="straightConnector1">
                  <a:avLst/>
                </a:prstGeom>
                <a:noFill/>
                <a:ln w="9525" cap="flat" cmpd="sng">
                  <a:solidFill>
                    <a:srgbClr val="000000"/>
                  </a:solidFill>
                  <a:prstDash val="solid"/>
                  <a:round/>
                  <a:headEnd type="none" w="sm" len="sm"/>
                  <a:tailEnd type="none" w="sm" len="sm"/>
                </a:ln>
              </p:spPr>
            </p:cxnSp>
            <p:sp>
              <p:nvSpPr>
                <p:cNvPr id="149" name="Google Shape;149;p13"/>
                <p:cNvSpPr/>
                <p:nvPr/>
              </p:nvSpPr>
              <p:spPr>
                <a:xfrm>
                  <a:off x="2070100" y="2563700"/>
                  <a:ext cx="92400" cy="92400"/>
                </a:xfrm>
                <a:prstGeom prst="ellipse">
                  <a:avLst/>
                </a:prstGeom>
                <a:solidFill>
                  <a:srgbClr val="0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50" name="Google Shape;150;p13"/>
              <p:cNvSpPr txBox="1"/>
              <p:nvPr/>
            </p:nvSpPr>
            <p:spPr>
              <a:xfrm>
                <a:off x="2773350" y="3494450"/>
                <a:ext cx="2253600" cy="943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800"/>
                  <a:buFont typeface="Arial"/>
                  <a:buNone/>
                </a:pPr>
                <a:r>
                  <a:rPr lang="en" sz="800" b="1">
                    <a:latin typeface="Roboto"/>
                    <a:ea typeface="Roboto"/>
                    <a:cs typeface="Roboto"/>
                    <a:sym typeface="Roboto"/>
                  </a:rPr>
                  <a:t>Sentiment Analysis &amp; Trend Forecasting</a:t>
                </a:r>
                <a:endParaRPr sz="800" b="1" i="0" u="none" strike="noStrike" cap="none">
                  <a:solidFill>
                    <a:srgbClr val="000000"/>
                  </a:solidFill>
                  <a:latin typeface="Roboto"/>
                  <a:ea typeface="Roboto"/>
                  <a:cs typeface="Roboto"/>
                  <a:sym typeface="Roboto"/>
                </a:endParaRPr>
              </a:p>
              <a:p>
                <a:pPr marL="0" marR="0" lvl="0" indent="0" algn="l" rtl="0">
                  <a:lnSpc>
                    <a:spcPct val="100000"/>
                  </a:lnSpc>
                  <a:spcBef>
                    <a:spcPts val="0"/>
                  </a:spcBef>
                  <a:spcAft>
                    <a:spcPts val="0"/>
                  </a:spcAft>
                  <a:buClr>
                    <a:srgbClr val="000000"/>
                  </a:buClr>
                  <a:buSzPts val="800"/>
                  <a:buFont typeface="Arial"/>
                  <a:buNone/>
                </a:pPr>
                <a:endParaRPr sz="800" b="1" i="0" u="none" strike="noStrike" cap="none">
                  <a:solidFill>
                    <a:srgbClr val="000000"/>
                  </a:solidFill>
                  <a:latin typeface="Roboto"/>
                  <a:ea typeface="Roboto"/>
                  <a:cs typeface="Roboto"/>
                  <a:sym typeface="Roboto"/>
                </a:endParaRPr>
              </a:p>
              <a:p>
                <a:pPr marL="0" marR="0" lvl="0" indent="0" algn="l" rtl="0">
                  <a:lnSpc>
                    <a:spcPct val="100000"/>
                  </a:lnSpc>
                  <a:spcBef>
                    <a:spcPts val="0"/>
                  </a:spcBef>
                  <a:spcAft>
                    <a:spcPts val="1600"/>
                  </a:spcAft>
                  <a:buClr>
                    <a:srgbClr val="000000"/>
                  </a:buClr>
                  <a:buSzPts val="800"/>
                  <a:buFont typeface="Arial"/>
                  <a:buNone/>
                </a:pPr>
                <a:r>
                  <a:rPr lang="en" sz="800">
                    <a:latin typeface="Roboto"/>
                    <a:ea typeface="Roboto"/>
                    <a:cs typeface="Roboto"/>
                    <a:sym typeface="Roboto"/>
                  </a:rPr>
                  <a:t>Developed functions that send queries to the Neo4j database to analyze sentiment analysis and trends.</a:t>
                </a:r>
                <a:endParaRPr sz="800" b="1" i="0" u="none" strike="noStrike" cap="none">
                  <a:solidFill>
                    <a:srgbClr val="000000"/>
                  </a:solidFill>
                  <a:latin typeface="Roboto"/>
                  <a:ea typeface="Roboto"/>
                  <a:cs typeface="Roboto"/>
                  <a:sym typeface="Roboto"/>
                </a:endParaRPr>
              </a:p>
            </p:txBody>
          </p:sp>
        </p:gr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54"/>
        <p:cNvGrpSpPr/>
        <p:nvPr/>
      </p:nvGrpSpPr>
      <p:grpSpPr>
        <a:xfrm>
          <a:off x="0" y="0"/>
          <a:ext cx="0" cy="0"/>
          <a:chOff x="0" y="0"/>
          <a:chExt cx="0" cy="0"/>
        </a:xfrm>
      </p:grpSpPr>
      <p:sp>
        <p:nvSpPr>
          <p:cNvPr id="155" name="Google Shape;155;p15"/>
          <p:cNvSpPr txBox="1"/>
          <p:nvPr/>
        </p:nvSpPr>
        <p:spPr>
          <a:xfrm>
            <a:off x="311700" y="288225"/>
            <a:ext cx="8520600" cy="572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 sz="2800" b="0" i="0" u="none" strike="noStrike" cap="none">
                <a:solidFill>
                  <a:srgbClr val="002D45"/>
                </a:solidFill>
                <a:latin typeface="Montserrat"/>
                <a:ea typeface="Montserrat"/>
                <a:cs typeface="Montserrat"/>
                <a:sym typeface="Montserrat"/>
              </a:rPr>
              <a:t>Summary of Insights &amp; Key Findings</a:t>
            </a:r>
            <a:endParaRPr sz="2800" b="0" i="0" u="none" strike="noStrike" cap="none">
              <a:solidFill>
                <a:srgbClr val="002D45"/>
              </a:solidFill>
              <a:latin typeface="Montserrat"/>
              <a:ea typeface="Montserrat"/>
              <a:cs typeface="Montserrat"/>
              <a:sym typeface="Montserrat"/>
            </a:endParaRPr>
          </a:p>
        </p:txBody>
      </p:sp>
      <p:sp>
        <p:nvSpPr>
          <p:cNvPr id="156" name="Google Shape;156;p15"/>
          <p:cNvSpPr txBox="1"/>
          <p:nvPr/>
        </p:nvSpPr>
        <p:spPr>
          <a:xfrm>
            <a:off x="311700" y="923650"/>
            <a:ext cx="7071300" cy="4006200"/>
          </a:xfrm>
          <a:prstGeom prst="rect">
            <a:avLst/>
          </a:prstGeom>
          <a:noFill/>
          <a:ln>
            <a:noFill/>
          </a:ln>
        </p:spPr>
        <p:txBody>
          <a:bodyPr spcFirstLastPara="1" wrap="square" lIns="91425" tIns="91425" rIns="91425" bIns="91425" anchor="t" anchorCtr="0">
            <a:noAutofit/>
          </a:bodyPr>
          <a:lstStyle/>
          <a:p>
            <a:pPr marL="457200" marR="0" lvl="0" indent="-317500" algn="l" rtl="0">
              <a:lnSpc>
                <a:spcPct val="115000"/>
              </a:lnSpc>
              <a:spcBef>
                <a:spcPts val="0"/>
              </a:spcBef>
              <a:spcAft>
                <a:spcPts val="0"/>
              </a:spcAft>
              <a:buClr>
                <a:schemeClr val="dk2"/>
              </a:buClr>
              <a:buSzPts val="1400"/>
              <a:buFont typeface="Open Sans Light"/>
              <a:buChar char="●"/>
            </a:pPr>
            <a:r>
              <a:rPr lang="en">
                <a:solidFill>
                  <a:schemeClr val="dk2"/>
                </a:solidFill>
                <a:latin typeface="Open Sans Light"/>
                <a:ea typeface="Open Sans Light"/>
                <a:cs typeface="Open Sans Light"/>
                <a:sym typeface="Open Sans Light"/>
              </a:rPr>
              <a:t>Organize 80,000 Technology News articles into </a:t>
            </a:r>
            <a:r>
              <a:rPr lang="en" b="1">
                <a:solidFill>
                  <a:schemeClr val="dk2"/>
                </a:solidFill>
                <a:latin typeface="Open Sans"/>
                <a:ea typeface="Open Sans"/>
                <a:cs typeface="Open Sans"/>
                <a:sym typeface="Open Sans"/>
              </a:rPr>
              <a:t>11</a:t>
            </a:r>
            <a:r>
              <a:rPr lang="en">
                <a:solidFill>
                  <a:schemeClr val="dk2"/>
                </a:solidFill>
                <a:latin typeface="Open Sans Light"/>
                <a:ea typeface="Open Sans Light"/>
                <a:cs typeface="Open Sans Light"/>
                <a:sym typeface="Open Sans Light"/>
              </a:rPr>
              <a:t> distinct technology categories</a:t>
            </a:r>
            <a:endParaRPr>
              <a:solidFill>
                <a:schemeClr val="dk2"/>
              </a:solidFill>
              <a:latin typeface="Open Sans Light"/>
              <a:ea typeface="Open Sans Light"/>
              <a:cs typeface="Open Sans Light"/>
              <a:sym typeface="Open Sans Light"/>
            </a:endParaRPr>
          </a:p>
          <a:p>
            <a:pPr marL="457200" marR="0" lvl="0" indent="0" algn="l" rtl="0">
              <a:lnSpc>
                <a:spcPct val="115000"/>
              </a:lnSpc>
              <a:spcBef>
                <a:spcPts val="0"/>
              </a:spcBef>
              <a:spcAft>
                <a:spcPts val="0"/>
              </a:spcAft>
              <a:buNone/>
            </a:pPr>
            <a:endParaRPr>
              <a:solidFill>
                <a:schemeClr val="dk2"/>
              </a:solidFill>
              <a:latin typeface="Open Sans Light"/>
              <a:ea typeface="Open Sans Light"/>
              <a:cs typeface="Open Sans Light"/>
              <a:sym typeface="Open Sans Light"/>
            </a:endParaRPr>
          </a:p>
          <a:p>
            <a:pPr marL="457200" marR="0" lvl="0" indent="-317500" algn="l" rtl="0">
              <a:lnSpc>
                <a:spcPct val="115000"/>
              </a:lnSpc>
              <a:spcBef>
                <a:spcPts val="0"/>
              </a:spcBef>
              <a:spcAft>
                <a:spcPts val="0"/>
              </a:spcAft>
              <a:buClr>
                <a:schemeClr val="dk2"/>
              </a:buClr>
              <a:buSzPts val="1400"/>
              <a:buFont typeface="Open Sans Light"/>
              <a:buChar char="●"/>
            </a:pPr>
            <a:r>
              <a:rPr lang="en">
                <a:solidFill>
                  <a:schemeClr val="dk2"/>
                </a:solidFill>
                <a:latin typeface="Open Sans Light"/>
                <a:ea typeface="Open Sans Light"/>
                <a:cs typeface="Open Sans Light"/>
                <a:sym typeface="Open Sans Light"/>
              </a:rPr>
              <a:t>Analyzed sentiments of top companies to advise tech startups and Accenture where to allocate their resources</a:t>
            </a:r>
            <a:endParaRPr>
              <a:solidFill>
                <a:schemeClr val="dk2"/>
              </a:solidFill>
              <a:latin typeface="Open Sans Light"/>
              <a:ea typeface="Open Sans Light"/>
              <a:cs typeface="Open Sans Light"/>
              <a:sym typeface="Open Sans Light"/>
            </a:endParaRPr>
          </a:p>
          <a:p>
            <a:pPr marL="457200" marR="0" lvl="0" indent="0" algn="l" rtl="0">
              <a:lnSpc>
                <a:spcPct val="115000"/>
              </a:lnSpc>
              <a:spcBef>
                <a:spcPts val="0"/>
              </a:spcBef>
              <a:spcAft>
                <a:spcPts val="0"/>
              </a:spcAft>
              <a:buNone/>
            </a:pPr>
            <a:endParaRPr>
              <a:solidFill>
                <a:schemeClr val="dk2"/>
              </a:solidFill>
              <a:latin typeface="Open Sans Light"/>
              <a:ea typeface="Open Sans Light"/>
              <a:cs typeface="Open Sans Light"/>
              <a:sym typeface="Open Sans Light"/>
            </a:endParaRPr>
          </a:p>
          <a:p>
            <a:pPr marL="457200" marR="0" lvl="0" indent="-317500" algn="l" rtl="0">
              <a:lnSpc>
                <a:spcPct val="115000"/>
              </a:lnSpc>
              <a:spcBef>
                <a:spcPts val="0"/>
              </a:spcBef>
              <a:spcAft>
                <a:spcPts val="0"/>
              </a:spcAft>
              <a:buClr>
                <a:schemeClr val="dk2"/>
              </a:buClr>
              <a:buSzPts val="1400"/>
              <a:buFont typeface="Open Sans Light"/>
              <a:buChar char="●"/>
            </a:pPr>
            <a:r>
              <a:rPr lang="en">
                <a:solidFill>
                  <a:schemeClr val="dk2"/>
                </a:solidFill>
                <a:latin typeface="Open Sans Light"/>
                <a:ea typeface="Open Sans Light"/>
                <a:cs typeface="Open Sans Light"/>
                <a:sym typeface="Open Sans Light"/>
              </a:rPr>
              <a:t>Visualized trends of key words and identified top 5 companies (Google, Microsoft, Sony, Epic Games, Animoca Brands) by article volume</a:t>
            </a:r>
            <a:endParaRPr>
              <a:solidFill>
                <a:schemeClr val="dk2"/>
              </a:solidFill>
              <a:latin typeface="Open Sans Light"/>
              <a:ea typeface="Open Sans Light"/>
              <a:cs typeface="Open Sans Light"/>
              <a:sym typeface="Open Sans Light"/>
            </a:endParaRPr>
          </a:p>
          <a:p>
            <a:pPr marL="457200" marR="0" lvl="0" indent="0" algn="l" rtl="0">
              <a:lnSpc>
                <a:spcPct val="115000"/>
              </a:lnSpc>
              <a:spcBef>
                <a:spcPts val="0"/>
              </a:spcBef>
              <a:spcAft>
                <a:spcPts val="0"/>
              </a:spcAft>
              <a:buNone/>
            </a:pPr>
            <a:endParaRPr>
              <a:solidFill>
                <a:schemeClr val="dk2"/>
              </a:solidFill>
              <a:latin typeface="Open Sans Light"/>
              <a:ea typeface="Open Sans Light"/>
              <a:cs typeface="Open Sans Light"/>
              <a:sym typeface="Open Sans Light"/>
            </a:endParaRPr>
          </a:p>
          <a:p>
            <a:pPr marL="457200" marR="0" lvl="0" indent="-317500" algn="l" rtl="0">
              <a:lnSpc>
                <a:spcPct val="115000"/>
              </a:lnSpc>
              <a:spcBef>
                <a:spcPts val="0"/>
              </a:spcBef>
              <a:spcAft>
                <a:spcPts val="0"/>
              </a:spcAft>
              <a:buClr>
                <a:schemeClr val="dk2"/>
              </a:buClr>
              <a:buSzPts val="1400"/>
              <a:buFont typeface="Open Sans Light"/>
              <a:buChar char="●"/>
            </a:pPr>
            <a:r>
              <a:rPr lang="en">
                <a:solidFill>
                  <a:schemeClr val="dk2"/>
                </a:solidFill>
                <a:latin typeface="Open Sans Light"/>
                <a:ea typeface="Open Sans Light"/>
                <a:cs typeface="Open Sans Light"/>
                <a:sym typeface="Open Sans Light"/>
              </a:rPr>
              <a:t>Depicted which companies or organizations invested in similar technologies, focusing on the industries </a:t>
            </a:r>
            <a:endParaRPr>
              <a:solidFill>
                <a:schemeClr val="dk2"/>
              </a:solidFill>
              <a:latin typeface="Open Sans Light"/>
              <a:ea typeface="Open Sans Light"/>
              <a:cs typeface="Open Sans Light"/>
              <a:sym typeface="Open Sans Light"/>
            </a:endParaRPr>
          </a:p>
          <a:p>
            <a:pPr marL="457200" marR="0" lvl="0" indent="0" algn="l" rtl="0">
              <a:lnSpc>
                <a:spcPct val="115000"/>
              </a:lnSpc>
              <a:spcBef>
                <a:spcPts val="0"/>
              </a:spcBef>
              <a:spcAft>
                <a:spcPts val="0"/>
              </a:spcAft>
              <a:buNone/>
            </a:pPr>
            <a:endParaRPr>
              <a:solidFill>
                <a:schemeClr val="dk2"/>
              </a:solidFill>
              <a:latin typeface="Open Sans Light"/>
              <a:ea typeface="Open Sans Light"/>
              <a:cs typeface="Open Sans Light"/>
              <a:sym typeface="Open Sans Light"/>
            </a:endParaRPr>
          </a:p>
          <a:p>
            <a:pPr marL="457200" marR="0" lvl="0" indent="-317500" algn="l" rtl="0">
              <a:lnSpc>
                <a:spcPct val="115000"/>
              </a:lnSpc>
              <a:spcBef>
                <a:spcPts val="0"/>
              </a:spcBef>
              <a:spcAft>
                <a:spcPts val="0"/>
              </a:spcAft>
              <a:buClr>
                <a:schemeClr val="dk2"/>
              </a:buClr>
              <a:buSzPts val="1400"/>
              <a:buFont typeface="Open Sans Light"/>
              <a:buChar char="●"/>
            </a:pPr>
            <a:r>
              <a:rPr lang="en">
                <a:solidFill>
                  <a:schemeClr val="dk2"/>
                </a:solidFill>
                <a:latin typeface="Open Sans Light"/>
                <a:ea typeface="Open Sans Light"/>
                <a:cs typeface="Open Sans Light"/>
                <a:sym typeface="Open Sans Light"/>
              </a:rPr>
              <a:t>One of the response from the recommendation model: </a:t>
            </a:r>
            <a:endParaRPr>
              <a:solidFill>
                <a:schemeClr val="dk2"/>
              </a:solidFill>
              <a:latin typeface="Open Sans Light"/>
              <a:ea typeface="Open Sans Light"/>
              <a:cs typeface="Open Sans Light"/>
              <a:sym typeface="Open Sans Light"/>
            </a:endParaRPr>
          </a:p>
          <a:p>
            <a:pPr marL="914400" marR="0" lvl="1" indent="-304800" algn="l" rtl="0">
              <a:lnSpc>
                <a:spcPct val="115000"/>
              </a:lnSpc>
              <a:spcBef>
                <a:spcPts val="0"/>
              </a:spcBef>
              <a:spcAft>
                <a:spcPts val="0"/>
              </a:spcAft>
              <a:buClr>
                <a:schemeClr val="dk2"/>
              </a:buClr>
              <a:buSzPts val="1200"/>
              <a:buFont typeface="Open Sans Light"/>
              <a:buChar char="○"/>
            </a:pPr>
            <a:r>
              <a:rPr lang="en" sz="1200" b="1">
                <a:solidFill>
                  <a:schemeClr val="dk2"/>
                </a:solidFill>
                <a:latin typeface="Open Sans"/>
                <a:ea typeface="Open Sans"/>
                <a:cs typeface="Open Sans"/>
                <a:sym typeface="Open Sans"/>
              </a:rPr>
              <a:t>Cloud accounting software platforms</a:t>
            </a:r>
            <a:r>
              <a:rPr lang="en" sz="1200">
                <a:solidFill>
                  <a:schemeClr val="dk2"/>
                </a:solidFill>
                <a:latin typeface="Open Sans Light"/>
                <a:ea typeface="Open Sans Light"/>
                <a:cs typeface="Open Sans Light"/>
                <a:sym typeface="Open Sans Light"/>
              </a:rPr>
              <a:t> help small businesses manage finances efficiently through features like automation, integration, real-time reporting, and sustainability benefits, while addressing challenges like security, customization, and internet reliance, with major providers such as QuickBooks and FreshBooks offering scalable solutions that promote environmental and economic sustainability.</a:t>
            </a:r>
            <a:endParaRPr sz="1200">
              <a:solidFill>
                <a:schemeClr val="dk2"/>
              </a:solidFill>
              <a:latin typeface="Open Sans Light"/>
              <a:ea typeface="Open Sans Light"/>
              <a:cs typeface="Open Sans Light"/>
              <a:sym typeface="Open Sans Light"/>
            </a:endParaRPr>
          </a:p>
        </p:txBody>
      </p:sp>
      <p:pic>
        <p:nvPicPr>
          <p:cNvPr id="157" name="Google Shape;157;p15"/>
          <p:cNvPicPr preferRelativeResize="0"/>
          <p:nvPr/>
        </p:nvPicPr>
        <p:blipFill>
          <a:blip r:embed="rId4">
            <a:alphaModFix/>
          </a:blip>
          <a:stretch>
            <a:fillRect/>
          </a:stretch>
        </p:blipFill>
        <p:spPr>
          <a:xfrm>
            <a:off x="7299325" y="1727787"/>
            <a:ext cx="1687926" cy="168792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61"/>
        <p:cNvGrpSpPr/>
        <p:nvPr/>
      </p:nvGrpSpPr>
      <p:grpSpPr>
        <a:xfrm>
          <a:off x="0" y="0"/>
          <a:ext cx="0" cy="0"/>
          <a:chOff x="0" y="0"/>
          <a:chExt cx="0" cy="0"/>
        </a:xfrm>
      </p:grpSpPr>
      <p:sp>
        <p:nvSpPr>
          <p:cNvPr id="162" name="Google Shape;162;p16"/>
          <p:cNvSpPr txBox="1"/>
          <p:nvPr/>
        </p:nvSpPr>
        <p:spPr>
          <a:xfrm>
            <a:off x="311700" y="551100"/>
            <a:ext cx="8520600" cy="4041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800"/>
              <a:buFont typeface="Arial"/>
              <a:buNone/>
            </a:pPr>
            <a:r>
              <a:rPr lang="en" sz="2800" b="0" i="0" u="none" strike="noStrike" cap="none">
                <a:solidFill>
                  <a:srgbClr val="002D45"/>
                </a:solidFill>
                <a:latin typeface="Montserrat"/>
                <a:ea typeface="Montserrat"/>
                <a:cs typeface="Montserrat"/>
                <a:sym typeface="Montserrat"/>
              </a:rPr>
              <a:t>Data Understanding &amp; Data Preparation</a:t>
            </a:r>
            <a:endParaRPr sz="2800" b="0" i="0" u="none" strike="noStrike" cap="none">
              <a:solidFill>
                <a:srgbClr val="002D45"/>
              </a:solidFill>
              <a:latin typeface="Montserrat"/>
              <a:ea typeface="Montserrat"/>
              <a:cs typeface="Montserrat"/>
              <a:sym typeface="Montserra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66"/>
        <p:cNvGrpSpPr/>
        <p:nvPr/>
      </p:nvGrpSpPr>
      <p:grpSpPr>
        <a:xfrm>
          <a:off x="0" y="0"/>
          <a:ext cx="0" cy="0"/>
          <a:chOff x="0" y="0"/>
          <a:chExt cx="0" cy="0"/>
        </a:xfrm>
      </p:grpSpPr>
      <p:sp>
        <p:nvSpPr>
          <p:cNvPr id="167" name="Google Shape;167;p14"/>
          <p:cNvSpPr txBox="1"/>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 sz="2800" b="0" i="0" u="none" strike="noStrike" cap="none">
                <a:solidFill>
                  <a:srgbClr val="002D45"/>
                </a:solidFill>
                <a:latin typeface="Montserrat"/>
                <a:ea typeface="Montserrat"/>
                <a:cs typeface="Montserrat"/>
                <a:sym typeface="Montserrat"/>
              </a:rPr>
              <a:t>Resources We Leveraged</a:t>
            </a:r>
            <a:endParaRPr sz="2800" b="0" i="0" u="none" strike="noStrike" cap="none">
              <a:solidFill>
                <a:srgbClr val="002D45"/>
              </a:solidFill>
              <a:latin typeface="Montserrat"/>
              <a:ea typeface="Montserrat"/>
              <a:cs typeface="Montserrat"/>
              <a:sym typeface="Montserrat"/>
            </a:endParaRPr>
          </a:p>
        </p:txBody>
      </p:sp>
      <p:sp>
        <p:nvSpPr>
          <p:cNvPr id="168" name="Google Shape;168;p14"/>
          <p:cNvSpPr txBox="1"/>
          <p:nvPr/>
        </p:nvSpPr>
        <p:spPr>
          <a:xfrm>
            <a:off x="311700" y="1120675"/>
            <a:ext cx="8520600" cy="3329400"/>
          </a:xfrm>
          <a:prstGeom prst="rect">
            <a:avLst/>
          </a:prstGeom>
          <a:noFill/>
          <a:ln>
            <a:noFill/>
          </a:ln>
        </p:spPr>
        <p:txBody>
          <a:bodyPr spcFirstLastPara="1" wrap="square" lIns="91425" tIns="91425" rIns="91425" bIns="91425" anchor="t" anchorCtr="0">
            <a:noAutofit/>
          </a:bodyPr>
          <a:lstStyle/>
          <a:p>
            <a:pPr marL="457200" marR="0" lvl="0" indent="-317500" algn="l" rtl="0">
              <a:lnSpc>
                <a:spcPct val="115000"/>
              </a:lnSpc>
              <a:spcBef>
                <a:spcPts val="0"/>
              </a:spcBef>
              <a:spcAft>
                <a:spcPts val="0"/>
              </a:spcAft>
              <a:buClr>
                <a:schemeClr val="dk2"/>
              </a:buClr>
              <a:buSzPts val="1400"/>
              <a:buFont typeface="Open Sans Light"/>
              <a:buChar char="●"/>
            </a:pPr>
            <a:r>
              <a:rPr lang="en">
                <a:solidFill>
                  <a:schemeClr val="dk2"/>
                </a:solidFill>
                <a:latin typeface="Open Sans Light"/>
                <a:ea typeface="Open Sans Light"/>
                <a:cs typeface="Open Sans Light"/>
                <a:sym typeface="Open Sans Light"/>
              </a:rPr>
              <a:t>Coding IDE</a:t>
            </a:r>
            <a:endParaRPr>
              <a:solidFill>
                <a:schemeClr val="dk2"/>
              </a:solidFill>
              <a:latin typeface="Open Sans Light"/>
              <a:ea typeface="Open Sans Light"/>
              <a:cs typeface="Open Sans Light"/>
              <a:sym typeface="Open Sans Light"/>
            </a:endParaRPr>
          </a:p>
          <a:p>
            <a:pPr marL="914400" marR="0" lvl="1" indent="-304800" algn="l" rtl="0">
              <a:lnSpc>
                <a:spcPct val="115000"/>
              </a:lnSpc>
              <a:spcBef>
                <a:spcPts val="0"/>
              </a:spcBef>
              <a:spcAft>
                <a:spcPts val="0"/>
              </a:spcAft>
              <a:buClr>
                <a:schemeClr val="dk2"/>
              </a:buClr>
              <a:buSzPts val="1200"/>
              <a:buFont typeface="Open Sans Light"/>
              <a:buChar char="○"/>
            </a:pPr>
            <a:r>
              <a:rPr lang="en" sz="1200">
                <a:solidFill>
                  <a:schemeClr val="dk2"/>
                </a:solidFill>
                <a:latin typeface="Open Sans Light"/>
                <a:ea typeface="Open Sans Light"/>
                <a:cs typeface="Open Sans Light"/>
                <a:sym typeface="Open Sans Light"/>
              </a:rPr>
              <a:t>Google Colab</a:t>
            </a:r>
            <a:endParaRPr sz="1200">
              <a:solidFill>
                <a:schemeClr val="dk2"/>
              </a:solidFill>
              <a:latin typeface="Open Sans Light"/>
              <a:ea typeface="Open Sans Light"/>
              <a:cs typeface="Open Sans Light"/>
              <a:sym typeface="Open Sans Light"/>
            </a:endParaRPr>
          </a:p>
          <a:p>
            <a:pPr marL="457200" marR="0" lvl="0" indent="-317500" algn="l" rtl="0">
              <a:lnSpc>
                <a:spcPct val="115000"/>
              </a:lnSpc>
              <a:spcBef>
                <a:spcPts val="0"/>
              </a:spcBef>
              <a:spcAft>
                <a:spcPts val="0"/>
              </a:spcAft>
              <a:buClr>
                <a:schemeClr val="dk2"/>
              </a:buClr>
              <a:buSzPts val="1400"/>
              <a:buFont typeface="Open Sans Light"/>
              <a:buChar char="●"/>
            </a:pPr>
            <a:r>
              <a:rPr lang="en">
                <a:solidFill>
                  <a:schemeClr val="dk2"/>
                </a:solidFill>
                <a:latin typeface="Open Sans Light"/>
                <a:ea typeface="Open Sans Light"/>
                <a:cs typeface="Open Sans Light"/>
                <a:sym typeface="Open Sans Light"/>
              </a:rPr>
              <a:t>Project Management tool</a:t>
            </a:r>
            <a:endParaRPr>
              <a:solidFill>
                <a:schemeClr val="dk2"/>
              </a:solidFill>
              <a:latin typeface="Open Sans Light"/>
              <a:ea typeface="Open Sans Light"/>
              <a:cs typeface="Open Sans Light"/>
              <a:sym typeface="Open Sans Light"/>
            </a:endParaRPr>
          </a:p>
          <a:p>
            <a:pPr marL="914400" marR="0" lvl="1" indent="-304800" algn="l" rtl="0">
              <a:lnSpc>
                <a:spcPct val="115000"/>
              </a:lnSpc>
              <a:spcBef>
                <a:spcPts val="0"/>
              </a:spcBef>
              <a:spcAft>
                <a:spcPts val="0"/>
              </a:spcAft>
              <a:buClr>
                <a:schemeClr val="dk2"/>
              </a:buClr>
              <a:buSzPts val="1200"/>
              <a:buFont typeface="Open Sans Light"/>
              <a:buChar char="○"/>
            </a:pPr>
            <a:r>
              <a:rPr lang="en" sz="1200">
                <a:solidFill>
                  <a:schemeClr val="dk2"/>
                </a:solidFill>
                <a:latin typeface="Open Sans Light"/>
                <a:ea typeface="Open Sans Light"/>
                <a:cs typeface="Open Sans Light"/>
                <a:sym typeface="Open Sans Light"/>
              </a:rPr>
              <a:t>Trello</a:t>
            </a:r>
            <a:endParaRPr sz="1200">
              <a:solidFill>
                <a:schemeClr val="dk2"/>
              </a:solidFill>
              <a:latin typeface="Open Sans Light"/>
              <a:ea typeface="Open Sans Light"/>
              <a:cs typeface="Open Sans Light"/>
              <a:sym typeface="Open Sans Light"/>
            </a:endParaRPr>
          </a:p>
          <a:p>
            <a:pPr marL="457200" lvl="0" indent="-317500" algn="l" rtl="0">
              <a:lnSpc>
                <a:spcPct val="115000"/>
              </a:lnSpc>
              <a:spcBef>
                <a:spcPts val="0"/>
              </a:spcBef>
              <a:spcAft>
                <a:spcPts val="0"/>
              </a:spcAft>
              <a:buClr>
                <a:schemeClr val="dk2"/>
              </a:buClr>
              <a:buSzPts val="1400"/>
              <a:buFont typeface="Open Sans Light"/>
              <a:buChar char="●"/>
            </a:pPr>
            <a:r>
              <a:rPr lang="en">
                <a:solidFill>
                  <a:schemeClr val="dk2"/>
                </a:solidFill>
                <a:latin typeface="Open Sans Light"/>
                <a:ea typeface="Open Sans Light"/>
                <a:cs typeface="Open Sans Light"/>
                <a:sym typeface="Open Sans Light"/>
              </a:rPr>
              <a:t>Database</a:t>
            </a:r>
            <a:endParaRPr>
              <a:solidFill>
                <a:schemeClr val="dk2"/>
              </a:solidFill>
              <a:latin typeface="Open Sans Light"/>
              <a:ea typeface="Open Sans Light"/>
              <a:cs typeface="Open Sans Light"/>
              <a:sym typeface="Open Sans Light"/>
            </a:endParaRPr>
          </a:p>
          <a:p>
            <a:pPr marL="914400" lvl="1" indent="-304800" algn="l" rtl="0">
              <a:lnSpc>
                <a:spcPct val="115000"/>
              </a:lnSpc>
              <a:spcBef>
                <a:spcPts val="0"/>
              </a:spcBef>
              <a:spcAft>
                <a:spcPts val="0"/>
              </a:spcAft>
              <a:buClr>
                <a:schemeClr val="dk2"/>
              </a:buClr>
              <a:buSzPts val="1200"/>
              <a:buFont typeface="Open Sans Light"/>
              <a:buChar char="○"/>
            </a:pPr>
            <a:r>
              <a:rPr lang="en" sz="1200">
                <a:solidFill>
                  <a:schemeClr val="dk2"/>
                </a:solidFill>
                <a:latin typeface="Open Sans Light"/>
                <a:ea typeface="Open Sans Light"/>
                <a:cs typeface="Open Sans Light"/>
                <a:sym typeface="Open Sans Light"/>
              </a:rPr>
              <a:t>Neo4j Graph Database</a:t>
            </a:r>
            <a:endParaRPr sz="1200">
              <a:solidFill>
                <a:schemeClr val="dk2"/>
              </a:solidFill>
              <a:latin typeface="Open Sans Light"/>
              <a:ea typeface="Open Sans Light"/>
              <a:cs typeface="Open Sans Light"/>
              <a:sym typeface="Open Sans Light"/>
            </a:endParaRPr>
          </a:p>
          <a:p>
            <a:pPr marL="457200" marR="0" lvl="0" indent="-317500" algn="l" rtl="0">
              <a:lnSpc>
                <a:spcPct val="115000"/>
              </a:lnSpc>
              <a:spcBef>
                <a:spcPts val="0"/>
              </a:spcBef>
              <a:spcAft>
                <a:spcPts val="0"/>
              </a:spcAft>
              <a:buClr>
                <a:schemeClr val="dk2"/>
              </a:buClr>
              <a:buSzPts val="1400"/>
              <a:buFont typeface="Open Sans Light"/>
              <a:buChar char="●"/>
            </a:pPr>
            <a:r>
              <a:rPr lang="en">
                <a:solidFill>
                  <a:schemeClr val="dk2"/>
                </a:solidFill>
                <a:latin typeface="Open Sans Light"/>
                <a:ea typeface="Open Sans Light"/>
                <a:cs typeface="Open Sans Light"/>
                <a:sym typeface="Open Sans Light"/>
              </a:rPr>
              <a:t>Python Libraries</a:t>
            </a:r>
            <a:endParaRPr>
              <a:solidFill>
                <a:schemeClr val="dk2"/>
              </a:solidFill>
              <a:latin typeface="Open Sans Light"/>
              <a:ea typeface="Open Sans Light"/>
              <a:cs typeface="Open Sans Light"/>
              <a:sym typeface="Open Sans Light"/>
            </a:endParaRPr>
          </a:p>
          <a:p>
            <a:pPr marL="914400" marR="0" lvl="1" indent="-304800" algn="l" rtl="0">
              <a:lnSpc>
                <a:spcPct val="115000"/>
              </a:lnSpc>
              <a:spcBef>
                <a:spcPts val="0"/>
              </a:spcBef>
              <a:spcAft>
                <a:spcPts val="0"/>
              </a:spcAft>
              <a:buClr>
                <a:schemeClr val="dk2"/>
              </a:buClr>
              <a:buSzPts val="1200"/>
              <a:buFont typeface="Open Sans Light"/>
              <a:buChar char="○"/>
            </a:pPr>
            <a:r>
              <a:rPr lang="en" sz="1200">
                <a:solidFill>
                  <a:schemeClr val="dk2"/>
                </a:solidFill>
                <a:latin typeface="Open Sans Light"/>
                <a:ea typeface="Open Sans Light"/>
                <a:cs typeface="Open Sans Light"/>
                <a:sym typeface="Open Sans Light"/>
              </a:rPr>
              <a:t>Pandas, Numpy, Matplotlib, Seaborn, Scikit-Learn </a:t>
            </a:r>
            <a:endParaRPr sz="1200">
              <a:solidFill>
                <a:schemeClr val="dk2"/>
              </a:solidFill>
              <a:latin typeface="Open Sans Light"/>
              <a:ea typeface="Open Sans Light"/>
              <a:cs typeface="Open Sans Light"/>
              <a:sym typeface="Open Sans Light"/>
            </a:endParaRPr>
          </a:p>
          <a:p>
            <a:pPr marL="914400" marR="0" lvl="1" indent="-304800" algn="l" rtl="0">
              <a:lnSpc>
                <a:spcPct val="115000"/>
              </a:lnSpc>
              <a:spcBef>
                <a:spcPts val="0"/>
              </a:spcBef>
              <a:spcAft>
                <a:spcPts val="0"/>
              </a:spcAft>
              <a:buClr>
                <a:schemeClr val="dk2"/>
              </a:buClr>
              <a:buSzPts val="1200"/>
              <a:buFont typeface="Open Sans Light"/>
              <a:buChar char="○"/>
            </a:pPr>
            <a:r>
              <a:rPr lang="en" sz="1200">
                <a:solidFill>
                  <a:schemeClr val="dk2"/>
                </a:solidFill>
                <a:latin typeface="Open Sans Light"/>
                <a:ea typeface="Open Sans Light"/>
                <a:cs typeface="Open Sans Light"/>
                <a:sym typeface="Open Sans Light"/>
              </a:rPr>
              <a:t>NLTK, Gensim, Groq, Scipy, Network, BERTopic, HDBSCAN, UMAP, KeyBERTInsipred, MaximalMarginalRelevance, PartOfSpeerch</a:t>
            </a:r>
            <a:endParaRPr sz="1200">
              <a:solidFill>
                <a:schemeClr val="dk2"/>
              </a:solidFill>
              <a:latin typeface="Open Sans Light"/>
              <a:ea typeface="Open Sans Light"/>
              <a:cs typeface="Open Sans Light"/>
              <a:sym typeface="Open Sans Light"/>
            </a:endParaRPr>
          </a:p>
          <a:p>
            <a:pPr marL="914400" marR="0" lvl="1" indent="-304800" algn="l" rtl="0">
              <a:lnSpc>
                <a:spcPct val="115000"/>
              </a:lnSpc>
              <a:spcBef>
                <a:spcPts val="0"/>
              </a:spcBef>
              <a:spcAft>
                <a:spcPts val="0"/>
              </a:spcAft>
              <a:buClr>
                <a:schemeClr val="dk2"/>
              </a:buClr>
              <a:buSzPts val="1200"/>
              <a:buFont typeface="Open Sans Light"/>
              <a:buChar char="○"/>
            </a:pPr>
            <a:r>
              <a:rPr lang="en" sz="1200">
                <a:solidFill>
                  <a:schemeClr val="dk2"/>
                </a:solidFill>
                <a:latin typeface="Open Sans Light"/>
                <a:ea typeface="Open Sans Light"/>
                <a:cs typeface="Open Sans Light"/>
                <a:sym typeface="Open Sans Light"/>
              </a:rPr>
              <a:t>Transformers, Sentence Transformers, Llama-index, langchain, TextBlob</a:t>
            </a:r>
            <a:endParaRPr sz="1200">
              <a:solidFill>
                <a:schemeClr val="dk2"/>
              </a:solidFill>
              <a:latin typeface="Open Sans Light"/>
              <a:ea typeface="Open Sans Light"/>
              <a:cs typeface="Open Sans Light"/>
              <a:sym typeface="Open Sans Light"/>
            </a:endParaRPr>
          </a:p>
        </p:txBody>
      </p:sp>
      <p:pic>
        <p:nvPicPr>
          <p:cNvPr id="169" name="Google Shape;169;p14"/>
          <p:cNvPicPr preferRelativeResize="0"/>
          <p:nvPr/>
        </p:nvPicPr>
        <p:blipFill rotWithShape="1">
          <a:blip r:embed="rId4">
            <a:alphaModFix/>
          </a:blip>
          <a:srcRect/>
          <a:stretch/>
        </p:blipFill>
        <p:spPr>
          <a:xfrm>
            <a:off x="311700" y="3944750"/>
            <a:ext cx="2086612" cy="1275152"/>
          </a:xfrm>
          <a:prstGeom prst="rect">
            <a:avLst/>
          </a:prstGeom>
          <a:noFill/>
          <a:ln>
            <a:noFill/>
          </a:ln>
        </p:spPr>
      </p:pic>
      <p:pic>
        <p:nvPicPr>
          <p:cNvPr id="170" name="Google Shape;170;p14"/>
          <p:cNvPicPr preferRelativeResize="0"/>
          <p:nvPr/>
        </p:nvPicPr>
        <p:blipFill rotWithShape="1">
          <a:blip r:embed="rId5">
            <a:alphaModFix/>
          </a:blip>
          <a:srcRect/>
          <a:stretch/>
        </p:blipFill>
        <p:spPr>
          <a:xfrm>
            <a:off x="3462650" y="3944750"/>
            <a:ext cx="2084832" cy="1122348"/>
          </a:xfrm>
          <a:prstGeom prst="rect">
            <a:avLst/>
          </a:prstGeom>
          <a:noFill/>
          <a:ln>
            <a:noFill/>
          </a:ln>
        </p:spPr>
      </p:pic>
      <p:sp>
        <p:nvSpPr>
          <p:cNvPr id="171" name="Google Shape;171;p14"/>
          <p:cNvSpPr txBox="1"/>
          <p:nvPr/>
        </p:nvSpPr>
        <p:spPr>
          <a:xfrm>
            <a:off x="3873724" y="4127109"/>
            <a:ext cx="1262700" cy="1262700"/>
          </a:xfrm>
          <a:prstGeom prst="rect">
            <a:avLst/>
          </a:prstGeom>
          <a:noFill/>
          <a:ln>
            <a:noFill/>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72" name="Google Shape;172;p14"/>
          <p:cNvPicPr preferRelativeResize="0"/>
          <p:nvPr/>
        </p:nvPicPr>
        <p:blipFill>
          <a:blip r:embed="rId6">
            <a:alphaModFix/>
          </a:blip>
          <a:stretch>
            <a:fillRect/>
          </a:stretch>
        </p:blipFill>
        <p:spPr>
          <a:xfrm>
            <a:off x="7161300" y="4203050"/>
            <a:ext cx="1790625" cy="8640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76"/>
        <p:cNvGrpSpPr/>
        <p:nvPr/>
      </p:nvGrpSpPr>
      <p:grpSpPr>
        <a:xfrm>
          <a:off x="0" y="0"/>
          <a:ext cx="0" cy="0"/>
          <a:chOff x="0" y="0"/>
          <a:chExt cx="0" cy="0"/>
        </a:xfrm>
      </p:grpSpPr>
      <p:sp>
        <p:nvSpPr>
          <p:cNvPr id="177" name="Google Shape;177;p17"/>
          <p:cNvSpPr txBox="1"/>
          <p:nvPr/>
        </p:nvSpPr>
        <p:spPr>
          <a:xfrm>
            <a:off x="311700" y="256850"/>
            <a:ext cx="8520600" cy="572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100"/>
              <a:buFont typeface="Arial"/>
              <a:buNone/>
            </a:pPr>
            <a:r>
              <a:rPr lang="en" sz="2800">
                <a:solidFill>
                  <a:srgbClr val="002D45"/>
                </a:solidFill>
                <a:latin typeface="Montserrat"/>
                <a:ea typeface="Montserrat"/>
                <a:cs typeface="Montserrat"/>
                <a:sym typeface="Montserrat"/>
              </a:rPr>
              <a:t>Data Overview</a:t>
            </a:r>
            <a:endParaRPr sz="2800" b="0" i="0" u="none" strike="noStrike" cap="none">
              <a:solidFill>
                <a:srgbClr val="002D45"/>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rgbClr val="002D45"/>
              </a:solidFill>
              <a:latin typeface="Montserrat"/>
              <a:ea typeface="Montserrat"/>
              <a:cs typeface="Montserrat"/>
              <a:sym typeface="Montserrat"/>
            </a:endParaRPr>
          </a:p>
        </p:txBody>
      </p:sp>
      <p:sp>
        <p:nvSpPr>
          <p:cNvPr id="178" name="Google Shape;178;p17"/>
          <p:cNvSpPr txBox="1"/>
          <p:nvPr/>
        </p:nvSpPr>
        <p:spPr>
          <a:xfrm>
            <a:off x="311700" y="897088"/>
            <a:ext cx="8208600" cy="1278900"/>
          </a:xfrm>
          <a:prstGeom prst="rect">
            <a:avLst/>
          </a:prstGeom>
          <a:noFill/>
          <a:ln>
            <a:noFill/>
          </a:ln>
        </p:spPr>
        <p:txBody>
          <a:bodyPr spcFirstLastPara="1" wrap="square" lIns="91425" tIns="91425" rIns="91425" bIns="91425" anchor="t" anchorCtr="0">
            <a:noAutofit/>
          </a:bodyPr>
          <a:lstStyle/>
          <a:p>
            <a:pPr marL="457200" marR="0" lvl="0" indent="-317500" algn="l" rtl="0">
              <a:lnSpc>
                <a:spcPct val="115000"/>
              </a:lnSpc>
              <a:spcBef>
                <a:spcPts val="0"/>
              </a:spcBef>
              <a:spcAft>
                <a:spcPts val="0"/>
              </a:spcAft>
              <a:buClr>
                <a:schemeClr val="dk2"/>
              </a:buClr>
              <a:buSzPts val="1400"/>
              <a:buFont typeface="Open Sans Light"/>
              <a:buChar char="●"/>
            </a:pPr>
            <a:r>
              <a:rPr lang="en">
                <a:solidFill>
                  <a:schemeClr val="dk2"/>
                </a:solidFill>
                <a:latin typeface="Open Sans Light"/>
                <a:ea typeface="Open Sans Light"/>
                <a:cs typeface="Open Sans Light"/>
                <a:sym typeface="Open Sans Light"/>
              </a:rPr>
              <a:t>Our team was provided a </a:t>
            </a:r>
            <a:r>
              <a:rPr lang="en" b="1">
                <a:solidFill>
                  <a:schemeClr val="dk2"/>
                </a:solidFill>
                <a:latin typeface="Open Sans"/>
                <a:ea typeface="Open Sans"/>
                <a:cs typeface="Open Sans"/>
                <a:sym typeface="Open Sans"/>
              </a:rPr>
              <a:t>Neo4j knowledge graph</a:t>
            </a:r>
            <a:r>
              <a:rPr lang="en">
                <a:solidFill>
                  <a:schemeClr val="dk2"/>
                </a:solidFill>
                <a:latin typeface="Open Sans Light"/>
                <a:ea typeface="Open Sans Light"/>
                <a:cs typeface="Open Sans Light"/>
                <a:sym typeface="Open Sans Light"/>
              </a:rPr>
              <a:t> that was built from tech news articles</a:t>
            </a:r>
            <a:endParaRPr>
              <a:solidFill>
                <a:schemeClr val="dk2"/>
              </a:solidFill>
              <a:latin typeface="Open Sans Light"/>
              <a:ea typeface="Open Sans Light"/>
              <a:cs typeface="Open Sans Light"/>
              <a:sym typeface="Open Sans Light"/>
            </a:endParaRPr>
          </a:p>
          <a:p>
            <a:pPr marL="457200" marR="0" lvl="0" indent="-317500" algn="l" rtl="0">
              <a:lnSpc>
                <a:spcPct val="115000"/>
              </a:lnSpc>
              <a:spcBef>
                <a:spcPts val="0"/>
              </a:spcBef>
              <a:spcAft>
                <a:spcPts val="0"/>
              </a:spcAft>
              <a:buClr>
                <a:schemeClr val="dk2"/>
              </a:buClr>
              <a:buSzPts val="1400"/>
              <a:buFont typeface="Open Sans Light"/>
              <a:buChar char="●"/>
            </a:pPr>
            <a:r>
              <a:rPr lang="en" b="1">
                <a:solidFill>
                  <a:schemeClr val="dk2"/>
                </a:solidFill>
                <a:latin typeface="Open Sans"/>
                <a:ea typeface="Open Sans"/>
                <a:cs typeface="Open Sans"/>
                <a:sym typeface="Open Sans"/>
              </a:rPr>
              <a:t>Initial approach:</a:t>
            </a:r>
            <a:r>
              <a:rPr lang="en">
                <a:solidFill>
                  <a:schemeClr val="dk2"/>
                </a:solidFill>
                <a:latin typeface="Open Sans Light"/>
                <a:ea typeface="Open Sans Light"/>
                <a:cs typeface="Open Sans Light"/>
                <a:sym typeface="Open Sans Light"/>
              </a:rPr>
              <a:t> Scraping and summarizing web article data</a:t>
            </a:r>
            <a:endParaRPr>
              <a:solidFill>
                <a:schemeClr val="dk2"/>
              </a:solidFill>
              <a:latin typeface="Open Sans Light"/>
              <a:ea typeface="Open Sans Light"/>
              <a:cs typeface="Open Sans Light"/>
              <a:sym typeface="Open Sans Light"/>
            </a:endParaRPr>
          </a:p>
          <a:p>
            <a:pPr marL="457200" marR="0" lvl="0" indent="-317500" algn="l" rtl="0">
              <a:lnSpc>
                <a:spcPct val="115000"/>
              </a:lnSpc>
              <a:spcBef>
                <a:spcPts val="0"/>
              </a:spcBef>
              <a:spcAft>
                <a:spcPts val="0"/>
              </a:spcAft>
              <a:buClr>
                <a:schemeClr val="dk2"/>
              </a:buClr>
              <a:buSzPts val="1400"/>
              <a:buFont typeface="Open Sans Light"/>
              <a:buChar char="●"/>
            </a:pPr>
            <a:r>
              <a:rPr lang="en" b="1">
                <a:solidFill>
                  <a:schemeClr val="dk2"/>
                </a:solidFill>
                <a:latin typeface="Open Sans"/>
                <a:ea typeface="Open Sans"/>
                <a:cs typeface="Open Sans"/>
                <a:sym typeface="Open Sans"/>
              </a:rPr>
              <a:t>Challenges:</a:t>
            </a:r>
            <a:r>
              <a:rPr lang="en">
                <a:solidFill>
                  <a:schemeClr val="dk2"/>
                </a:solidFill>
                <a:latin typeface="Open Sans Light"/>
                <a:ea typeface="Open Sans Light"/>
                <a:cs typeface="Open Sans Light"/>
                <a:sym typeface="Open Sans Light"/>
              </a:rPr>
              <a:t> Google Colab’s computing power made this approach unviable</a:t>
            </a:r>
            <a:endParaRPr>
              <a:solidFill>
                <a:schemeClr val="dk2"/>
              </a:solidFill>
              <a:latin typeface="Open Sans Light"/>
              <a:ea typeface="Open Sans Light"/>
              <a:cs typeface="Open Sans Light"/>
              <a:sym typeface="Open Sans Light"/>
            </a:endParaRPr>
          </a:p>
          <a:p>
            <a:pPr marL="457200" marR="0" lvl="0" indent="-317500" algn="l" rtl="0">
              <a:lnSpc>
                <a:spcPct val="115000"/>
              </a:lnSpc>
              <a:spcBef>
                <a:spcPts val="0"/>
              </a:spcBef>
              <a:spcAft>
                <a:spcPts val="0"/>
              </a:spcAft>
              <a:buClr>
                <a:schemeClr val="dk2"/>
              </a:buClr>
              <a:buSzPts val="1400"/>
              <a:buFont typeface="Open Sans Light"/>
              <a:buChar char="●"/>
            </a:pPr>
            <a:r>
              <a:rPr lang="en" b="1">
                <a:solidFill>
                  <a:schemeClr val="dk2"/>
                </a:solidFill>
                <a:latin typeface="Open Sans"/>
                <a:ea typeface="Open Sans"/>
                <a:cs typeface="Open Sans"/>
                <a:sym typeface="Open Sans"/>
              </a:rPr>
              <a:t>New approach:</a:t>
            </a:r>
            <a:r>
              <a:rPr lang="en">
                <a:solidFill>
                  <a:schemeClr val="dk2"/>
                </a:solidFill>
                <a:latin typeface="Open Sans Light"/>
                <a:ea typeface="Open Sans Light"/>
                <a:cs typeface="Open Sans Light"/>
                <a:sym typeface="Open Sans Light"/>
              </a:rPr>
              <a:t> Utilizing a knowledge graph and focusing more on data analysis</a:t>
            </a:r>
            <a:endParaRPr>
              <a:solidFill>
                <a:schemeClr val="dk2"/>
              </a:solidFill>
              <a:latin typeface="Open Sans Light"/>
              <a:ea typeface="Open Sans Light"/>
              <a:cs typeface="Open Sans Light"/>
              <a:sym typeface="Open Sans Light"/>
            </a:endParaRPr>
          </a:p>
        </p:txBody>
      </p:sp>
      <p:pic>
        <p:nvPicPr>
          <p:cNvPr id="179" name="Google Shape;179;p17"/>
          <p:cNvPicPr preferRelativeResize="0"/>
          <p:nvPr/>
        </p:nvPicPr>
        <p:blipFill>
          <a:blip r:embed="rId4">
            <a:alphaModFix/>
          </a:blip>
          <a:stretch>
            <a:fillRect/>
          </a:stretch>
        </p:blipFill>
        <p:spPr>
          <a:xfrm>
            <a:off x="604650" y="2243524"/>
            <a:ext cx="4260301" cy="2494750"/>
          </a:xfrm>
          <a:prstGeom prst="rect">
            <a:avLst/>
          </a:prstGeom>
          <a:noFill/>
          <a:ln>
            <a:noFill/>
          </a:ln>
        </p:spPr>
      </p:pic>
      <p:pic>
        <p:nvPicPr>
          <p:cNvPr id="180" name="Google Shape;180;p17"/>
          <p:cNvPicPr preferRelativeResize="0"/>
          <p:nvPr/>
        </p:nvPicPr>
        <p:blipFill rotWithShape="1">
          <a:blip r:embed="rId5">
            <a:alphaModFix/>
          </a:blip>
          <a:srcRect l="30066" t="46482" r="32597" b="24518"/>
          <a:stretch/>
        </p:blipFill>
        <p:spPr>
          <a:xfrm>
            <a:off x="4987925" y="2243525"/>
            <a:ext cx="3336800" cy="1493324"/>
          </a:xfrm>
          <a:prstGeom prst="rect">
            <a:avLst/>
          </a:prstGeom>
          <a:noFill/>
          <a:ln>
            <a:noFill/>
          </a:ln>
        </p:spPr>
      </p:pic>
      <p:pic>
        <p:nvPicPr>
          <p:cNvPr id="181" name="Google Shape;181;p17"/>
          <p:cNvPicPr preferRelativeResize="0"/>
          <p:nvPr/>
        </p:nvPicPr>
        <p:blipFill rotWithShape="1">
          <a:blip r:embed="rId5">
            <a:alphaModFix/>
          </a:blip>
          <a:srcRect l="50753" t="83140" r="23661"/>
          <a:stretch/>
        </p:blipFill>
        <p:spPr>
          <a:xfrm>
            <a:off x="5797975" y="3842276"/>
            <a:ext cx="2639749" cy="10022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85"/>
        <p:cNvGrpSpPr/>
        <p:nvPr/>
      </p:nvGrpSpPr>
      <p:grpSpPr>
        <a:xfrm>
          <a:off x="0" y="0"/>
          <a:ext cx="0" cy="0"/>
          <a:chOff x="0" y="0"/>
          <a:chExt cx="0" cy="0"/>
        </a:xfrm>
      </p:grpSpPr>
      <p:grpSp>
        <p:nvGrpSpPr>
          <p:cNvPr id="186" name="Google Shape;186;p18"/>
          <p:cNvGrpSpPr/>
          <p:nvPr/>
        </p:nvGrpSpPr>
        <p:grpSpPr>
          <a:xfrm>
            <a:off x="8049325" y="164100"/>
            <a:ext cx="548700" cy="548700"/>
            <a:chOff x="8049325" y="164100"/>
            <a:chExt cx="548700" cy="548700"/>
          </a:xfrm>
        </p:grpSpPr>
        <p:sp>
          <p:nvSpPr>
            <p:cNvPr id="187" name="Google Shape;187;p18"/>
            <p:cNvSpPr/>
            <p:nvPr/>
          </p:nvSpPr>
          <p:spPr>
            <a:xfrm>
              <a:off x="8049325" y="164100"/>
              <a:ext cx="548700" cy="548700"/>
            </a:xfrm>
            <a:prstGeom prst="ellipse">
              <a:avLst/>
            </a:prstGeom>
            <a:solidFill>
              <a:srgbClr val="002D4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88" name="Google Shape;188;p18"/>
            <p:cNvPicPr preferRelativeResize="0"/>
            <p:nvPr/>
          </p:nvPicPr>
          <p:blipFill rotWithShape="1">
            <a:blip r:embed="rId4">
              <a:alphaModFix/>
            </a:blip>
            <a:srcRect/>
            <a:stretch/>
          </p:blipFill>
          <p:spPr>
            <a:xfrm>
              <a:off x="8120825" y="320040"/>
              <a:ext cx="405700" cy="259650"/>
            </a:xfrm>
            <a:prstGeom prst="rect">
              <a:avLst/>
            </a:prstGeom>
            <a:noFill/>
            <a:ln>
              <a:noFill/>
            </a:ln>
          </p:spPr>
        </p:pic>
      </p:grpSp>
      <p:sp>
        <p:nvSpPr>
          <p:cNvPr id="189" name="Google Shape;189;p18"/>
          <p:cNvSpPr txBox="1"/>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 sz="2800">
                <a:solidFill>
                  <a:srgbClr val="002D45"/>
                </a:solidFill>
                <a:latin typeface="Montserrat"/>
                <a:ea typeface="Montserrat"/>
                <a:cs typeface="Montserrat"/>
                <a:sym typeface="Montserrat"/>
              </a:rPr>
              <a:t>Data Analysis </a:t>
            </a:r>
            <a:endParaRPr sz="2800" b="0" i="0" u="none" strike="noStrike" cap="none">
              <a:solidFill>
                <a:srgbClr val="002D45"/>
              </a:solidFill>
              <a:latin typeface="Montserrat"/>
              <a:ea typeface="Montserrat"/>
              <a:cs typeface="Montserrat"/>
              <a:sym typeface="Montserrat"/>
            </a:endParaRPr>
          </a:p>
        </p:txBody>
      </p:sp>
      <p:pic>
        <p:nvPicPr>
          <p:cNvPr id="190" name="Google Shape;190;p18"/>
          <p:cNvPicPr preferRelativeResize="0"/>
          <p:nvPr/>
        </p:nvPicPr>
        <p:blipFill>
          <a:blip r:embed="rId5">
            <a:alphaModFix/>
          </a:blip>
          <a:stretch>
            <a:fillRect/>
          </a:stretch>
        </p:blipFill>
        <p:spPr>
          <a:xfrm>
            <a:off x="395325" y="1498600"/>
            <a:ext cx="8520602" cy="3290924"/>
          </a:xfrm>
          <a:prstGeom prst="rect">
            <a:avLst/>
          </a:prstGeom>
          <a:noFill/>
          <a:ln>
            <a:noFill/>
          </a:ln>
        </p:spPr>
      </p:pic>
      <p:sp>
        <p:nvSpPr>
          <p:cNvPr id="191" name="Google Shape;191;p18"/>
          <p:cNvSpPr txBox="1"/>
          <p:nvPr/>
        </p:nvSpPr>
        <p:spPr>
          <a:xfrm>
            <a:off x="311700" y="1017725"/>
            <a:ext cx="8520600" cy="3329400"/>
          </a:xfrm>
          <a:prstGeom prst="rect">
            <a:avLst/>
          </a:prstGeom>
          <a:noFill/>
          <a:ln>
            <a:noFill/>
          </a:ln>
        </p:spPr>
        <p:txBody>
          <a:bodyPr spcFirstLastPara="1" wrap="square" lIns="91425" tIns="91425" rIns="91425" bIns="91425" anchor="t" anchorCtr="0">
            <a:noAutofit/>
          </a:bodyPr>
          <a:lstStyle/>
          <a:p>
            <a:pPr marL="457200" marR="0" lvl="0" indent="-317500" algn="l" rtl="0">
              <a:lnSpc>
                <a:spcPct val="115000"/>
              </a:lnSpc>
              <a:spcBef>
                <a:spcPts val="0"/>
              </a:spcBef>
              <a:spcAft>
                <a:spcPts val="0"/>
              </a:spcAft>
              <a:buClr>
                <a:schemeClr val="dk2"/>
              </a:buClr>
              <a:buSzPts val="1400"/>
              <a:buFont typeface="Open Sans Light"/>
              <a:buChar char="●"/>
            </a:pPr>
            <a:r>
              <a:rPr lang="en">
                <a:solidFill>
                  <a:schemeClr val="dk2"/>
                </a:solidFill>
                <a:latin typeface="Open Sans Light"/>
                <a:ea typeface="Open Sans Light"/>
                <a:cs typeface="Open Sans Light"/>
                <a:sym typeface="Open Sans Light"/>
              </a:rPr>
              <a:t>Created Python functions to send queries to the Neo4j database to access data</a:t>
            </a:r>
            <a:endParaRPr>
              <a:solidFill>
                <a:schemeClr val="dk2"/>
              </a:solidFill>
              <a:latin typeface="Open Sans Light"/>
              <a:ea typeface="Open Sans Light"/>
              <a:cs typeface="Open Sans Light"/>
              <a:sym typeface="Open Sans Light"/>
            </a:endParaRPr>
          </a:p>
        </p:txBody>
      </p:sp>
      <p:sp>
        <p:nvSpPr>
          <p:cNvPr id="192" name="Google Shape;192;p18"/>
          <p:cNvSpPr txBox="1"/>
          <p:nvPr/>
        </p:nvSpPr>
        <p:spPr>
          <a:xfrm>
            <a:off x="4980775" y="2401875"/>
            <a:ext cx="3497700" cy="8598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457200" lvl="0" indent="-317500" algn="l" rtl="0">
              <a:spcBef>
                <a:spcPts val="0"/>
              </a:spcBef>
              <a:spcAft>
                <a:spcPts val="0"/>
              </a:spcAft>
              <a:buClr>
                <a:schemeClr val="dk2"/>
              </a:buClr>
              <a:buSzPts val="1400"/>
              <a:buFont typeface="Open Sans Light"/>
              <a:buChar char="●"/>
            </a:pPr>
            <a:r>
              <a:rPr lang="en">
                <a:solidFill>
                  <a:schemeClr val="dk2"/>
                </a:solidFill>
                <a:latin typeface="Open Sans Light"/>
                <a:ea typeface="Open Sans Light"/>
                <a:cs typeface="Open Sans Light"/>
                <a:sym typeface="Open Sans Light"/>
              </a:rPr>
              <a:t>Finds organizations in articles</a:t>
            </a:r>
            <a:endParaRPr>
              <a:solidFill>
                <a:schemeClr val="dk2"/>
              </a:solidFill>
              <a:latin typeface="Open Sans Light"/>
              <a:ea typeface="Open Sans Light"/>
              <a:cs typeface="Open Sans Light"/>
              <a:sym typeface="Open Sans Light"/>
            </a:endParaRPr>
          </a:p>
          <a:p>
            <a:pPr marL="457200" lvl="0" indent="-317500" algn="l" rtl="0">
              <a:spcBef>
                <a:spcPts val="0"/>
              </a:spcBef>
              <a:spcAft>
                <a:spcPts val="0"/>
              </a:spcAft>
              <a:buClr>
                <a:schemeClr val="dk2"/>
              </a:buClr>
              <a:buSzPts val="1400"/>
              <a:buFont typeface="Open Sans Light"/>
              <a:buChar char="●"/>
            </a:pPr>
            <a:r>
              <a:rPr lang="en">
                <a:solidFill>
                  <a:schemeClr val="dk2"/>
                </a:solidFill>
                <a:latin typeface="Open Sans Light"/>
                <a:ea typeface="Open Sans Light"/>
                <a:cs typeface="Open Sans Light"/>
                <a:sym typeface="Open Sans Light"/>
              </a:rPr>
              <a:t>Filters by date and sentiment</a:t>
            </a:r>
            <a:endParaRPr>
              <a:solidFill>
                <a:schemeClr val="dk2"/>
              </a:solidFill>
              <a:latin typeface="Open Sans Light"/>
              <a:ea typeface="Open Sans Light"/>
              <a:cs typeface="Open Sans Light"/>
              <a:sym typeface="Open Sans Light"/>
            </a:endParaRPr>
          </a:p>
          <a:p>
            <a:pPr marL="457200" lvl="0" indent="-317500" algn="l" rtl="0">
              <a:spcBef>
                <a:spcPts val="0"/>
              </a:spcBef>
              <a:spcAft>
                <a:spcPts val="0"/>
              </a:spcAft>
              <a:buClr>
                <a:schemeClr val="dk2"/>
              </a:buClr>
              <a:buSzPts val="1400"/>
              <a:buFont typeface="Open Sans Light"/>
              <a:buChar char="●"/>
            </a:pPr>
            <a:r>
              <a:rPr lang="en">
                <a:solidFill>
                  <a:schemeClr val="dk2"/>
                </a:solidFill>
                <a:latin typeface="Open Sans Light"/>
                <a:ea typeface="Open Sans Light"/>
                <a:cs typeface="Open Sans Light"/>
                <a:sym typeface="Open Sans Light"/>
              </a:rPr>
              <a:t>Aggregates sentiment by month</a:t>
            </a:r>
            <a:endParaRPr>
              <a:solidFill>
                <a:schemeClr val="dk2"/>
              </a:solidFill>
              <a:latin typeface="Open Sans Light"/>
              <a:ea typeface="Open Sans Light"/>
              <a:cs typeface="Open Sans Light"/>
              <a:sym typeface="Open Sans Ligh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96"/>
        <p:cNvGrpSpPr/>
        <p:nvPr/>
      </p:nvGrpSpPr>
      <p:grpSpPr>
        <a:xfrm>
          <a:off x="0" y="0"/>
          <a:ext cx="0" cy="0"/>
          <a:chOff x="0" y="0"/>
          <a:chExt cx="0" cy="0"/>
        </a:xfrm>
      </p:grpSpPr>
      <p:sp>
        <p:nvSpPr>
          <p:cNvPr id="197" name="Google Shape;197;p19"/>
          <p:cNvSpPr txBox="1"/>
          <p:nvPr/>
        </p:nvSpPr>
        <p:spPr>
          <a:xfrm>
            <a:off x="-33000" y="551100"/>
            <a:ext cx="9210000" cy="4041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800"/>
              <a:buFont typeface="Arial"/>
              <a:buNone/>
            </a:pPr>
            <a:r>
              <a:rPr lang="en" sz="2800">
                <a:solidFill>
                  <a:srgbClr val="002D45"/>
                </a:solidFill>
                <a:latin typeface="Montserrat"/>
                <a:ea typeface="Montserrat"/>
                <a:cs typeface="Montserrat"/>
                <a:sym typeface="Montserrat"/>
              </a:rPr>
              <a:t>Technology News Sentiment Analysis &amp; </a:t>
            </a:r>
            <a:endParaRPr sz="2800">
              <a:solidFill>
                <a:srgbClr val="002D45"/>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2800"/>
              <a:buFont typeface="Arial"/>
              <a:buNone/>
            </a:pPr>
            <a:r>
              <a:rPr lang="en" sz="2800">
                <a:solidFill>
                  <a:srgbClr val="002D45"/>
                </a:solidFill>
                <a:latin typeface="Montserrat"/>
                <a:ea typeface="Montserrat"/>
                <a:cs typeface="Montserrat"/>
                <a:sym typeface="Montserrat"/>
              </a:rPr>
              <a:t>Trend Forecasting</a:t>
            </a:r>
            <a:endParaRPr sz="2800" b="0" i="0" u="none" strike="noStrike" cap="none">
              <a:solidFill>
                <a:srgbClr val="002D45"/>
              </a:solidFill>
              <a:latin typeface="Montserrat"/>
              <a:ea typeface="Montserrat"/>
              <a:cs typeface="Montserrat"/>
              <a:sym typeface="Montserra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01"/>
        <p:cNvGrpSpPr/>
        <p:nvPr/>
      </p:nvGrpSpPr>
      <p:grpSpPr>
        <a:xfrm>
          <a:off x="0" y="0"/>
          <a:ext cx="0" cy="0"/>
          <a:chOff x="0" y="0"/>
          <a:chExt cx="0" cy="0"/>
        </a:xfrm>
      </p:grpSpPr>
      <p:sp>
        <p:nvSpPr>
          <p:cNvPr id="202" name="Google Shape;202;p20"/>
          <p:cNvSpPr txBox="1"/>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 sz="2800">
                <a:solidFill>
                  <a:srgbClr val="002D45"/>
                </a:solidFill>
                <a:latin typeface="Montserrat"/>
                <a:ea typeface="Montserrat"/>
                <a:cs typeface="Montserrat"/>
                <a:sym typeface="Montserrat"/>
              </a:rPr>
              <a:t>Sentiment Analysis</a:t>
            </a:r>
            <a:endParaRPr sz="2800" b="0" i="0" u="none" strike="noStrike" cap="none">
              <a:solidFill>
                <a:srgbClr val="002D45"/>
              </a:solidFill>
              <a:latin typeface="Montserrat"/>
              <a:ea typeface="Montserrat"/>
              <a:cs typeface="Montserrat"/>
              <a:sym typeface="Montserrat"/>
            </a:endParaRPr>
          </a:p>
        </p:txBody>
      </p:sp>
      <p:sp>
        <p:nvSpPr>
          <p:cNvPr id="203" name="Google Shape;203;p20"/>
          <p:cNvSpPr txBox="1"/>
          <p:nvPr/>
        </p:nvSpPr>
        <p:spPr>
          <a:xfrm>
            <a:off x="311700" y="1071700"/>
            <a:ext cx="8520600" cy="3329400"/>
          </a:xfrm>
          <a:prstGeom prst="rect">
            <a:avLst/>
          </a:prstGeom>
          <a:noFill/>
          <a:ln>
            <a:noFill/>
          </a:ln>
        </p:spPr>
        <p:txBody>
          <a:bodyPr spcFirstLastPara="1" wrap="square" lIns="91425" tIns="91425" rIns="91425" bIns="91425" anchor="t" anchorCtr="0">
            <a:noAutofit/>
          </a:bodyPr>
          <a:lstStyle/>
          <a:p>
            <a:pPr marL="457200" marR="0" lvl="0" indent="-311150" algn="l" rtl="0">
              <a:lnSpc>
                <a:spcPct val="115000"/>
              </a:lnSpc>
              <a:spcBef>
                <a:spcPts val="0"/>
              </a:spcBef>
              <a:spcAft>
                <a:spcPts val="0"/>
              </a:spcAft>
              <a:buClr>
                <a:schemeClr val="dk2"/>
              </a:buClr>
              <a:buSzPts val="1300"/>
              <a:buFont typeface="Open Sans Light"/>
              <a:buChar char="●"/>
            </a:pPr>
            <a:r>
              <a:rPr lang="en" sz="1300" b="1">
                <a:solidFill>
                  <a:schemeClr val="dk2"/>
                </a:solidFill>
                <a:latin typeface="Open Sans"/>
                <a:ea typeface="Open Sans"/>
                <a:cs typeface="Open Sans"/>
                <a:sym typeface="Open Sans"/>
              </a:rPr>
              <a:t>Approach:</a:t>
            </a:r>
            <a:r>
              <a:rPr lang="en" sz="1300">
                <a:solidFill>
                  <a:schemeClr val="dk2"/>
                </a:solidFill>
                <a:latin typeface="Open Sans Light"/>
                <a:ea typeface="Open Sans Light"/>
                <a:cs typeface="Open Sans Light"/>
                <a:sym typeface="Open Sans Light"/>
              </a:rPr>
              <a:t> Created a function to plot the average sentiment of a company each month</a:t>
            </a:r>
            <a:endParaRPr sz="1300">
              <a:solidFill>
                <a:schemeClr val="dk2"/>
              </a:solidFill>
              <a:latin typeface="Open Sans Light"/>
              <a:ea typeface="Open Sans Light"/>
              <a:cs typeface="Open Sans Light"/>
              <a:sym typeface="Open Sans Light"/>
            </a:endParaRPr>
          </a:p>
          <a:p>
            <a:pPr marL="914400" marR="0" lvl="1" indent="-311150" algn="l" rtl="0">
              <a:lnSpc>
                <a:spcPct val="115000"/>
              </a:lnSpc>
              <a:spcBef>
                <a:spcPts val="0"/>
              </a:spcBef>
              <a:spcAft>
                <a:spcPts val="0"/>
              </a:spcAft>
              <a:buClr>
                <a:schemeClr val="dk2"/>
              </a:buClr>
              <a:buSzPts val="1300"/>
              <a:buFont typeface="Open Sans Light"/>
              <a:buChar char="○"/>
            </a:pPr>
            <a:r>
              <a:rPr lang="en" sz="1300">
                <a:solidFill>
                  <a:schemeClr val="dk2"/>
                </a:solidFill>
                <a:latin typeface="Open Sans Light"/>
                <a:ea typeface="Open Sans Light"/>
                <a:cs typeface="Open Sans Light"/>
                <a:sym typeface="Open Sans Light"/>
              </a:rPr>
              <a:t>Sent a query to the Neo4j database to grab the average sentiment of the companies every month and plotted the data using a line graph</a:t>
            </a:r>
            <a:endParaRPr sz="1300">
              <a:solidFill>
                <a:schemeClr val="dk2"/>
              </a:solidFill>
              <a:latin typeface="Open Sans Light"/>
              <a:ea typeface="Open Sans Light"/>
              <a:cs typeface="Open Sans Light"/>
              <a:sym typeface="Open Sans Light"/>
            </a:endParaRPr>
          </a:p>
          <a:p>
            <a:pPr marL="914400" marR="0" lvl="1" indent="-311150" algn="l" rtl="0">
              <a:lnSpc>
                <a:spcPct val="115000"/>
              </a:lnSpc>
              <a:spcBef>
                <a:spcPts val="0"/>
              </a:spcBef>
              <a:spcAft>
                <a:spcPts val="0"/>
              </a:spcAft>
              <a:buClr>
                <a:schemeClr val="dk2"/>
              </a:buClr>
              <a:buSzPts val="1300"/>
              <a:buFont typeface="Open Sans Light"/>
              <a:buChar char="○"/>
            </a:pPr>
            <a:r>
              <a:rPr lang="en" sz="1300">
                <a:solidFill>
                  <a:schemeClr val="dk2"/>
                </a:solidFill>
                <a:latin typeface="Open Sans Light"/>
                <a:ea typeface="Open Sans Light"/>
                <a:cs typeface="Open Sans Light"/>
                <a:sym typeface="Open Sans Light"/>
              </a:rPr>
              <a:t>Graphed sentiment trends for top companies between 2022 - 2024</a:t>
            </a:r>
            <a:endParaRPr sz="1300">
              <a:solidFill>
                <a:schemeClr val="dk2"/>
              </a:solidFill>
              <a:latin typeface="Open Sans Light"/>
              <a:ea typeface="Open Sans Light"/>
              <a:cs typeface="Open Sans Light"/>
              <a:sym typeface="Open Sans Light"/>
            </a:endParaRPr>
          </a:p>
          <a:p>
            <a:pPr marL="457200" marR="0" lvl="0" indent="-311150" algn="l" rtl="0">
              <a:lnSpc>
                <a:spcPct val="115000"/>
              </a:lnSpc>
              <a:spcBef>
                <a:spcPts val="0"/>
              </a:spcBef>
              <a:spcAft>
                <a:spcPts val="0"/>
              </a:spcAft>
              <a:buClr>
                <a:schemeClr val="dk2"/>
              </a:buClr>
              <a:buSzPts val="1300"/>
              <a:buFont typeface="Open Sans"/>
              <a:buChar char="●"/>
            </a:pPr>
            <a:r>
              <a:rPr lang="en" sz="1300" b="1">
                <a:solidFill>
                  <a:schemeClr val="dk2"/>
                </a:solidFill>
                <a:latin typeface="Open Sans"/>
                <a:ea typeface="Open Sans"/>
                <a:cs typeface="Open Sans"/>
                <a:sym typeface="Open Sans"/>
              </a:rPr>
              <a:t>Further Development: </a:t>
            </a:r>
            <a:r>
              <a:rPr lang="en" sz="1300">
                <a:solidFill>
                  <a:schemeClr val="dk2"/>
                </a:solidFill>
                <a:latin typeface="Open Sans Light"/>
                <a:ea typeface="Open Sans Light"/>
                <a:cs typeface="Open Sans Light"/>
                <a:sym typeface="Open Sans Light"/>
              </a:rPr>
              <a:t>Enables Accenture consultants to use our function by typing in any organization name, which our function will plot directly</a:t>
            </a:r>
            <a:endParaRPr sz="1300">
              <a:solidFill>
                <a:schemeClr val="dk2"/>
              </a:solidFill>
              <a:latin typeface="Open Sans Light"/>
              <a:ea typeface="Open Sans Light"/>
              <a:cs typeface="Open Sans Light"/>
              <a:sym typeface="Open Sans Light"/>
            </a:endParaRPr>
          </a:p>
        </p:txBody>
      </p:sp>
      <p:pic>
        <p:nvPicPr>
          <p:cNvPr id="204" name="Google Shape;204;p20"/>
          <p:cNvPicPr preferRelativeResize="0"/>
          <p:nvPr/>
        </p:nvPicPr>
        <p:blipFill>
          <a:blip r:embed="rId4">
            <a:alphaModFix/>
          </a:blip>
          <a:stretch>
            <a:fillRect/>
          </a:stretch>
        </p:blipFill>
        <p:spPr>
          <a:xfrm>
            <a:off x="4077275" y="2586083"/>
            <a:ext cx="5021727" cy="2439792"/>
          </a:xfrm>
          <a:prstGeom prst="rect">
            <a:avLst/>
          </a:prstGeom>
          <a:noFill/>
          <a:ln>
            <a:noFill/>
          </a:ln>
        </p:spPr>
      </p:pic>
      <p:pic>
        <p:nvPicPr>
          <p:cNvPr id="205" name="Google Shape;205;p20"/>
          <p:cNvPicPr preferRelativeResize="0"/>
          <p:nvPr/>
        </p:nvPicPr>
        <p:blipFill rotWithShape="1">
          <a:blip r:embed="rId5">
            <a:alphaModFix/>
          </a:blip>
          <a:srcRect t="3356" r="50313" b="20868"/>
          <a:stretch/>
        </p:blipFill>
        <p:spPr>
          <a:xfrm>
            <a:off x="115885" y="2661800"/>
            <a:ext cx="3885189" cy="2288349"/>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09"/>
        <p:cNvGrpSpPr/>
        <p:nvPr/>
      </p:nvGrpSpPr>
      <p:grpSpPr>
        <a:xfrm>
          <a:off x="0" y="0"/>
          <a:ext cx="0" cy="0"/>
          <a:chOff x="0" y="0"/>
          <a:chExt cx="0" cy="0"/>
        </a:xfrm>
      </p:grpSpPr>
      <p:sp>
        <p:nvSpPr>
          <p:cNvPr id="210" name="Google Shape;210;g31a12ce4440_1_8"/>
          <p:cNvSpPr txBox="1"/>
          <p:nvPr/>
        </p:nvSpPr>
        <p:spPr>
          <a:xfrm>
            <a:off x="311700" y="368825"/>
            <a:ext cx="8520600" cy="572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 sz="2800">
                <a:solidFill>
                  <a:srgbClr val="002D45"/>
                </a:solidFill>
                <a:latin typeface="Montserrat"/>
                <a:ea typeface="Montserrat"/>
                <a:cs typeface="Montserrat"/>
                <a:sym typeface="Montserrat"/>
              </a:rPr>
              <a:t>Trend Forecasting</a:t>
            </a:r>
            <a:endParaRPr sz="2800" b="0" i="0" u="none" strike="noStrike" cap="none">
              <a:solidFill>
                <a:srgbClr val="002D45"/>
              </a:solidFill>
              <a:latin typeface="Montserrat"/>
              <a:ea typeface="Montserrat"/>
              <a:cs typeface="Montserrat"/>
              <a:sym typeface="Montserrat"/>
            </a:endParaRPr>
          </a:p>
        </p:txBody>
      </p:sp>
      <p:sp>
        <p:nvSpPr>
          <p:cNvPr id="211" name="Google Shape;211;g31a12ce4440_1_8"/>
          <p:cNvSpPr txBox="1"/>
          <p:nvPr/>
        </p:nvSpPr>
        <p:spPr>
          <a:xfrm>
            <a:off x="311700" y="941525"/>
            <a:ext cx="8520600" cy="3329400"/>
          </a:xfrm>
          <a:prstGeom prst="rect">
            <a:avLst/>
          </a:prstGeom>
          <a:noFill/>
          <a:ln>
            <a:noFill/>
          </a:ln>
        </p:spPr>
        <p:txBody>
          <a:bodyPr spcFirstLastPara="1" wrap="square" lIns="91425" tIns="91425" rIns="91425" bIns="91425" anchor="t" anchorCtr="0">
            <a:noAutofit/>
          </a:bodyPr>
          <a:lstStyle/>
          <a:p>
            <a:pPr marL="457200" marR="0" lvl="0" indent="-317500" algn="l" rtl="0">
              <a:lnSpc>
                <a:spcPct val="115000"/>
              </a:lnSpc>
              <a:spcBef>
                <a:spcPts val="0"/>
              </a:spcBef>
              <a:spcAft>
                <a:spcPts val="0"/>
              </a:spcAft>
              <a:buClr>
                <a:schemeClr val="dk2"/>
              </a:buClr>
              <a:buSzPts val="1400"/>
              <a:buFont typeface="Open Sans Light"/>
              <a:buChar char="●"/>
            </a:pPr>
            <a:r>
              <a:rPr lang="en" b="1">
                <a:solidFill>
                  <a:schemeClr val="dk2"/>
                </a:solidFill>
                <a:latin typeface="Open Sans"/>
                <a:ea typeface="Open Sans"/>
                <a:cs typeface="Open Sans"/>
                <a:sym typeface="Open Sans"/>
              </a:rPr>
              <a:t>Approach:</a:t>
            </a:r>
            <a:endParaRPr b="1">
              <a:solidFill>
                <a:schemeClr val="dk2"/>
              </a:solidFill>
              <a:latin typeface="Open Sans"/>
              <a:ea typeface="Open Sans"/>
              <a:cs typeface="Open Sans"/>
              <a:sym typeface="Open Sans"/>
            </a:endParaRPr>
          </a:p>
          <a:p>
            <a:pPr marL="914400" marR="0" lvl="1" indent="-317500" algn="l" rtl="0">
              <a:lnSpc>
                <a:spcPct val="115000"/>
              </a:lnSpc>
              <a:spcBef>
                <a:spcPts val="0"/>
              </a:spcBef>
              <a:spcAft>
                <a:spcPts val="0"/>
              </a:spcAft>
              <a:buClr>
                <a:schemeClr val="dk2"/>
              </a:buClr>
              <a:buSzPts val="1400"/>
              <a:buFont typeface="Open Sans Light"/>
              <a:buChar char="○"/>
            </a:pPr>
            <a:r>
              <a:rPr lang="en">
                <a:solidFill>
                  <a:schemeClr val="dk2"/>
                </a:solidFill>
                <a:latin typeface="Open Sans Light"/>
                <a:ea typeface="Open Sans Light"/>
                <a:cs typeface="Open Sans Light"/>
                <a:sym typeface="Open Sans Light"/>
              </a:rPr>
              <a:t>Identified top 5 companies with the highest article volume using value_counts()</a:t>
            </a:r>
            <a:endParaRPr>
              <a:solidFill>
                <a:schemeClr val="dk2"/>
              </a:solidFill>
              <a:latin typeface="Open Sans Light"/>
              <a:ea typeface="Open Sans Light"/>
              <a:cs typeface="Open Sans Light"/>
              <a:sym typeface="Open Sans Light"/>
            </a:endParaRPr>
          </a:p>
          <a:p>
            <a:pPr marL="914400" marR="0" lvl="1" indent="-317500" algn="l" rtl="0">
              <a:lnSpc>
                <a:spcPct val="115000"/>
              </a:lnSpc>
              <a:spcBef>
                <a:spcPts val="0"/>
              </a:spcBef>
              <a:spcAft>
                <a:spcPts val="0"/>
              </a:spcAft>
              <a:buClr>
                <a:schemeClr val="dk2"/>
              </a:buClr>
              <a:buSzPts val="1400"/>
              <a:buFont typeface="Open Sans Light"/>
              <a:buChar char="○"/>
            </a:pPr>
            <a:r>
              <a:rPr lang="en">
                <a:solidFill>
                  <a:schemeClr val="dk2"/>
                </a:solidFill>
                <a:latin typeface="Open Sans Light"/>
                <a:ea typeface="Open Sans Light"/>
                <a:cs typeface="Open Sans Light"/>
                <a:sym typeface="Open Sans Light"/>
              </a:rPr>
              <a:t>Visualized the article volume trends over time for top companies between 2022-2024</a:t>
            </a:r>
            <a:endParaRPr>
              <a:solidFill>
                <a:schemeClr val="dk2"/>
              </a:solidFill>
              <a:latin typeface="Open Sans Light"/>
              <a:ea typeface="Open Sans Light"/>
              <a:cs typeface="Open Sans Light"/>
              <a:sym typeface="Open Sans Light"/>
            </a:endParaRPr>
          </a:p>
          <a:p>
            <a:pPr marL="0" marR="0" lvl="0" indent="0" algn="l" rtl="0">
              <a:lnSpc>
                <a:spcPct val="115000"/>
              </a:lnSpc>
              <a:spcBef>
                <a:spcPts val="0"/>
              </a:spcBef>
              <a:spcAft>
                <a:spcPts val="600"/>
              </a:spcAft>
              <a:buClr>
                <a:srgbClr val="000000"/>
              </a:buClr>
              <a:buSzPts val="1400"/>
              <a:buFont typeface="Arial"/>
              <a:buNone/>
            </a:pPr>
            <a:endParaRPr sz="1400" b="0" i="0" u="none" strike="noStrike" cap="none">
              <a:solidFill>
                <a:schemeClr val="dk2"/>
              </a:solidFill>
              <a:latin typeface="Open Sans Light"/>
              <a:ea typeface="Open Sans Light"/>
              <a:cs typeface="Open Sans Light"/>
              <a:sym typeface="Open Sans Light"/>
            </a:endParaRPr>
          </a:p>
        </p:txBody>
      </p:sp>
      <p:pic>
        <p:nvPicPr>
          <p:cNvPr id="212" name="Google Shape;212;g31a12ce4440_1_8"/>
          <p:cNvPicPr preferRelativeResize="0"/>
          <p:nvPr/>
        </p:nvPicPr>
        <p:blipFill rotWithShape="1">
          <a:blip r:embed="rId4">
            <a:alphaModFix/>
          </a:blip>
          <a:srcRect/>
          <a:stretch/>
        </p:blipFill>
        <p:spPr>
          <a:xfrm>
            <a:off x="1928250" y="1926975"/>
            <a:ext cx="5287501" cy="28709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16"/>
        <p:cNvGrpSpPr/>
        <p:nvPr/>
      </p:nvGrpSpPr>
      <p:grpSpPr>
        <a:xfrm>
          <a:off x="0" y="0"/>
          <a:ext cx="0" cy="0"/>
          <a:chOff x="0" y="0"/>
          <a:chExt cx="0" cy="0"/>
        </a:xfrm>
      </p:grpSpPr>
      <p:sp>
        <p:nvSpPr>
          <p:cNvPr id="217" name="Google Shape;217;g31a12ce4440_1_13"/>
          <p:cNvSpPr txBox="1"/>
          <p:nvPr/>
        </p:nvSpPr>
        <p:spPr>
          <a:xfrm>
            <a:off x="311700" y="218925"/>
            <a:ext cx="8520600" cy="572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 sz="2800">
                <a:solidFill>
                  <a:srgbClr val="002D45"/>
                </a:solidFill>
                <a:latin typeface="Montserrat"/>
                <a:ea typeface="Montserrat"/>
                <a:cs typeface="Montserrat"/>
                <a:sym typeface="Montserrat"/>
              </a:rPr>
              <a:t>Trend Forecasting</a:t>
            </a:r>
            <a:endParaRPr sz="2800" b="0" i="0" u="none" strike="noStrike" cap="none">
              <a:solidFill>
                <a:srgbClr val="002D45"/>
              </a:solidFill>
              <a:latin typeface="Montserrat"/>
              <a:ea typeface="Montserrat"/>
              <a:cs typeface="Montserrat"/>
              <a:sym typeface="Montserrat"/>
            </a:endParaRPr>
          </a:p>
        </p:txBody>
      </p:sp>
      <p:pic>
        <p:nvPicPr>
          <p:cNvPr id="218" name="Google Shape;218;g31a12ce4440_1_13"/>
          <p:cNvPicPr preferRelativeResize="0"/>
          <p:nvPr/>
        </p:nvPicPr>
        <p:blipFill>
          <a:blip r:embed="rId4">
            <a:alphaModFix/>
          </a:blip>
          <a:stretch>
            <a:fillRect/>
          </a:stretch>
        </p:blipFill>
        <p:spPr>
          <a:xfrm>
            <a:off x="1730888" y="2103975"/>
            <a:ext cx="5682227" cy="2963326"/>
          </a:xfrm>
          <a:prstGeom prst="rect">
            <a:avLst/>
          </a:prstGeom>
          <a:noFill/>
          <a:ln>
            <a:noFill/>
          </a:ln>
        </p:spPr>
      </p:pic>
      <p:sp>
        <p:nvSpPr>
          <p:cNvPr id="219" name="Google Shape;219;g31a12ce4440_1_13"/>
          <p:cNvSpPr txBox="1"/>
          <p:nvPr/>
        </p:nvSpPr>
        <p:spPr>
          <a:xfrm>
            <a:off x="311700" y="674350"/>
            <a:ext cx="8303100" cy="19305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Clr>
                <a:schemeClr val="dk2"/>
              </a:buClr>
              <a:buSzPts val="1800"/>
              <a:buChar char="●"/>
            </a:pPr>
            <a:r>
              <a:rPr lang="en" b="1">
                <a:solidFill>
                  <a:schemeClr val="dk2"/>
                </a:solidFill>
                <a:latin typeface="Open Sans"/>
                <a:ea typeface="Open Sans"/>
                <a:cs typeface="Open Sans"/>
                <a:sym typeface="Open Sans"/>
              </a:rPr>
              <a:t>Approach:</a:t>
            </a:r>
            <a:endParaRPr b="1">
              <a:solidFill>
                <a:schemeClr val="dk2"/>
              </a:solidFill>
              <a:latin typeface="Open Sans"/>
              <a:ea typeface="Open Sans"/>
              <a:cs typeface="Open Sans"/>
              <a:sym typeface="Open Sans"/>
            </a:endParaRPr>
          </a:p>
          <a:p>
            <a:pPr marL="914400" lvl="1" indent="-317500" algn="l" rtl="0">
              <a:lnSpc>
                <a:spcPct val="115000"/>
              </a:lnSpc>
              <a:spcBef>
                <a:spcPts val="0"/>
              </a:spcBef>
              <a:spcAft>
                <a:spcPts val="0"/>
              </a:spcAft>
              <a:buClr>
                <a:schemeClr val="dk2"/>
              </a:buClr>
              <a:buSzPts val="1400"/>
              <a:buFont typeface="Open Sans Light"/>
              <a:buChar char="○"/>
            </a:pPr>
            <a:r>
              <a:rPr lang="en">
                <a:solidFill>
                  <a:schemeClr val="dk2"/>
                </a:solidFill>
                <a:latin typeface="Open Sans Light"/>
                <a:ea typeface="Open Sans Light"/>
                <a:cs typeface="Open Sans Light"/>
                <a:sym typeface="Open Sans Light"/>
              </a:rPr>
              <a:t>Defined a list of target keywords to search for in articles</a:t>
            </a:r>
            <a:endParaRPr>
              <a:solidFill>
                <a:schemeClr val="dk2"/>
              </a:solidFill>
              <a:latin typeface="Open Sans Light"/>
              <a:ea typeface="Open Sans Light"/>
              <a:cs typeface="Open Sans Light"/>
              <a:sym typeface="Open Sans Light"/>
            </a:endParaRPr>
          </a:p>
          <a:p>
            <a:pPr marL="914400" lvl="1" indent="-317500" algn="l" rtl="0">
              <a:lnSpc>
                <a:spcPct val="115000"/>
              </a:lnSpc>
              <a:spcBef>
                <a:spcPts val="0"/>
              </a:spcBef>
              <a:spcAft>
                <a:spcPts val="0"/>
              </a:spcAft>
              <a:buClr>
                <a:schemeClr val="dk2"/>
              </a:buClr>
              <a:buSzPts val="1400"/>
              <a:buFont typeface="Open Sans Light"/>
              <a:buChar char="○"/>
            </a:pPr>
            <a:r>
              <a:rPr lang="en">
                <a:solidFill>
                  <a:schemeClr val="dk2"/>
                </a:solidFill>
                <a:latin typeface="Open Sans Light"/>
                <a:ea typeface="Open Sans Light"/>
                <a:cs typeface="Open Sans Light"/>
                <a:sym typeface="Open Sans Light"/>
              </a:rPr>
              <a:t>Filtered articles containing each keyword and aggregated the count of articles mentioning the keywords on a monthly basis</a:t>
            </a:r>
            <a:endParaRPr>
              <a:solidFill>
                <a:schemeClr val="dk2"/>
              </a:solidFill>
              <a:latin typeface="Open Sans Light"/>
              <a:ea typeface="Open Sans Light"/>
              <a:cs typeface="Open Sans Light"/>
              <a:sym typeface="Open Sans Light"/>
            </a:endParaRPr>
          </a:p>
          <a:p>
            <a:pPr marL="914400" lvl="1" indent="-317500" algn="l" rtl="0">
              <a:lnSpc>
                <a:spcPct val="115000"/>
              </a:lnSpc>
              <a:spcBef>
                <a:spcPts val="0"/>
              </a:spcBef>
              <a:spcAft>
                <a:spcPts val="0"/>
              </a:spcAft>
              <a:buClr>
                <a:schemeClr val="dk2"/>
              </a:buClr>
              <a:buSzPts val="1400"/>
              <a:buFont typeface="Open Sans Light"/>
              <a:buChar char="○"/>
            </a:pPr>
            <a:r>
              <a:rPr lang="en">
                <a:solidFill>
                  <a:schemeClr val="dk2"/>
                </a:solidFill>
                <a:latin typeface="Open Sans Light"/>
                <a:ea typeface="Open Sans Light"/>
                <a:cs typeface="Open Sans Light"/>
                <a:sym typeface="Open Sans Light"/>
              </a:rPr>
              <a:t>Plotted time-series data for each keyword</a:t>
            </a:r>
            <a:endParaRPr>
              <a:solidFill>
                <a:schemeClr val="dk2"/>
              </a:solidFill>
              <a:latin typeface="Open Sans Light"/>
              <a:ea typeface="Open Sans Light"/>
              <a:cs typeface="Open Sans Light"/>
              <a:sym typeface="Open Sans Ligh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23"/>
        <p:cNvGrpSpPr/>
        <p:nvPr/>
      </p:nvGrpSpPr>
      <p:grpSpPr>
        <a:xfrm>
          <a:off x="0" y="0"/>
          <a:ext cx="0" cy="0"/>
          <a:chOff x="0" y="0"/>
          <a:chExt cx="0" cy="0"/>
        </a:xfrm>
      </p:grpSpPr>
      <p:sp>
        <p:nvSpPr>
          <p:cNvPr id="224" name="Google Shape;224;g31a12ce4440_0_6"/>
          <p:cNvSpPr txBox="1"/>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 sz="2800">
                <a:solidFill>
                  <a:srgbClr val="002D45"/>
                </a:solidFill>
                <a:latin typeface="Montserrat"/>
                <a:ea typeface="Montserrat"/>
                <a:cs typeface="Montserrat"/>
                <a:sym typeface="Montserrat"/>
              </a:rPr>
              <a:t>Recommendations</a:t>
            </a:r>
            <a:endParaRPr sz="2800" b="0" i="0" u="none" strike="noStrike" cap="none">
              <a:solidFill>
                <a:srgbClr val="002D45"/>
              </a:solidFill>
              <a:latin typeface="Montserrat"/>
              <a:ea typeface="Montserrat"/>
              <a:cs typeface="Montserrat"/>
              <a:sym typeface="Montserrat"/>
            </a:endParaRPr>
          </a:p>
        </p:txBody>
      </p:sp>
      <p:sp>
        <p:nvSpPr>
          <p:cNvPr id="225" name="Google Shape;225;g31a12ce4440_0_6"/>
          <p:cNvSpPr txBox="1"/>
          <p:nvPr/>
        </p:nvSpPr>
        <p:spPr>
          <a:xfrm>
            <a:off x="423325" y="1100675"/>
            <a:ext cx="8409000" cy="3587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b="1">
                <a:solidFill>
                  <a:schemeClr val="dk2"/>
                </a:solidFill>
                <a:latin typeface="Open Sans"/>
                <a:ea typeface="Open Sans"/>
                <a:cs typeface="Open Sans"/>
                <a:sym typeface="Open Sans"/>
              </a:rPr>
              <a:t>From the sentiment analysis and trends, we see from 2022-2024:</a:t>
            </a:r>
            <a:endParaRPr b="1">
              <a:solidFill>
                <a:schemeClr val="dk2"/>
              </a:solidFill>
              <a:latin typeface="Open Sans"/>
              <a:ea typeface="Open Sans"/>
              <a:cs typeface="Open Sans"/>
              <a:sym typeface="Open Sans"/>
            </a:endParaRPr>
          </a:p>
          <a:p>
            <a:pPr marL="457200" lvl="0" indent="-317500" algn="l" rtl="0">
              <a:lnSpc>
                <a:spcPct val="115000"/>
              </a:lnSpc>
              <a:spcBef>
                <a:spcPts val="0"/>
              </a:spcBef>
              <a:spcAft>
                <a:spcPts val="0"/>
              </a:spcAft>
              <a:buClr>
                <a:schemeClr val="dk2"/>
              </a:buClr>
              <a:buSzPts val="1400"/>
              <a:buFont typeface="Open Sans Light"/>
              <a:buChar char="●"/>
            </a:pPr>
            <a:r>
              <a:rPr lang="en">
                <a:solidFill>
                  <a:schemeClr val="dk2"/>
                </a:solidFill>
                <a:latin typeface="Open Sans Light"/>
                <a:ea typeface="Open Sans Light"/>
                <a:cs typeface="Open Sans Light"/>
                <a:sym typeface="Open Sans Light"/>
              </a:rPr>
              <a:t>Recommend tech startups to </a:t>
            </a:r>
            <a:r>
              <a:rPr lang="en" b="1">
                <a:solidFill>
                  <a:schemeClr val="dk2"/>
                </a:solidFill>
                <a:latin typeface="Open Sans"/>
                <a:ea typeface="Open Sans"/>
                <a:cs typeface="Open Sans"/>
                <a:sym typeface="Open Sans"/>
              </a:rPr>
              <a:t>move towards AI products and services</a:t>
            </a:r>
            <a:r>
              <a:rPr lang="en">
                <a:solidFill>
                  <a:schemeClr val="dk2"/>
                </a:solidFill>
                <a:latin typeface="Open Sans Light"/>
                <a:ea typeface="Open Sans Light"/>
                <a:cs typeface="Open Sans Light"/>
                <a:sym typeface="Open Sans Light"/>
              </a:rPr>
              <a:t> as there was an large mention of AI in articles in 2023</a:t>
            </a:r>
            <a:endParaRPr>
              <a:solidFill>
                <a:schemeClr val="dk2"/>
              </a:solidFill>
              <a:latin typeface="Open Sans Light"/>
              <a:ea typeface="Open Sans Light"/>
              <a:cs typeface="Open Sans Light"/>
              <a:sym typeface="Open Sans Light"/>
            </a:endParaRPr>
          </a:p>
          <a:p>
            <a:pPr marL="914400" lvl="1" indent="-317500" algn="l" rtl="0">
              <a:lnSpc>
                <a:spcPct val="115000"/>
              </a:lnSpc>
              <a:spcBef>
                <a:spcPts val="0"/>
              </a:spcBef>
              <a:spcAft>
                <a:spcPts val="0"/>
              </a:spcAft>
              <a:buClr>
                <a:schemeClr val="dk2"/>
              </a:buClr>
              <a:buSzPts val="1400"/>
              <a:buFont typeface="Open Sans Light"/>
              <a:buChar char="○"/>
            </a:pPr>
            <a:r>
              <a:rPr lang="en">
                <a:solidFill>
                  <a:schemeClr val="dk2"/>
                </a:solidFill>
                <a:latin typeface="Open Sans Light"/>
                <a:ea typeface="Open Sans Light"/>
                <a:cs typeface="Open Sans Light"/>
                <a:sym typeface="Open Sans Light"/>
              </a:rPr>
              <a:t>The trend is expected to be consistent in 2024</a:t>
            </a:r>
            <a:endParaRPr>
              <a:solidFill>
                <a:schemeClr val="dk2"/>
              </a:solidFill>
              <a:latin typeface="Open Sans Light"/>
              <a:ea typeface="Open Sans Light"/>
              <a:cs typeface="Open Sans Light"/>
              <a:sym typeface="Open Sans Light"/>
            </a:endParaRPr>
          </a:p>
          <a:p>
            <a:pPr marL="457200" lvl="0" indent="-317500" algn="l" rtl="0">
              <a:lnSpc>
                <a:spcPct val="115000"/>
              </a:lnSpc>
              <a:spcBef>
                <a:spcPts val="0"/>
              </a:spcBef>
              <a:spcAft>
                <a:spcPts val="0"/>
              </a:spcAft>
              <a:buClr>
                <a:schemeClr val="dk2"/>
              </a:buClr>
              <a:buSzPts val="1400"/>
              <a:buFont typeface="Open Sans Light"/>
              <a:buChar char="●"/>
            </a:pPr>
            <a:r>
              <a:rPr lang="en">
                <a:solidFill>
                  <a:schemeClr val="dk2"/>
                </a:solidFill>
                <a:latin typeface="Open Sans Light"/>
                <a:ea typeface="Open Sans Light"/>
                <a:cs typeface="Open Sans Light"/>
                <a:sym typeface="Open Sans Light"/>
              </a:rPr>
              <a:t>Look into </a:t>
            </a:r>
            <a:r>
              <a:rPr lang="en" b="1">
                <a:solidFill>
                  <a:schemeClr val="dk2"/>
                </a:solidFill>
                <a:latin typeface="Open Sans"/>
                <a:ea typeface="Open Sans"/>
                <a:cs typeface="Open Sans"/>
                <a:sym typeface="Open Sans"/>
              </a:rPr>
              <a:t>Google and Microsoft’s products</a:t>
            </a:r>
            <a:r>
              <a:rPr lang="en">
                <a:solidFill>
                  <a:schemeClr val="dk2"/>
                </a:solidFill>
                <a:latin typeface="Open Sans Light"/>
                <a:ea typeface="Open Sans Light"/>
                <a:cs typeface="Open Sans Light"/>
                <a:sym typeface="Open Sans Light"/>
              </a:rPr>
              <a:t> for building a base for startups</a:t>
            </a:r>
            <a:endParaRPr>
              <a:solidFill>
                <a:schemeClr val="dk2"/>
              </a:solidFill>
              <a:latin typeface="Open Sans Light"/>
              <a:ea typeface="Open Sans Light"/>
              <a:cs typeface="Open Sans Light"/>
              <a:sym typeface="Open Sans Light"/>
            </a:endParaRPr>
          </a:p>
          <a:p>
            <a:pPr marL="914400" lvl="1" indent="-317500" algn="l" rtl="0">
              <a:lnSpc>
                <a:spcPct val="115000"/>
              </a:lnSpc>
              <a:spcBef>
                <a:spcPts val="0"/>
              </a:spcBef>
              <a:spcAft>
                <a:spcPts val="0"/>
              </a:spcAft>
              <a:buClr>
                <a:schemeClr val="dk2"/>
              </a:buClr>
              <a:buSzPts val="1400"/>
              <a:buFont typeface="Open Sans Light"/>
              <a:buChar char="○"/>
            </a:pPr>
            <a:r>
              <a:rPr lang="en">
                <a:solidFill>
                  <a:schemeClr val="dk2"/>
                </a:solidFill>
                <a:latin typeface="Open Sans Light"/>
                <a:ea typeface="Open Sans Light"/>
                <a:cs typeface="Open Sans Light"/>
                <a:sym typeface="Open Sans Light"/>
              </a:rPr>
              <a:t>Ex: Google Cloud Platform/Workspace, Microsoft Azure</a:t>
            </a:r>
            <a:endParaRPr>
              <a:solidFill>
                <a:schemeClr val="dk2"/>
              </a:solidFill>
              <a:latin typeface="Open Sans Light"/>
              <a:ea typeface="Open Sans Light"/>
              <a:cs typeface="Open Sans Light"/>
              <a:sym typeface="Open Sans Light"/>
            </a:endParaRPr>
          </a:p>
          <a:p>
            <a:pPr marL="914400" lvl="1" indent="-317500" algn="l" rtl="0">
              <a:lnSpc>
                <a:spcPct val="115000"/>
              </a:lnSpc>
              <a:spcBef>
                <a:spcPts val="0"/>
              </a:spcBef>
              <a:spcAft>
                <a:spcPts val="0"/>
              </a:spcAft>
              <a:buClr>
                <a:schemeClr val="dk2"/>
              </a:buClr>
              <a:buSzPts val="1400"/>
              <a:buFont typeface="Open Sans Light"/>
              <a:buChar char="○"/>
            </a:pPr>
            <a:r>
              <a:rPr lang="en">
                <a:solidFill>
                  <a:schemeClr val="dk2"/>
                </a:solidFill>
                <a:latin typeface="Open Sans Light"/>
                <a:ea typeface="Open Sans Light"/>
                <a:cs typeface="Open Sans Light"/>
                <a:sym typeface="Open Sans Light"/>
              </a:rPr>
              <a:t>Salesforce potentially due to upward trend at the end of 2023</a:t>
            </a:r>
            <a:endParaRPr>
              <a:solidFill>
                <a:schemeClr val="dk2"/>
              </a:solidFill>
              <a:latin typeface="Open Sans Light"/>
              <a:ea typeface="Open Sans Light"/>
              <a:cs typeface="Open Sans Light"/>
              <a:sym typeface="Open Sans Light"/>
            </a:endParaRPr>
          </a:p>
          <a:p>
            <a:pPr marL="914400" lvl="1" indent="-317500" algn="l" rtl="0">
              <a:lnSpc>
                <a:spcPct val="115000"/>
              </a:lnSpc>
              <a:spcBef>
                <a:spcPts val="0"/>
              </a:spcBef>
              <a:spcAft>
                <a:spcPts val="0"/>
              </a:spcAft>
              <a:buClr>
                <a:schemeClr val="dk2"/>
              </a:buClr>
              <a:buSzPts val="1400"/>
              <a:buFont typeface="Open Sans Light"/>
              <a:buChar char="○"/>
            </a:pPr>
            <a:r>
              <a:rPr lang="en">
                <a:solidFill>
                  <a:schemeClr val="dk2"/>
                </a:solidFill>
                <a:latin typeface="Open Sans Light"/>
                <a:ea typeface="Open Sans Light"/>
                <a:cs typeface="Open Sans Light"/>
                <a:sym typeface="Open Sans Light"/>
              </a:rPr>
              <a:t>Sentiment analysis scores are understandable due to the company’s reputation</a:t>
            </a:r>
            <a:endParaRPr>
              <a:solidFill>
                <a:schemeClr val="dk2"/>
              </a:solidFill>
              <a:latin typeface="Open Sans Light"/>
              <a:ea typeface="Open Sans Light"/>
              <a:cs typeface="Open Sans Light"/>
              <a:sym typeface="Open Sans Light"/>
            </a:endParaRPr>
          </a:p>
          <a:p>
            <a:pPr marL="457200" lvl="0" indent="-317500" algn="l" rtl="0">
              <a:lnSpc>
                <a:spcPct val="115000"/>
              </a:lnSpc>
              <a:spcBef>
                <a:spcPts val="0"/>
              </a:spcBef>
              <a:spcAft>
                <a:spcPts val="0"/>
              </a:spcAft>
              <a:buClr>
                <a:schemeClr val="dk2"/>
              </a:buClr>
              <a:buSzPts val="1400"/>
              <a:buFont typeface="Open Sans"/>
              <a:buChar char="●"/>
            </a:pPr>
            <a:r>
              <a:rPr lang="en" b="1">
                <a:solidFill>
                  <a:schemeClr val="dk2"/>
                </a:solidFill>
                <a:latin typeface="Open Sans"/>
                <a:ea typeface="Open Sans"/>
                <a:cs typeface="Open Sans"/>
                <a:sym typeface="Open Sans"/>
              </a:rPr>
              <a:t>Company Trend Forecasting</a:t>
            </a:r>
            <a:endParaRPr b="1">
              <a:solidFill>
                <a:schemeClr val="dk2"/>
              </a:solidFill>
              <a:latin typeface="Open Sans"/>
              <a:ea typeface="Open Sans"/>
              <a:cs typeface="Open Sans"/>
              <a:sym typeface="Open Sans"/>
            </a:endParaRPr>
          </a:p>
          <a:p>
            <a:pPr marL="914400" lvl="1" indent="-317500" algn="l" rtl="0">
              <a:lnSpc>
                <a:spcPct val="115000"/>
              </a:lnSpc>
              <a:spcBef>
                <a:spcPts val="0"/>
              </a:spcBef>
              <a:spcAft>
                <a:spcPts val="0"/>
              </a:spcAft>
              <a:buClr>
                <a:schemeClr val="dk2"/>
              </a:buClr>
              <a:buSzPts val="1400"/>
              <a:buFont typeface="Open Sans Light"/>
              <a:buChar char="○"/>
            </a:pPr>
            <a:r>
              <a:rPr lang="en">
                <a:solidFill>
                  <a:schemeClr val="dk2"/>
                </a:solidFill>
                <a:latin typeface="Open Sans Light"/>
                <a:ea typeface="Open Sans Light"/>
                <a:cs typeface="Open Sans Light"/>
                <a:sym typeface="Open Sans Light"/>
              </a:rPr>
              <a:t>Allow Accenture to identify potential partnerships or collaborations with leading companies in the media</a:t>
            </a:r>
            <a:endParaRPr>
              <a:solidFill>
                <a:schemeClr val="dk2"/>
              </a:solidFill>
              <a:latin typeface="Open Sans Light"/>
              <a:ea typeface="Open Sans Light"/>
              <a:cs typeface="Open Sans Light"/>
              <a:sym typeface="Open Sans Light"/>
            </a:endParaRPr>
          </a:p>
          <a:p>
            <a:pPr marL="914400" lvl="1" indent="-317500" algn="l" rtl="0">
              <a:lnSpc>
                <a:spcPct val="115000"/>
              </a:lnSpc>
              <a:spcBef>
                <a:spcPts val="0"/>
              </a:spcBef>
              <a:spcAft>
                <a:spcPts val="0"/>
              </a:spcAft>
              <a:buClr>
                <a:schemeClr val="dk2"/>
              </a:buClr>
              <a:buSzPts val="1400"/>
              <a:buFont typeface="Open Sans Light"/>
              <a:buChar char="○"/>
            </a:pPr>
            <a:r>
              <a:rPr lang="en">
                <a:solidFill>
                  <a:schemeClr val="dk2"/>
                </a:solidFill>
                <a:latin typeface="Open Sans Light"/>
                <a:ea typeface="Open Sans Light"/>
                <a:cs typeface="Open Sans Light"/>
                <a:sym typeface="Open Sans Light"/>
              </a:rPr>
              <a:t>Companies receiving significant media attention may be expanding or innovating, allowing Accenture to pitch services that align with their priorities</a:t>
            </a:r>
            <a:endParaRPr>
              <a:solidFill>
                <a:schemeClr val="dk2"/>
              </a:solidFill>
              <a:latin typeface="Open Sans Light"/>
              <a:ea typeface="Open Sans Light"/>
              <a:cs typeface="Open Sans Light"/>
              <a:sym typeface="Open Sans Light"/>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29"/>
        <p:cNvGrpSpPr/>
        <p:nvPr/>
      </p:nvGrpSpPr>
      <p:grpSpPr>
        <a:xfrm>
          <a:off x="0" y="0"/>
          <a:ext cx="0" cy="0"/>
          <a:chOff x="0" y="0"/>
          <a:chExt cx="0" cy="0"/>
        </a:xfrm>
      </p:grpSpPr>
      <p:sp>
        <p:nvSpPr>
          <p:cNvPr id="230" name="Google Shape;230;g315f99d6be6_0_2"/>
          <p:cNvSpPr txBox="1"/>
          <p:nvPr/>
        </p:nvSpPr>
        <p:spPr>
          <a:xfrm>
            <a:off x="311700" y="551106"/>
            <a:ext cx="8520600" cy="4041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800"/>
              <a:buFont typeface="Arial"/>
              <a:buNone/>
            </a:pPr>
            <a:r>
              <a:rPr lang="en" sz="2800">
                <a:solidFill>
                  <a:srgbClr val="002D45"/>
                </a:solidFill>
                <a:latin typeface="Montserrat"/>
                <a:ea typeface="Montserrat"/>
                <a:cs typeface="Montserrat"/>
                <a:sym typeface="Montserrat"/>
              </a:rPr>
              <a:t>Technology News Insight Engine Structure Overview</a:t>
            </a:r>
            <a:endParaRPr sz="2800" b="0" i="0" u="none" strike="noStrike" cap="none">
              <a:solidFill>
                <a:srgbClr val="002D45"/>
              </a:solidFill>
              <a:latin typeface="Montserrat"/>
              <a:ea typeface="Montserrat"/>
              <a:cs typeface="Montserrat"/>
              <a:sym typeface="Montserrat"/>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34"/>
        <p:cNvGrpSpPr/>
        <p:nvPr/>
      </p:nvGrpSpPr>
      <p:grpSpPr>
        <a:xfrm>
          <a:off x="0" y="0"/>
          <a:ext cx="0" cy="0"/>
          <a:chOff x="0" y="0"/>
          <a:chExt cx="0" cy="0"/>
        </a:xfrm>
      </p:grpSpPr>
      <p:sp>
        <p:nvSpPr>
          <p:cNvPr id="235" name="Google Shape;235;g315f99d6be6_0_11"/>
          <p:cNvSpPr txBox="1"/>
          <p:nvPr/>
        </p:nvSpPr>
        <p:spPr>
          <a:xfrm>
            <a:off x="162350" y="91500"/>
            <a:ext cx="8520600" cy="572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 sz="2800">
                <a:solidFill>
                  <a:srgbClr val="002D45"/>
                </a:solidFill>
                <a:latin typeface="Montserrat"/>
                <a:ea typeface="Montserrat"/>
                <a:cs typeface="Montserrat"/>
                <a:sym typeface="Montserrat"/>
              </a:rPr>
              <a:t>Basic Engine Structure</a:t>
            </a:r>
            <a:endParaRPr sz="2800" b="0" i="0" u="none" strike="noStrike" cap="none">
              <a:solidFill>
                <a:srgbClr val="002D45"/>
              </a:solidFill>
              <a:latin typeface="Montserrat"/>
              <a:ea typeface="Montserrat"/>
              <a:cs typeface="Montserrat"/>
              <a:sym typeface="Montserrat"/>
            </a:endParaRPr>
          </a:p>
        </p:txBody>
      </p:sp>
      <p:sp>
        <p:nvSpPr>
          <p:cNvPr id="236" name="Google Shape;236;g315f99d6be6_0_11"/>
          <p:cNvSpPr txBox="1"/>
          <p:nvPr/>
        </p:nvSpPr>
        <p:spPr>
          <a:xfrm>
            <a:off x="1162550" y="1254375"/>
            <a:ext cx="4853100" cy="438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b="1">
                <a:solidFill>
                  <a:schemeClr val="dk2"/>
                </a:solidFill>
              </a:rPr>
              <a:t>Raw Data: </a:t>
            </a:r>
            <a:r>
              <a:rPr lang="en" sz="1300">
                <a:solidFill>
                  <a:schemeClr val="dk2"/>
                </a:solidFill>
              </a:rPr>
              <a:t>Technology News Articles</a:t>
            </a:r>
            <a:endParaRPr sz="1300">
              <a:solidFill>
                <a:schemeClr val="dk2"/>
              </a:solidFill>
            </a:endParaRPr>
          </a:p>
        </p:txBody>
      </p:sp>
      <p:sp>
        <p:nvSpPr>
          <p:cNvPr id="237" name="Google Shape;237;g315f99d6be6_0_11"/>
          <p:cNvSpPr txBox="1"/>
          <p:nvPr/>
        </p:nvSpPr>
        <p:spPr>
          <a:xfrm>
            <a:off x="1162550" y="1823325"/>
            <a:ext cx="7622400" cy="460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b="1">
                <a:solidFill>
                  <a:schemeClr val="dk2"/>
                </a:solidFill>
              </a:rPr>
              <a:t>Engine:</a:t>
            </a:r>
            <a:r>
              <a:rPr lang="en" sz="1300">
                <a:solidFill>
                  <a:schemeClr val="dk2"/>
                </a:solidFill>
              </a:rPr>
              <a:t> Engine has the ability of data annotation and recommendation based on a user query</a:t>
            </a:r>
            <a:endParaRPr sz="1300">
              <a:solidFill>
                <a:schemeClr val="dk2"/>
              </a:solidFill>
            </a:endParaRPr>
          </a:p>
        </p:txBody>
      </p:sp>
      <p:sp>
        <p:nvSpPr>
          <p:cNvPr id="238" name="Google Shape;238;g315f99d6be6_0_11"/>
          <p:cNvSpPr txBox="1"/>
          <p:nvPr/>
        </p:nvSpPr>
        <p:spPr>
          <a:xfrm>
            <a:off x="1162550" y="2489575"/>
            <a:ext cx="7108200" cy="460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b="1">
                <a:solidFill>
                  <a:schemeClr val="dk2"/>
                </a:solidFill>
              </a:rPr>
              <a:t>Object / Class:</a:t>
            </a:r>
            <a:r>
              <a:rPr lang="en" sz="1300">
                <a:solidFill>
                  <a:schemeClr val="dk2"/>
                </a:solidFill>
              </a:rPr>
              <a:t> groups instructions / codes to complete a specific task</a:t>
            </a:r>
            <a:endParaRPr sz="1300">
              <a:solidFill>
                <a:schemeClr val="dk2"/>
              </a:solidFill>
            </a:endParaRPr>
          </a:p>
        </p:txBody>
      </p:sp>
      <p:sp>
        <p:nvSpPr>
          <p:cNvPr id="239" name="Google Shape;239;g315f99d6be6_0_11"/>
          <p:cNvSpPr txBox="1"/>
          <p:nvPr/>
        </p:nvSpPr>
        <p:spPr>
          <a:xfrm>
            <a:off x="1162550" y="3249075"/>
            <a:ext cx="3948300" cy="460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b="1">
                <a:solidFill>
                  <a:schemeClr val="dk2"/>
                </a:solidFill>
              </a:rPr>
              <a:t>Functionality: </a:t>
            </a:r>
            <a:r>
              <a:rPr lang="en" sz="1300">
                <a:solidFill>
                  <a:schemeClr val="dk2"/>
                </a:solidFill>
              </a:rPr>
              <a:t>the abilities of an object </a:t>
            </a:r>
            <a:endParaRPr sz="1300">
              <a:solidFill>
                <a:schemeClr val="dk2"/>
              </a:solidFill>
            </a:endParaRPr>
          </a:p>
        </p:txBody>
      </p:sp>
      <p:sp>
        <p:nvSpPr>
          <p:cNvPr id="240" name="Google Shape;240;g315f99d6be6_0_11"/>
          <p:cNvSpPr txBox="1"/>
          <p:nvPr/>
        </p:nvSpPr>
        <p:spPr>
          <a:xfrm>
            <a:off x="1162550" y="3900225"/>
            <a:ext cx="3948300" cy="460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chemeClr val="dk2"/>
                </a:solidFill>
              </a:rPr>
              <a:t>Precious technology news articles or other output</a:t>
            </a:r>
            <a:endParaRPr sz="1300">
              <a:solidFill>
                <a:schemeClr val="dk2"/>
              </a:solidFill>
            </a:endParaRPr>
          </a:p>
        </p:txBody>
      </p:sp>
      <p:pic>
        <p:nvPicPr>
          <p:cNvPr id="241" name="Google Shape;241;g315f99d6be6_0_11"/>
          <p:cNvPicPr preferRelativeResize="0"/>
          <p:nvPr/>
        </p:nvPicPr>
        <p:blipFill>
          <a:blip r:embed="rId4">
            <a:alphaModFix/>
          </a:blip>
          <a:stretch>
            <a:fillRect/>
          </a:stretch>
        </p:blipFill>
        <p:spPr>
          <a:xfrm>
            <a:off x="162350" y="664200"/>
            <a:ext cx="900125" cy="411125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45"/>
        <p:cNvGrpSpPr/>
        <p:nvPr/>
      </p:nvGrpSpPr>
      <p:grpSpPr>
        <a:xfrm>
          <a:off x="0" y="0"/>
          <a:ext cx="0" cy="0"/>
          <a:chOff x="0" y="0"/>
          <a:chExt cx="0" cy="0"/>
        </a:xfrm>
      </p:grpSpPr>
      <p:sp>
        <p:nvSpPr>
          <p:cNvPr id="246" name="Google Shape;246;g3039e3768f9_4_11"/>
          <p:cNvSpPr txBox="1"/>
          <p:nvPr/>
        </p:nvSpPr>
        <p:spPr>
          <a:xfrm>
            <a:off x="311700" y="551106"/>
            <a:ext cx="8520600" cy="4041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800"/>
              <a:buFont typeface="Arial"/>
              <a:buNone/>
            </a:pPr>
            <a:r>
              <a:rPr lang="en" sz="2800">
                <a:solidFill>
                  <a:srgbClr val="002D45"/>
                </a:solidFill>
                <a:latin typeface="Montserrat"/>
                <a:ea typeface="Montserrat"/>
                <a:cs typeface="Montserrat"/>
                <a:sym typeface="Montserrat"/>
              </a:rPr>
              <a:t>Technology News Preprocessing &amp; </a:t>
            </a:r>
            <a:endParaRPr sz="2800">
              <a:solidFill>
                <a:srgbClr val="002D45"/>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2800"/>
              <a:buFont typeface="Arial"/>
              <a:buNone/>
            </a:pPr>
            <a:r>
              <a:rPr lang="en" sz="2800">
                <a:solidFill>
                  <a:srgbClr val="002D45"/>
                </a:solidFill>
                <a:latin typeface="Montserrat"/>
                <a:ea typeface="Montserrat"/>
                <a:cs typeface="Montserrat"/>
                <a:sym typeface="Montserrat"/>
              </a:rPr>
              <a:t>Topic Modeling Pipeline</a:t>
            </a:r>
            <a:endParaRPr sz="2800" b="0" i="0" u="none" strike="noStrike" cap="none">
              <a:solidFill>
                <a:srgbClr val="002D45"/>
              </a:solidFill>
              <a:latin typeface="Montserrat"/>
              <a:ea typeface="Montserrat"/>
              <a:cs typeface="Montserrat"/>
              <a:sym typeface="Montserrat"/>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50"/>
        <p:cNvGrpSpPr/>
        <p:nvPr/>
      </p:nvGrpSpPr>
      <p:grpSpPr>
        <a:xfrm>
          <a:off x="0" y="0"/>
          <a:ext cx="0" cy="0"/>
          <a:chOff x="0" y="0"/>
          <a:chExt cx="0" cy="0"/>
        </a:xfrm>
      </p:grpSpPr>
      <p:sp>
        <p:nvSpPr>
          <p:cNvPr id="251" name="Google Shape;251;g3039e3768f9_4_15"/>
          <p:cNvSpPr txBox="1"/>
          <p:nvPr/>
        </p:nvSpPr>
        <p:spPr>
          <a:xfrm>
            <a:off x="380988" y="145250"/>
            <a:ext cx="8520600" cy="572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 sz="2800">
                <a:solidFill>
                  <a:srgbClr val="002D45"/>
                </a:solidFill>
                <a:latin typeface="Montserrat"/>
                <a:ea typeface="Montserrat"/>
                <a:cs typeface="Montserrat"/>
                <a:sym typeface="Montserrat"/>
              </a:rPr>
              <a:t>Preprocessing Pipeline</a:t>
            </a:r>
            <a:endParaRPr sz="2800" b="0" i="0" u="none" strike="noStrike" cap="none">
              <a:solidFill>
                <a:srgbClr val="002D45"/>
              </a:solidFill>
              <a:latin typeface="Montserrat"/>
              <a:ea typeface="Montserrat"/>
              <a:cs typeface="Montserrat"/>
              <a:sym typeface="Montserrat"/>
            </a:endParaRPr>
          </a:p>
        </p:txBody>
      </p:sp>
      <p:sp>
        <p:nvSpPr>
          <p:cNvPr id="252" name="Google Shape;252;g3039e3768f9_4_15"/>
          <p:cNvSpPr txBox="1"/>
          <p:nvPr/>
        </p:nvSpPr>
        <p:spPr>
          <a:xfrm>
            <a:off x="381000" y="717950"/>
            <a:ext cx="8109000" cy="358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b="1">
                <a:solidFill>
                  <a:schemeClr val="dk2"/>
                </a:solidFill>
                <a:latin typeface="Open Sans"/>
                <a:ea typeface="Open Sans"/>
                <a:cs typeface="Open Sans"/>
                <a:sym typeface="Open Sans"/>
              </a:rPr>
              <a:t>TextCleaner:</a:t>
            </a:r>
            <a:r>
              <a:rPr lang="en" sz="1300">
                <a:solidFill>
                  <a:schemeClr val="dk2"/>
                </a:solidFill>
                <a:latin typeface="Open Sans Light"/>
                <a:ea typeface="Open Sans Light"/>
                <a:cs typeface="Open Sans Light"/>
                <a:sym typeface="Open Sans Light"/>
              </a:rPr>
              <a:t> Split sentences, convert words to their root forms, and remove meaningless words. </a:t>
            </a:r>
            <a:endParaRPr sz="1300">
              <a:solidFill>
                <a:schemeClr val="dk2"/>
              </a:solidFill>
              <a:latin typeface="Open Sans Light"/>
              <a:ea typeface="Open Sans Light"/>
              <a:cs typeface="Open Sans Light"/>
              <a:sym typeface="Open Sans Light"/>
            </a:endParaRPr>
          </a:p>
        </p:txBody>
      </p:sp>
      <p:sp>
        <p:nvSpPr>
          <p:cNvPr id="253" name="Google Shape;253;g3039e3768f9_4_15"/>
          <p:cNvSpPr txBox="1"/>
          <p:nvPr/>
        </p:nvSpPr>
        <p:spPr>
          <a:xfrm>
            <a:off x="381000" y="993900"/>
            <a:ext cx="7601700" cy="358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b="1">
                <a:solidFill>
                  <a:schemeClr val="dk2"/>
                </a:solidFill>
                <a:latin typeface="Open Sans"/>
                <a:ea typeface="Open Sans"/>
                <a:cs typeface="Open Sans"/>
                <a:sym typeface="Open Sans"/>
              </a:rPr>
              <a:t>Summarization: </a:t>
            </a:r>
            <a:r>
              <a:rPr lang="en" sz="1300">
                <a:solidFill>
                  <a:schemeClr val="dk2"/>
                </a:solidFill>
                <a:latin typeface="Open Sans Light"/>
                <a:ea typeface="Open Sans Light"/>
                <a:cs typeface="Open Sans Light"/>
                <a:sym typeface="Open Sans Light"/>
              </a:rPr>
              <a:t>Summarize by frequency of word and TextRank Summarization  </a:t>
            </a:r>
            <a:endParaRPr sz="1300">
              <a:solidFill>
                <a:schemeClr val="dk2"/>
              </a:solidFill>
              <a:latin typeface="Open Sans Light"/>
              <a:ea typeface="Open Sans Light"/>
              <a:cs typeface="Open Sans Light"/>
              <a:sym typeface="Open Sans Light"/>
            </a:endParaRPr>
          </a:p>
        </p:txBody>
      </p:sp>
      <p:pic>
        <p:nvPicPr>
          <p:cNvPr id="254" name="Google Shape;254;g3039e3768f9_4_15"/>
          <p:cNvPicPr preferRelativeResize="0"/>
          <p:nvPr/>
        </p:nvPicPr>
        <p:blipFill>
          <a:blip r:embed="rId4">
            <a:alphaModFix/>
          </a:blip>
          <a:stretch>
            <a:fillRect/>
          </a:stretch>
        </p:blipFill>
        <p:spPr>
          <a:xfrm>
            <a:off x="1561063" y="1450900"/>
            <a:ext cx="6051675" cy="35038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58"/>
        <p:cNvGrpSpPr/>
        <p:nvPr/>
      </p:nvGrpSpPr>
      <p:grpSpPr>
        <a:xfrm>
          <a:off x="0" y="0"/>
          <a:ext cx="0" cy="0"/>
          <a:chOff x="0" y="0"/>
          <a:chExt cx="0" cy="0"/>
        </a:xfrm>
      </p:grpSpPr>
      <p:sp>
        <p:nvSpPr>
          <p:cNvPr id="259" name="Google Shape;259;g31a98d15345_0_57"/>
          <p:cNvSpPr txBox="1"/>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 sz="2800">
                <a:solidFill>
                  <a:srgbClr val="002D45"/>
                </a:solidFill>
                <a:latin typeface="Montserrat"/>
                <a:ea typeface="Montserrat"/>
                <a:cs typeface="Montserrat"/>
                <a:sym typeface="Montserrat"/>
              </a:rPr>
              <a:t>Summarization Methods</a:t>
            </a:r>
            <a:endParaRPr sz="2800" b="0" i="0" u="none" strike="noStrike" cap="none">
              <a:solidFill>
                <a:srgbClr val="002D45"/>
              </a:solidFill>
              <a:latin typeface="Montserrat"/>
              <a:ea typeface="Montserrat"/>
              <a:cs typeface="Montserrat"/>
              <a:sym typeface="Montserrat"/>
            </a:endParaRPr>
          </a:p>
        </p:txBody>
      </p:sp>
      <p:sp>
        <p:nvSpPr>
          <p:cNvPr id="260" name="Google Shape;260;g31a98d15345_0_57"/>
          <p:cNvSpPr txBox="1"/>
          <p:nvPr/>
        </p:nvSpPr>
        <p:spPr>
          <a:xfrm>
            <a:off x="311700" y="1247150"/>
            <a:ext cx="8520600" cy="33294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1"/>
              </a:buClr>
              <a:buSzPts val="1400"/>
              <a:buFont typeface="Arial"/>
              <a:buNone/>
            </a:pPr>
            <a:r>
              <a:rPr lang="en" b="1">
                <a:solidFill>
                  <a:schemeClr val="dk2"/>
                </a:solidFill>
                <a:latin typeface="Open Sans"/>
                <a:ea typeface="Open Sans"/>
                <a:cs typeface="Open Sans"/>
                <a:sym typeface="Open Sans"/>
              </a:rPr>
              <a:t>Frequency of word summarization</a:t>
            </a:r>
            <a:r>
              <a:rPr lang="en">
                <a:solidFill>
                  <a:schemeClr val="dk2"/>
                </a:solidFill>
                <a:latin typeface="Open Sans Light"/>
                <a:ea typeface="Open Sans Light"/>
                <a:cs typeface="Open Sans Light"/>
                <a:sym typeface="Open Sans Light"/>
              </a:rPr>
              <a:t>:</a:t>
            </a:r>
            <a:endParaRPr>
              <a:solidFill>
                <a:schemeClr val="dk2"/>
              </a:solidFill>
              <a:latin typeface="Open Sans Light"/>
              <a:ea typeface="Open Sans Light"/>
              <a:cs typeface="Open Sans Light"/>
              <a:sym typeface="Open Sans Light"/>
            </a:endParaRPr>
          </a:p>
          <a:p>
            <a:pPr marL="457200" marR="0" lvl="0" indent="-317500" algn="l" rtl="0">
              <a:lnSpc>
                <a:spcPct val="115000"/>
              </a:lnSpc>
              <a:spcBef>
                <a:spcPts val="0"/>
              </a:spcBef>
              <a:spcAft>
                <a:spcPts val="0"/>
              </a:spcAft>
              <a:buClr>
                <a:schemeClr val="dk2"/>
              </a:buClr>
              <a:buSzPts val="1400"/>
              <a:buFont typeface="Open Sans Light"/>
              <a:buAutoNum type="arabicPeriod"/>
            </a:pPr>
            <a:r>
              <a:rPr lang="en">
                <a:solidFill>
                  <a:schemeClr val="dk2"/>
                </a:solidFill>
                <a:latin typeface="Open Sans Light"/>
                <a:ea typeface="Open Sans Light"/>
                <a:cs typeface="Open Sans Light"/>
                <a:sym typeface="Open Sans Light"/>
              </a:rPr>
              <a:t>Calculate the frequency of each word in an article</a:t>
            </a:r>
            <a:endParaRPr>
              <a:solidFill>
                <a:schemeClr val="dk2"/>
              </a:solidFill>
              <a:latin typeface="Open Sans Light"/>
              <a:ea typeface="Open Sans Light"/>
              <a:cs typeface="Open Sans Light"/>
              <a:sym typeface="Open Sans Light"/>
            </a:endParaRPr>
          </a:p>
          <a:p>
            <a:pPr marL="457200" marR="0" lvl="0" indent="0" algn="l" rtl="0">
              <a:lnSpc>
                <a:spcPct val="115000"/>
              </a:lnSpc>
              <a:spcBef>
                <a:spcPts val="0"/>
              </a:spcBef>
              <a:spcAft>
                <a:spcPts val="0"/>
              </a:spcAft>
              <a:buNone/>
            </a:pPr>
            <a:endParaRPr>
              <a:solidFill>
                <a:schemeClr val="dk2"/>
              </a:solidFill>
              <a:latin typeface="Open Sans Light"/>
              <a:ea typeface="Open Sans Light"/>
              <a:cs typeface="Open Sans Light"/>
              <a:sym typeface="Open Sans Light"/>
            </a:endParaRPr>
          </a:p>
          <a:p>
            <a:pPr marL="457200" marR="0" lvl="0" indent="-317500" algn="l" rtl="0">
              <a:lnSpc>
                <a:spcPct val="115000"/>
              </a:lnSpc>
              <a:spcBef>
                <a:spcPts val="0"/>
              </a:spcBef>
              <a:spcAft>
                <a:spcPts val="0"/>
              </a:spcAft>
              <a:buClr>
                <a:schemeClr val="dk2"/>
              </a:buClr>
              <a:buSzPts val="1400"/>
              <a:buFont typeface="Open Sans Light"/>
              <a:buAutoNum type="arabicPeriod"/>
            </a:pPr>
            <a:r>
              <a:rPr lang="en">
                <a:solidFill>
                  <a:schemeClr val="dk2"/>
                </a:solidFill>
                <a:latin typeface="Open Sans Light"/>
                <a:ea typeface="Open Sans Light"/>
                <a:cs typeface="Open Sans Light"/>
                <a:sym typeface="Open Sans Light"/>
              </a:rPr>
              <a:t>Assign a score to each sentence based on the frequency of each word in each sentence</a:t>
            </a:r>
            <a:endParaRPr>
              <a:solidFill>
                <a:schemeClr val="dk2"/>
              </a:solidFill>
              <a:latin typeface="Open Sans Light"/>
              <a:ea typeface="Open Sans Light"/>
              <a:cs typeface="Open Sans Light"/>
              <a:sym typeface="Open Sans Light"/>
            </a:endParaRPr>
          </a:p>
          <a:p>
            <a:pPr marL="457200" marR="0" lvl="0" indent="0" algn="l" rtl="0">
              <a:lnSpc>
                <a:spcPct val="115000"/>
              </a:lnSpc>
              <a:spcBef>
                <a:spcPts val="0"/>
              </a:spcBef>
              <a:spcAft>
                <a:spcPts val="0"/>
              </a:spcAft>
              <a:buNone/>
            </a:pPr>
            <a:endParaRPr>
              <a:solidFill>
                <a:schemeClr val="dk2"/>
              </a:solidFill>
              <a:latin typeface="Open Sans Light"/>
              <a:ea typeface="Open Sans Light"/>
              <a:cs typeface="Open Sans Light"/>
              <a:sym typeface="Open Sans Light"/>
            </a:endParaRPr>
          </a:p>
          <a:p>
            <a:pPr marL="457200" marR="0" lvl="0" indent="-317500" algn="l" rtl="0">
              <a:lnSpc>
                <a:spcPct val="115000"/>
              </a:lnSpc>
              <a:spcBef>
                <a:spcPts val="0"/>
              </a:spcBef>
              <a:spcAft>
                <a:spcPts val="0"/>
              </a:spcAft>
              <a:buClr>
                <a:schemeClr val="dk2"/>
              </a:buClr>
              <a:buSzPts val="1400"/>
              <a:buFont typeface="Open Sans Light"/>
              <a:buAutoNum type="arabicPeriod"/>
            </a:pPr>
            <a:r>
              <a:rPr lang="en">
                <a:solidFill>
                  <a:schemeClr val="dk2"/>
                </a:solidFill>
                <a:latin typeface="Open Sans Light"/>
                <a:ea typeface="Open Sans Light"/>
                <a:cs typeface="Open Sans Light"/>
                <a:sym typeface="Open Sans Light"/>
              </a:rPr>
              <a:t>Select the sentences has a score greater than the median score over all sentences</a:t>
            </a:r>
            <a:endParaRPr>
              <a:solidFill>
                <a:schemeClr val="dk2"/>
              </a:solidFill>
              <a:latin typeface="Open Sans Light"/>
              <a:ea typeface="Open Sans Light"/>
              <a:cs typeface="Open Sans Light"/>
              <a:sym typeface="Open Sans Light"/>
            </a:endParaRPr>
          </a:p>
          <a:p>
            <a:pPr marL="0" marR="0" lvl="0" indent="0" algn="l" rtl="0">
              <a:lnSpc>
                <a:spcPct val="115000"/>
              </a:lnSpc>
              <a:spcBef>
                <a:spcPts val="0"/>
              </a:spcBef>
              <a:spcAft>
                <a:spcPts val="0"/>
              </a:spcAft>
              <a:buNone/>
            </a:pPr>
            <a:endParaRPr>
              <a:solidFill>
                <a:schemeClr val="dk2"/>
              </a:solidFill>
              <a:latin typeface="Open Sans Light"/>
              <a:ea typeface="Open Sans Light"/>
              <a:cs typeface="Open Sans Light"/>
              <a:sym typeface="Open Sans Light"/>
            </a:endParaRPr>
          </a:p>
          <a:p>
            <a:pPr marL="0" marR="0" lvl="0" indent="0" algn="l" rtl="0">
              <a:lnSpc>
                <a:spcPct val="115000"/>
              </a:lnSpc>
              <a:spcBef>
                <a:spcPts val="0"/>
              </a:spcBef>
              <a:spcAft>
                <a:spcPts val="0"/>
              </a:spcAft>
              <a:buNone/>
            </a:pPr>
            <a:r>
              <a:rPr lang="en" b="1">
                <a:solidFill>
                  <a:schemeClr val="dk2"/>
                </a:solidFill>
                <a:latin typeface="Open Sans"/>
                <a:ea typeface="Open Sans"/>
                <a:cs typeface="Open Sans"/>
                <a:sym typeface="Open Sans"/>
              </a:rPr>
              <a:t>TextRank Summarization</a:t>
            </a:r>
            <a:r>
              <a:rPr lang="en">
                <a:solidFill>
                  <a:schemeClr val="dk2"/>
                </a:solidFill>
                <a:latin typeface="Open Sans Light"/>
                <a:ea typeface="Open Sans Light"/>
                <a:cs typeface="Open Sans Light"/>
                <a:sym typeface="Open Sans Light"/>
              </a:rPr>
              <a:t>:</a:t>
            </a:r>
            <a:endParaRPr>
              <a:solidFill>
                <a:schemeClr val="dk2"/>
              </a:solidFill>
              <a:latin typeface="Open Sans Light"/>
              <a:ea typeface="Open Sans Light"/>
              <a:cs typeface="Open Sans Light"/>
              <a:sym typeface="Open Sans Light"/>
            </a:endParaRPr>
          </a:p>
          <a:p>
            <a:pPr marL="457200" marR="0" lvl="0" indent="-317500" algn="l" rtl="0">
              <a:lnSpc>
                <a:spcPct val="115000"/>
              </a:lnSpc>
              <a:spcBef>
                <a:spcPts val="0"/>
              </a:spcBef>
              <a:spcAft>
                <a:spcPts val="0"/>
              </a:spcAft>
              <a:buClr>
                <a:schemeClr val="dk2"/>
              </a:buClr>
              <a:buSzPts val="1400"/>
              <a:buFont typeface="Open Sans Light"/>
              <a:buAutoNum type="arabicPeriod"/>
            </a:pPr>
            <a:r>
              <a:rPr lang="en">
                <a:solidFill>
                  <a:schemeClr val="dk2"/>
                </a:solidFill>
                <a:latin typeface="Open Sans Light"/>
                <a:ea typeface="Open Sans Light"/>
                <a:cs typeface="Open Sans Light"/>
                <a:sym typeface="Open Sans Light"/>
              </a:rPr>
              <a:t>Calculate the similarity scores between each sentence</a:t>
            </a:r>
            <a:endParaRPr>
              <a:solidFill>
                <a:schemeClr val="dk2"/>
              </a:solidFill>
              <a:latin typeface="Open Sans Light"/>
              <a:ea typeface="Open Sans Light"/>
              <a:cs typeface="Open Sans Light"/>
              <a:sym typeface="Open Sans Light"/>
            </a:endParaRPr>
          </a:p>
          <a:p>
            <a:pPr marL="457200" marR="0" lvl="0" indent="0" algn="l" rtl="0">
              <a:lnSpc>
                <a:spcPct val="115000"/>
              </a:lnSpc>
              <a:spcBef>
                <a:spcPts val="0"/>
              </a:spcBef>
              <a:spcAft>
                <a:spcPts val="0"/>
              </a:spcAft>
              <a:buNone/>
            </a:pPr>
            <a:endParaRPr>
              <a:solidFill>
                <a:schemeClr val="dk2"/>
              </a:solidFill>
              <a:latin typeface="Open Sans Light"/>
              <a:ea typeface="Open Sans Light"/>
              <a:cs typeface="Open Sans Light"/>
              <a:sym typeface="Open Sans Light"/>
            </a:endParaRPr>
          </a:p>
          <a:p>
            <a:pPr marL="457200" marR="0" lvl="0" indent="-317500" algn="l" rtl="0">
              <a:lnSpc>
                <a:spcPct val="115000"/>
              </a:lnSpc>
              <a:spcBef>
                <a:spcPts val="0"/>
              </a:spcBef>
              <a:spcAft>
                <a:spcPts val="0"/>
              </a:spcAft>
              <a:buClr>
                <a:schemeClr val="dk2"/>
              </a:buClr>
              <a:buSzPts val="1400"/>
              <a:buFont typeface="Open Sans Light"/>
              <a:buAutoNum type="arabicPeriod"/>
            </a:pPr>
            <a:r>
              <a:rPr lang="en">
                <a:solidFill>
                  <a:schemeClr val="dk2"/>
                </a:solidFill>
                <a:latin typeface="Open Sans Light"/>
                <a:ea typeface="Open Sans Light"/>
                <a:cs typeface="Open Sans Light"/>
                <a:sym typeface="Open Sans Light"/>
              </a:rPr>
              <a:t>Pick the sentences has a similarity score greater than the median similarity score over all sentences</a:t>
            </a:r>
            <a:endParaRPr>
              <a:solidFill>
                <a:schemeClr val="dk2"/>
              </a:solidFill>
              <a:latin typeface="Open Sans Light"/>
              <a:ea typeface="Open Sans Light"/>
              <a:cs typeface="Open Sans Light"/>
              <a:sym typeface="Open Sans Light"/>
            </a:endParaRPr>
          </a:p>
          <a:p>
            <a:pPr marL="0" marR="0" lvl="0" indent="0" algn="l" rtl="0">
              <a:lnSpc>
                <a:spcPct val="115000"/>
              </a:lnSpc>
              <a:spcBef>
                <a:spcPts val="0"/>
              </a:spcBef>
              <a:spcAft>
                <a:spcPts val="0"/>
              </a:spcAft>
              <a:buNone/>
            </a:pPr>
            <a:endParaRPr>
              <a:solidFill>
                <a:schemeClr val="dk2"/>
              </a:solidFill>
              <a:latin typeface="Open Sans Light"/>
              <a:ea typeface="Open Sans Light"/>
              <a:cs typeface="Open Sans Light"/>
              <a:sym typeface="Open Sans Light"/>
            </a:endParaRPr>
          </a:p>
          <a:p>
            <a:pPr marL="0" marR="0" lvl="0" indent="0" algn="l" rtl="0">
              <a:lnSpc>
                <a:spcPct val="115000"/>
              </a:lnSpc>
              <a:spcBef>
                <a:spcPts val="0"/>
              </a:spcBef>
              <a:spcAft>
                <a:spcPts val="0"/>
              </a:spcAft>
              <a:buNone/>
            </a:pPr>
            <a:endParaRPr>
              <a:solidFill>
                <a:schemeClr val="dk2"/>
              </a:solidFill>
              <a:latin typeface="Open Sans Light"/>
              <a:ea typeface="Open Sans Light"/>
              <a:cs typeface="Open Sans Light"/>
              <a:sym typeface="Open Sans Light"/>
            </a:endParaRPr>
          </a:p>
          <a:p>
            <a:pPr marL="0" marR="0" lvl="0" indent="0" algn="l" rtl="0">
              <a:lnSpc>
                <a:spcPct val="115000"/>
              </a:lnSpc>
              <a:spcBef>
                <a:spcPts val="0"/>
              </a:spcBef>
              <a:spcAft>
                <a:spcPts val="600"/>
              </a:spcAft>
              <a:buClr>
                <a:srgbClr val="000000"/>
              </a:buClr>
              <a:buSzPts val="1400"/>
              <a:buFont typeface="Arial"/>
              <a:buNone/>
            </a:pPr>
            <a:endParaRPr sz="1400" b="0" i="0" u="none" strike="noStrike" cap="none">
              <a:solidFill>
                <a:schemeClr val="dk2"/>
              </a:solidFill>
              <a:latin typeface="Open Sans Light"/>
              <a:ea typeface="Open Sans Light"/>
              <a:cs typeface="Open Sans Light"/>
              <a:sym typeface="Open Sans Light"/>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64"/>
        <p:cNvGrpSpPr/>
        <p:nvPr/>
      </p:nvGrpSpPr>
      <p:grpSpPr>
        <a:xfrm>
          <a:off x="0" y="0"/>
          <a:ext cx="0" cy="0"/>
          <a:chOff x="0" y="0"/>
          <a:chExt cx="0" cy="0"/>
        </a:xfrm>
      </p:grpSpPr>
      <p:sp>
        <p:nvSpPr>
          <p:cNvPr id="265" name="Google Shape;265;g31747919a0d_0_12"/>
          <p:cNvSpPr txBox="1"/>
          <p:nvPr/>
        </p:nvSpPr>
        <p:spPr>
          <a:xfrm>
            <a:off x="311700" y="292975"/>
            <a:ext cx="8520600" cy="572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 sz="2800">
                <a:solidFill>
                  <a:srgbClr val="002D45"/>
                </a:solidFill>
                <a:latin typeface="Montserrat"/>
                <a:ea typeface="Montserrat"/>
                <a:cs typeface="Montserrat"/>
                <a:sym typeface="Montserrat"/>
              </a:rPr>
              <a:t>Preprocessing Results</a:t>
            </a:r>
            <a:endParaRPr sz="2800" b="0" i="0" u="none" strike="noStrike" cap="none">
              <a:solidFill>
                <a:srgbClr val="002D45"/>
              </a:solidFill>
              <a:latin typeface="Montserrat"/>
              <a:ea typeface="Montserrat"/>
              <a:cs typeface="Montserrat"/>
              <a:sym typeface="Montserrat"/>
            </a:endParaRPr>
          </a:p>
        </p:txBody>
      </p:sp>
      <p:graphicFrame>
        <p:nvGraphicFramePr>
          <p:cNvPr id="266" name="Google Shape;266;g31747919a0d_0_12"/>
          <p:cNvGraphicFramePr/>
          <p:nvPr/>
        </p:nvGraphicFramePr>
        <p:xfrm>
          <a:off x="613675" y="4017325"/>
          <a:ext cx="3573300" cy="746700"/>
        </p:xfrm>
        <a:graphic>
          <a:graphicData uri="http://schemas.openxmlformats.org/drawingml/2006/table">
            <a:tbl>
              <a:tblPr>
                <a:noFill/>
                <a:tableStyleId>{FEC7C10E-6A8A-40AE-B7CC-C4A1520B83F7}</a:tableStyleId>
              </a:tblPr>
              <a:tblGrid>
                <a:gridCol w="893325">
                  <a:extLst>
                    <a:ext uri="{9D8B030D-6E8A-4147-A177-3AD203B41FA5}">
                      <a16:colId xmlns:a16="http://schemas.microsoft.com/office/drawing/2014/main" val="20000"/>
                    </a:ext>
                  </a:extLst>
                </a:gridCol>
                <a:gridCol w="893325">
                  <a:extLst>
                    <a:ext uri="{9D8B030D-6E8A-4147-A177-3AD203B41FA5}">
                      <a16:colId xmlns:a16="http://schemas.microsoft.com/office/drawing/2014/main" val="20001"/>
                    </a:ext>
                  </a:extLst>
                </a:gridCol>
                <a:gridCol w="893325">
                  <a:extLst>
                    <a:ext uri="{9D8B030D-6E8A-4147-A177-3AD203B41FA5}">
                      <a16:colId xmlns:a16="http://schemas.microsoft.com/office/drawing/2014/main" val="20002"/>
                    </a:ext>
                  </a:extLst>
                </a:gridCol>
                <a:gridCol w="893325">
                  <a:extLst>
                    <a:ext uri="{9D8B030D-6E8A-4147-A177-3AD203B41FA5}">
                      <a16:colId xmlns:a16="http://schemas.microsoft.com/office/drawing/2014/main" val="20003"/>
                    </a:ext>
                  </a:extLst>
                </a:gridCol>
              </a:tblGrid>
              <a:tr h="277750">
                <a:tc>
                  <a:txBody>
                    <a:bodyPr/>
                    <a:lstStyle/>
                    <a:p>
                      <a:pPr marL="0" lvl="0" indent="0" algn="ctr" rtl="0">
                        <a:spcBef>
                          <a:spcPts val="0"/>
                        </a:spcBef>
                        <a:spcAft>
                          <a:spcPts val="0"/>
                        </a:spcAft>
                        <a:buNone/>
                      </a:pPr>
                      <a:r>
                        <a:rPr lang="en" sz="1100"/>
                        <a:t>min</a:t>
                      </a:r>
                      <a:endParaRPr sz="1100"/>
                    </a:p>
                  </a:txBody>
                  <a:tcPr marL="91425" marR="91425" marT="91425" marB="91425"/>
                </a:tc>
                <a:tc>
                  <a:txBody>
                    <a:bodyPr/>
                    <a:lstStyle/>
                    <a:p>
                      <a:pPr marL="0" lvl="0" indent="0" algn="ctr" rtl="0">
                        <a:spcBef>
                          <a:spcPts val="0"/>
                        </a:spcBef>
                        <a:spcAft>
                          <a:spcPts val="0"/>
                        </a:spcAft>
                        <a:buNone/>
                      </a:pPr>
                      <a:r>
                        <a:rPr lang="en" sz="1100"/>
                        <a:t>max</a:t>
                      </a:r>
                      <a:endParaRPr sz="1100"/>
                    </a:p>
                  </a:txBody>
                  <a:tcPr marL="91425" marR="91425" marT="91425" marB="91425"/>
                </a:tc>
                <a:tc>
                  <a:txBody>
                    <a:bodyPr/>
                    <a:lstStyle/>
                    <a:p>
                      <a:pPr marL="0" lvl="0" indent="0" algn="ctr" rtl="0">
                        <a:spcBef>
                          <a:spcPts val="0"/>
                        </a:spcBef>
                        <a:spcAft>
                          <a:spcPts val="0"/>
                        </a:spcAft>
                        <a:buNone/>
                      </a:pPr>
                      <a:r>
                        <a:rPr lang="en" sz="1100"/>
                        <a:t>median </a:t>
                      </a:r>
                      <a:endParaRPr sz="1100"/>
                    </a:p>
                  </a:txBody>
                  <a:tcPr marL="91425" marR="91425" marT="91425" marB="91425"/>
                </a:tc>
                <a:tc>
                  <a:txBody>
                    <a:bodyPr/>
                    <a:lstStyle/>
                    <a:p>
                      <a:pPr marL="0" lvl="0" indent="0" algn="ctr" rtl="0">
                        <a:spcBef>
                          <a:spcPts val="0"/>
                        </a:spcBef>
                        <a:spcAft>
                          <a:spcPts val="0"/>
                        </a:spcAft>
                        <a:buNone/>
                      </a:pPr>
                      <a:r>
                        <a:rPr lang="en" sz="1100"/>
                        <a:t>std</a:t>
                      </a:r>
                      <a:endParaRPr sz="1100"/>
                    </a:p>
                  </a:txBody>
                  <a:tcPr marL="91425" marR="91425" marT="91425" marB="91425"/>
                </a:tc>
                <a:extLst>
                  <a:ext uri="{0D108BD9-81ED-4DB2-BD59-A6C34878D82A}">
                    <a16:rowId xmlns:a16="http://schemas.microsoft.com/office/drawing/2014/main" val="10000"/>
                  </a:ext>
                </a:extLst>
              </a:tr>
              <a:tr h="393875">
                <a:tc>
                  <a:txBody>
                    <a:bodyPr/>
                    <a:lstStyle/>
                    <a:p>
                      <a:pPr marL="0" lvl="0" indent="0" algn="ctr" rtl="0">
                        <a:spcBef>
                          <a:spcPts val="0"/>
                        </a:spcBef>
                        <a:spcAft>
                          <a:spcPts val="0"/>
                        </a:spcAft>
                        <a:buNone/>
                      </a:pPr>
                      <a:r>
                        <a:rPr lang="en"/>
                        <a:t>0</a:t>
                      </a:r>
                      <a:endParaRPr/>
                    </a:p>
                  </a:txBody>
                  <a:tcPr marL="91425" marR="91425" marT="91425" marB="91425"/>
                </a:tc>
                <a:tc>
                  <a:txBody>
                    <a:bodyPr/>
                    <a:lstStyle/>
                    <a:p>
                      <a:pPr marL="0" lvl="0" indent="0" algn="ctr" rtl="0">
                        <a:spcBef>
                          <a:spcPts val="0"/>
                        </a:spcBef>
                        <a:spcAft>
                          <a:spcPts val="0"/>
                        </a:spcAft>
                        <a:buNone/>
                      </a:pPr>
                      <a:r>
                        <a:rPr lang="en"/>
                        <a:t>115,782</a:t>
                      </a:r>
                      <a:endParaRPr/>
                    </a:p>
                  </a:txBody>
                  <a:tcPr marL="91425" marR="91425" marT="91425" marB="91425"/>
                </a:tc>
                <a:tc>
                  <a:txBody>
                    <a:bodyPr/>
                    <a:lstStyle/>
                    <a:p>
                      <a:pPr marL="0" lvl="0" indent="0" algn="ctr" rtl="0">
                        <a:spcBef>
                          <a:spcPts val="0"/>
                        </a:spcBef>
                        <a:spcAft>
                          <a:spcPts val="0"/>
                        </a:spcAft>
                        <a:buNone/>
                      </a:pPr>
                      <a:r>
                        <a:rPr lang="en"/>
                        <a:t>10</a:t>
                      </a:r>
                      <a:endParaRPr/>
                    </a:p>
                  </a:txBody>
                  <a:tcPr marL="91425" marR="91425" marT="91425" marB="91425"/>
                </a:tc>
                <a:tc>
                  <a:txBody>
                    <a:bodyPr/>
                    <a:lstStyle/>
                    <a:p>
                      <a:pPr marL="0" lvl="0" indent="0" algn="ctr" rtl="0">
                        <a:spcBef>
                          <a:spcPts val="0"/>
                        </a:spcBef>
                        <a:spcAft>
                          <a:spcPts val="0"/>
                        </a:spcAft>
                        <a:buNone/>
                      </a:pPr>
                      <a:r>
                        <a:rPr lang="en"/>
                        <a:t>1338</a:t>
                      </a:r>
                      <a:endParaRPr/>
                    </a:p>
                  </a:txBody>
                  <a:tcPr marL="91425" marR="91425" marT="91425" marB="91425"/>
                </a:tc>
                <a:extLst>
                  <a:ext uri="{0D108BD9-81ED-4DB2-BD59-A6C34878D82A}">
                    <a16:rowId xmlns:a16="http://schemas.microsoft.com/office/drawing/2014/main" val="10001"/>
                  </a:ext>
                </a:extLst>
              </a:tr>
            </a:tbl>
          </a:graphicData>
        </a:graphic>
      </p:graphicFrame>
      <p:graphicFrame>
        <p:nvGraphicFramePr>
          <p:cNvPr id="267" name="Google Shape;267;g31747919a0d_0_12"/>
          <p:cNvGraphicFramePr/>
          <p:nvPr/>
        </p:nvGraphicFramePr>
        <p:xfrm>
          <a:off x="5446950" y="4017325"/>
          <a:ext cx="3167900" cy="746700"/>
        </p:xfrm>
        <a:graphic>
          <a:graphicData uri="http://schemas.openxmlformats.org/drawingml/2006/table">
            <a:tbl>
              <a:tblPr>
                <a:noFill/>
                <a:tableStyleId>{FEC7C10E-6A8A-40AE-B7CC-C4A1520B83F7}</a:tableStyleId>
              </a:tblPr>
              <a:tblGrid>
                <a:gridCol w="791975">
                  <a:extLst>
                    <a:ext uri="{9D8B030D-6E8A-4147-A177-3AD203B41FA5}">
                      <a16:colId xmlns:a16="http://schemas.microsoft.com/office/drawing/2014/main" val="20000"/>
                    </a:ext>
                  </a:extLst>
                </a:gridCol>
                <a:gridCol w="791975">
                  <a:extLst>
                    <a:ext uri="{9D8B030D-6E8A-4147-A177-3AD203B41FA5}">
                      <a16:colId xmlns:a16="http://schemas.microsoft.com/office/drawing/2014/main" val="20001"/>
                    </a:ext>
                  </a:extLst>
                </a:gridCol>
                <a:gridCol w="791975">
                  <a:extLst>
                    <a:ext uri="{9D8B030D-6E8A-4147-A177-3AD203B41FA5}">
                      <a16:colId xmlns:a16="http://schemas.microsoft.com/office/drawing/2014/main" val="20002"/>
                    </a:ext>
                  </a:extLst>
                </a:gridCol>
                <a:gridCol w="791975">
                  <a:extLst>
                    <a:ext uri="{9D8B030D-6E8A-4147-A177-3AD203B41FA5}">
                      <a16:colId xmlns:a16="http://schemas.microsoft.com/office/drawing/2014/main" val="20003"/>
                    </a:ext>
                  </a:extLst>
                </a:gridCol>
              </a:tblGrid>
              <a:tr h="277750">
                <a:tc>
                  <a:txBody>
                    <a:bodyPr/>
                    <a:lstStyle/>
                    <a:p>
                      <a:pPr marL="0" lvl="0" indent="0" algn="ctr" rtl="0">
                        <a:spcBef>
                          <a:spcPts val="0"/>
                        </a:spcBef>
                        <a:spcAft>
                          <a:spcPts val="0"/>
                        </a:spcAft>
                        <a:buNone/>
                      </a:pPr>
                      <a:r>
                        <a:rPr lang="en" sz="1100"/>
                        <a:t>min</a:t>
                      </a:r>
                      <a:endParaRPr sz="1100"/>
                    </a:p>
                  </a:txBody>
                  <a:tcPr marL="91425" marR="91425" marT="91425" marB="91425"/>
                </a:tc>
                <a:tc>
                  <a:txBody>
                    <a:bodyPr/>
                    <a:lstStyle/>
                    <a:p>
                      <a:pPr marL="0" lvl="0" indent="0" algn="ctr" rtl="0">
                        <a:spcBef>
                          <a:spcPts val="0"/>
                        </a:spcBef>
                        <a:spcAft>
                          <a:spcPts val="0"/>
                        </a:spcAft>
                        <a:buNone/>
                      </a:pPr>
                      <a:r>
                        <a:rPr lang="en" sz="1100"/>
                        <a:t>max</a:t>
                      </a:r>
                      <a:endParaRPr sz="1100"/>
                    </a:p>
                  </a:txBody>
                  <a:tcPr marL="91425" marR="91425" marT="91425" marB="91425"/>
                </a:tc>
                <a:tc>
                  <a:txBody>
                    <a:bodyPr/>
                    <a:lstStyle/>
                    <a:p>
                      <a:pPr marL="0" lvl="0" indent="0" algn="ctr" rtl="0">
                        <a:spcBef>
                          <a:spcPts val="0"/>
                        </a:spcBef>
                        <a:spcAft>
                          <a:spcPts val="0"/>
                        </a:spcAft>
                        <a:buNone/>
                      </a:pPr>
                      <a:r>
                        <a:rPr lang="en" sz="1100"/>
                        <a:t>median </a:t>
                      </a:r>
                      <a:endParaRPr sz="1100"/>
                    </a:p>
                  </a:txBody>
                  <a:tcPr marL="91425" marR="91425" marT="91425" marB="91425"/>
                </a:tc>
                <a:tc>
                  <a:txBody>
                    <a:bodyPr/>
                    <a:lstStyle/>
                    <a:p>
                      <a:pPr marL="0" lvl="0" indent="0" algn="ctr" rtl="0">
                        <a:spcBef>
                          <a:spcPts val="0"/>
                        </a:spcBef>
                        <a:spcAft>
                          <a:spcPts val="0"/>
                        </a:spcAft>
                        <a:buNone/>
                      </a:pPr>
                      <a:r>
                        <a:rPr lang="en" sz="1100"/>
                        <a:t>std</a:t>
                      </a:r>
                      <a:endParaRPr sz="1100"/>
                    </a:p>
                  </a:txBody>
                  <a:tcPr marL="91425" marR="91425" marT="91425" marB="91425"/>
                </a:tc>
                <a:extLst>
                  <a:ext uri="{0D108BD9-81ED-4DB2-BD59-A6C34878D82A}">
                    <a16:rowId xmlns:a16="http://schemas.microsoft.com/office/drawing/2014/main" val="10000"/>
                  </a:ext>
                </a:extLst>
              </a:tr>
              <a:tr h="393875">
                <a:tc>
                  <a:txBody>
                    <a:bodyPr/>
                    <a:lstStyle/>
                    <a:p>
                      <a:pPr marL="0" lvl="0" indent="0" algn="ctr" rtl="0">
                        <a:spcBef>
                          <a:spcPts val="0"/>
                        </a:spcBef>
                        <a:spcAft>
                          <a:spcPts val="0"/>
                        </a:spcAft>
                        <a:buNone/>
                      </a:pPr>
                      <a:r>
                        <a:rPr lang="en"/>
                        <a:t>0</a:t>
                      </a:r>
                      <a:endParaRPr/>
                    </a:p>
                  </a:txBody>
                  <a:tcPr marL="91425" marR="91425" marT="91425" marB="91425"/>
                </a:tc>
                <a:tc>
                  <a:txBody>
                    <a:bodyPr/>
                    <a:lstStyle/>
                    <a:p>
                      <a:pPr marL="0" lvl="0" indent="0" algn="ctr" rtl="0">
                        <a:spcBef>
                          <a:spcPts val="0"/>
                        </a:spcBef>
                        <a:spcAft>
                          <a:spcPts val="0"/>
                        </a:spcAft>
                        <a:buNone/>
                      </a:pPr>
                      <a:r>
                        <a:rPr lang="en"/>
                        <a:t>10,785</a:t>
                      </a:r>
                      <a:endParaRPr/>
                    </a:p>
                  </a:txBody>
                  <a:tcPr marL="91425" marR="91425" marT="91425" marB="91425"/>
                </a:tc>
                <a:tc>
                  <a:txBody>
                    <a:bodyPr/>
                    <a:lstStyle/>
                    <a:p>
                      <a:pPr marL="0" lvl="0" indent="0" algn="ctr" rtl="0">
                        <a:spcBef>
                          <a:spcPts val="0"/>
                        </a:spcBef>
                        <a:spcAft>
                          <a:spcPts val="0"/>
                        </a:spcAft>
                        <a:buNone/>
                      </a:pPr>
                      <a:r>
                        <a:rPr lang="en"/>
                        <a:t>23</a:t>
                      </a:r>
                      <a:endParaRPr/>
                    </a:p>
                  </a:txBody>
                  <a:tcPr marL="91425" marR="91425" marT="91425" marB="91425"/>
                </a:tc>
                <a:tc>
                  <a:txBody>
                    <a:bodyPr/>
                    <a:lstStyle/>
                    <a:p>
                      <a:pPr marL="0" lvl="0" indent="0" algn="ctr" rtl="0">
                        <a:spcBef>
                          <a:spcPts val="0"/>
                        </a:spcBef>
                        <a:spcAft>
                          <a:spcPts val="0"/>
                        </a:spcAft>
                        <a:buNone/>
                      </a:pPr>
                      <a:r>
                        <a:rPr lang="en"/>
                        <a:t>168</a:t>
                      </a:r>
                      <a:endParaRPr/>
                    </a:p>
                  </a:txBody>
                  <a:tcPr marL="91425" marR="91425" marT="91425" marB="91425"/>
                </a:tc>
                <a:extLst>
                  <a:ext uri="{0D108BD9-81ED-4DB2-BD59-A6C34878D82A}">
                    <a16:rowId xmlns:a16="http://schemas.microsoft.com/office/drawing/2014/main" val="10001"/>
                  </a:ext>
                </a:extLst>
              </a:tr>
            </a:tbl>
          </a:graphicData>
        </a:graphic>
      </p:graphicFrame>
      <p:sp>
        <p:nvSpPr>
          <p:cNvPr id="268" name="Google Shape;268;g31747919a0d_0_12"/>
          <p:cNvSpPr txBox="1"/>
          <p:nvPr/>
        </p:nvSpPr>
        <p:spPr>
          <a:xfrm>
            <a:off x="4552075" y="1561650"/>
            <a:ext cx="3827700" cy="446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800">
              <a:solidFill>
                <a:schemeClr val="dk2"/>
              </a:solidFill>
            </a:endParaRPr>
          </a:p>
        </p:txBody>
      </p:sp>
      <p:sp>
        <p:nvSpPr>
          <p:cNvPr id="269" name="Google Shape;269;g31747919a0d_0_12"/>
          <p:cNvSpPr txBox="1"/>
          <p:nvPr/>
        </p:nvSpPr>
        <p:spPr>
          <a:xfrm>
            <a:off x="359275" y="727325"/>
            <a:ext cx="3827700" cy="446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200" b="1">
              <a:solidFill>
                <a:schemeClr val="dk2"/>
              </a:solidFill>
            </a:endParaRPr>
          </a:p>
        </p:txBody>
      </p:sp>
      <p:pic>
        <p:nvPicPr>
          <p:cNvPr id="270" name="Google Shape;270;g31747919a0d_0_12"/>
          <p:cNvPicPr preferRelativeResize="0"/>
          <p:nvPr/>
        </p:nvPicPr>
        <p:blipFill>
          <a:blip r:embed="rId4">
            <a:alphaModFix/>
          </a:blip>
          <a:stretch>
            <a:fillRect/>
          </a:stretch>
        </p:blipFill>
        <p:spPr>
          <a:xfrm>
            <a:off x="430763" y="1000363"/>
            <a:ext cx="3939118" cy="2882275"/>
          </a:xfrm>
          <a:prstGeom prst="rect">
            <a:avLst/>
          </a:prstGeom>
          <a:noFill/>
          <a:ln>
            <a:noFill/>
          </a:ln>
        </p:spPr>
      </p:pic>
      <p:pic>
        <p:nvPicPr>
          <p:cNvPr id="271" name="Google Shape;271;g31747919a0d_0_12"/>
          <p:cNvPicPr preferRelativeResize="0"/>
          <p:nvPr/>
        </p:nvPicPr>
        <p:blipFill>
          <a:blip r:embed="rId5">
            <a:alphaModFix/>
          </a:blip>
          <a:stretch>
            <a:fillRect/>
          </a:stretch>
        </p:blipFill>
        <p:spPr>
          <a:xfrm>
            <a:off x="5008825" y="1032325"/>
            <a:ext cx="3908975" cy="291082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75"/>
        <p:cNvGrpSpPr/>
        <p:nvPr/>
      </p:nvGrpSpPr>
      <p:grpSpPr>
        <a:xfrm>
          <a:off x="0" y="0"/>
          <a:ext cx="0" cy="0"/>
          <a:chOff x="0" y="0"/>
          <a:chExt cx="0" cy="0"/>
        </a:xfrm>
      </p:grpSpPr>
      <p:sp>
        <p:nvSpPr>
          <p:cNvPr id="276" name="Google Shape;276;g31747919a0d_0_7"/>
          <p:cNvSpPr txBox="1"/>
          <p:nvPr/>
        </p:nvSpPr>
        <p:spPr>
          <a:xfrm>
            <a:off x="250000" y="321625"/>
            <a:ext cx="8520600" cy="572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 sz="2800">
                <a:solidFill>
                  <a:srgbClr val="002D45"/>
                </a:solidFill>
                <a:latin typeface="Montserrat"/>
                <a:ea typeface="Montserrat"/>
                <a:cs typeface="Montserrat"/>
                <a:sym typeface="Montserrat"/>
              </a:rPr>
              <a:t>Topic Modeling Pipeline</a:t>
            </a:r>
            <a:endParaRPr sz="2800" b="0" i="0" u="none" strike="noStrike" cap="none">
              <a:solidFill>
                <a:srgbClr val="002D45"/>
              </a:solidFill>
              <a:latin typeface="Montserrat"/>
              <a:ea typeface="Montserrat"/>
              <a:cs typeface="Montserrat"/>
              <a:sym typeface="Montserrat"/>
            </a:endParaRPr>
          </a:p>
        </p:txBody>
      </p:sp>
      <p:sp>
        <p:nvSpPr>
          <p:cNvPr id="277" name="Google Shape;277;g31747919a0d_0_7"/>
          <p:cNvSpPr txBox="1"/>
          <p:nvPr/>
        </p:nvSpPr>
        <p:spPr>
          <a:xfrm>
            <a:off x="311700" y="845675"/>
            <a:ext cx="8520600" cy="3329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400"/>
              <a:buFont typeface="Arial"/>
              <a:buNone/>
            </a:pPr>
            <a:r>
              <a:rPr lang="en" sz="1300" b="1">
                <a:solidFill>
                  <a:schemeClr val="dk2"/>
                </a:solidFill>
                <a:latin typeface="Open Sans"/>
                <a:ea typeface="Open Sans"/>
                <a:cs typeface="Open Sans"/>
                <a:sym typeface="Open Sans"/>
              </a:rPr>
              <a:t>Goal:</a:t>
            </a:r>
            <a:r>
              <a:rPr lang="en" sz="1300">
                <a:solidFill>
                  <a:schemeClr val="dk2"/>
                </a:solidFill>
                <a:latin typeface="Open Sans Light"/>
                <a:ea typeface="Open Sans Light"/>
                <a:cs typeface="Open Sans Light"/>
                <a:sym typeface="Open Sans Light"/>
              </a:rPr>
              <a:t> Remove articles related to consumer technology and error messages</a:t>
            </a:r>
            <a:endParaRPr sz="1300">
              <a:solidFill>
                <a:schemeClr val="dk2"/>
              </a:solidFill>
              <a:latin typeface="Open Sans Light"/>
              <a:ea typeface="Open Sans Light"/>
              <a:cs typeface="Open Sans Light"/>
              <a:sym typeface="Open Sans Light"/>
            </a:endParaRPr>
          </a:p>
          <a:p>
            <a:pPr marL="0" marR="0" lvl="0" indent="0" algn="l" rtl="0">
              <a:lnSpc>
                <a:spcPct val="115000"/>
              </a:lnSpc>
              <a:spcBef>
                <a:spcPts val="0"/>
              </a:spcBef>
              <a:spcAft>
                <a:spcPts val="0"/>
              </a:spcAft>
              <a:buClr>
                <a:schemeClr val="dk1"/>
              </a:buClr>
              <a:buSzPts val="1400"/>
              <a:buFont typeface="Arial"/>
              <a:buNone/>
            </a:pPr>
            <a:endParaRPr sz="1300">
              <a:solidFill>
                <a:schemeClr val="dk2"/>
              </a:solidFill>
              <a:latin typeface="Open Sans Light"/>
              <a:ea typeface="Open Sans Light"/>
              <a:cs typeface="Open Sans Light"/>
              <a:sym typeface="Open Sans Light"/>
            </a:endParaRPr>
          </a:p>
          <a:p>
            <a:pPr marL="0" marR="0" lvl="0" indent="0" algn="l" rtl="0">
              <a:lnSpc>
                <a:spcPct val="115000"/>
              </a:lnSpc>
              <a:spcBef>
                <a:spcPts val="0"/>
              </a:spcBef>
              <a:spcAft>
                <a:spcPts val="0"/>
              </a:spcAft>
              <a:buClr>
                <a:schemeClr val="dk1"/>
              </a:buClr>
              <a:buSzPts val="1400"/>
              <a:buFont typeface="Arial"/>
              <a:buNone/>
            </a:pPr>
            <a:r>
              <a:rPr lang="en" sz="1300" b="1">
                <a:solidFill>
                  <a:schemeClr val="dk2"/>
                </a:solidFill>
                <a:latin typeface="Open Sans"/>
                <a:ea typeface="Open Sans"/>
                <a:cs typeface="Open Sans"/>
                <a:sym typeface="Open Sans"/>
              </a:rPr>
              <a:t>BERTopic: </a:t>
            </a:r>
            <a:r>
              <a:rPr lang="en" sz="1300">
                <a:solidFill>
                  <a:schemeClr val="dk2"/>
                </a:solidFill>
                <a:latin typeface="Open Sans Light"/>
                <a:ea typeface="Open Sans Light"/>
                <a:cs typeface="Open Sans Light"/>
                <a:sym typeface="Open Sans Light"/>
              </a:rPr>
              <a:t>Python library which can help us to categorize and extract keywords from tech news articles</a:t>
            </a:r>
            <a:endParaRPr sz="1300">
              <a:solidFill>
                <a:schemeClr val="dk2"/>
              </a:solidFill>
              <a:latin typeface="Open Sans Light"/>
              <a:ea typeface="Open Sans Light"/>
              <a:cs typeface="Open Sans Light"/>
              <a:sym typeface="Open Sans Light"/>
            </a:endParaRPr>
          </a:p>
          <a:p>
            <a:pPr marL="0" marR="0" lvl="0" indent="0" algn="l" rtl="0">
              <a:lnSpc>
                <a:spcPct val="115000"/>
              </a:lnSpc>
              <a:spcBef>
                <a:spcPts val="0"/>
              </a:spcBef>
              <a:spcAft>
                <a:spcPts val="0"/>
              </a:spcAft>
              <a:buClr>
                <a:schemeClr val="dk1"/>
              </a:buClr>
              <a:buSzPts val="1400"/>
              <a:buFont typeface="Arial"/>
              <a:buNone/>
            </a:pPr>
            <a:endParaRPr sz="1300">
              <a:solidFill>
                <a:schemeClr val="dk2"/>
              </a:solidFill>
              <a:latin typeface="Open Sans Light"/>
              <a:ea typeface="Open Sans Light"/>
              <a:cs typeface="Open Sans Light"/>
              <a:sym typeface="Open Sans Light"/>
            </a:endParaRPr>
          </a:p>
          <a:p>
            <a:pPr marL="0" marR="0" lvl="0" indent="0" algn="l" rtl="0">
              <a:lnSpc>
                <a:spcPct val="115000"/>
              </a:lnSpc>
              <a:spcBef>
                <a:spcPts val="0"/>
              </a:spcBef>
              <a:spcAft>
                <a:spcPts val="0"/>
              </a:spcAft>
              <a:buClr>
                <a:schemeClr val="dk1"/>
              </a:buClr>
              <a:buSzPts val="1400"/>
              <a:buFont typeface="Arial"/>
              <a:buNone/>
            </a:pPr>
            <a:r>
              <a:rPr lang="en" sz="1300" b="1">
                <a:solidFill>
                  <a:schemeClr val="dk2"/>
                </a:solidFill>
                <a:latin typeface="Open Sans"/>
                <a:ea typeface="Open Sans"/>
                <a:cs typeface="Open Sans"/>
                <a:sym typeface="Open Sans"/>
              </a:rPr>
              <a:t>Groq: </a:t>
            </a:r>
            <a:r>
              <a:rPr lang="en" sz="1300">
                <a:solidFill>
                  <a:schemeClr val="dk2"/>
                </a:solidFill>
                <a:latin typeface="Open Sans Light"/>
                <a:ea typeface="Open Sans Light"/>
                <a:cs typeface="Open Sans Light"/>
                <a:sym typeface="Open Sans Light"/>
              </a:rPr>
              <a:t>free AI Cloud where we can use various fine-tuned large language model (e.g. Llamma3, gemma, whisper)</a:t>
            </a:r>
            <a:endParaRPr sz="1300">
              <a:solidFill>
                <a:schemeClr val="dk2"/>
              </a:solidFill>
              <a:latin typeface="Open Sans Light"/>
              <a:ea typeface="Open Sans Light"/>
              <a:cs typeface="Open Sans Light"/>
              <a:sym typeface="Open Sans Light"/>
            </a:endParaRPr>
          </a:p>
          <a:p>
            <a:pPr marL="0" marR="0" lvl="0" indent="0" algn="l" rtl="0">
              <a:lnSpc>
                <a:spcPct val="115000"/>
              </a:lnSpc>
              <a:spcBef>
                <a:spcPts val="0"/>
              </a:spcBef>
              <a:spcAft>
                <a:spcPts val="600"/>
              </a:spcAft>
              <a:buClr>
                <a:srgbClr val="000000"/>
              </a:buClr>
              <a:buSzPts val="1400"/>
              <a:buFont typeface="Arial"/>
              <a:buNone/>
            </a:pPr>
            <a:endParaRPr sz="1400" b="0" i="0" u="none" strike="noStrike" cap="none">
              <a:solidFill>
                <a:schemeClr val="dk2"/>
              </a:solidFill>
              <a:latin typeface="Open Sans Light"/>
              <a:ea typeface="Open Sans Light"/>
              <a:cs typeface="Open Sans Light"/>
              <a:sym typeface="Open Sans Light"/>
            </a:endParaRPr>
          </a:p>
        </p:txBody>
      </p:sp>
      <p:sp>
        <p:nvSpPr>
          <p:cNvPr id="278" name="Google Shape;278;g31747919a0d_0_7"/>
          <p:cNvSpPr txBox="1"/>
          <p:nvPr/>
        </p:nvSpPr>
        <p:spPr>
          <a:xfrm>
            <a:off x="6237675" y="3605525"/>
            <a:ext cx="2673300" cy="460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800">
              <a:solidFill>
                <a:schemeClr val="dk2"/>
              </a:solidFill>
            </a:endParaRPr>
          </a:p>
        </p:txBody>
      </p:sp>
      <p:pic>
        <p:nvPicPr>
          <p:cNvPr id="279" name="Google Shape;279;g31747919a0d_0_7"/>
          <p:cNvPicPr preferRelativeResize="0"/>
          <p:nvPr/>
        </p:nvPicPr>
        <p:blipFill rotWithShape="1">
          <a:blip r:embed="rId4">
            <a:alphaModFix/>
          </a:blip>
          <a:srcRect t="6864"/>
          <a:stretch/>
        </p:blipFill>
        <p:spPr>
          <a:xfrm>
            <a:off x="756525" y="2170800"/>
            <a:ext cx="7630950" cy="28232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83"/>
        <p:cNvGrpSpPr/>
        <p:nvPr/>
      </p:nvGrpSpPr>
      <p:grpSpPr>
        <a:xfrm>
          <a:off x="0" y="0"/>
          <a:ext cx="0" cy="0"/>
          <a:chOff x="0" y="0"/>
          <a:chExt cx="0" cy="0"/>
        </a:xfrm>
      </p:grpSpPr>
      <p:sp>
        <p:nvSpPr>
          <p:cNvPr id="284" name="Google Shape;284;g31381c18348_0_0"/>
          <p:cNvSpPr txBox="1"/>
          <p:nvPr/>
        </p:nvSpPr>
        <p:spPr>
          <a:xfrm>
            <a:off x="311700" y="374775"/>
            <a:ext cx="8520600" cy="572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 sz="2800">
                <a:solidFill>
                  <a:srgbClr val="002D45"/>
                </a:solidFill>
                <a:latin typeface="Montserrat"/>
                <a:ea typeface="Montserrat"/>
                <a:cs typeface="Montserrat"/>
                <a:sym typeface="Montserrat"/>
              </a:rPr>
              <a:t>Topic Modeling Results</a:t>
            </a:r>
            <a:endParaRPr sz="2800" b="0" i="0" u="none" strike="noStrike" cap="none">
              <a:solidFill>
                <a:srgbClr val="002D45"/>
              </a:solidFill>
              <a:latin typeface="Montserrat"/>
              <a:ea typeface="Montserrat"/>
              <a:cs typeface="Montserrat"/>
              <a:sym typeface="Montserrat"/>
            </a:endParaRPr>
          </a:p>
        </p:txBody>
      </p:sp>
      <p:sp>
        <p:nvSpPr>
          <p:cNvPr id="285" name="Google Shape;285;g31381c18348_0_0"/>
          <p:cNvSpPr txBox="1"/>
          <p:nvPr/>
        </p:nvSpPr>
        <p:spPr>
          <a:xfrm>
            <a:off x="311700" y="1302700"/>
            <a:ext cx="8520600" cy="33294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1"/>
              </a:buClr>
              <a:buSzPts val="1400"/>
              <a:buFont typeface="Arial"/>
              <a:buNone/>
            </a:pPr>
            <a:endParaRPr sz="1400" b="0" i="0" u="none" strike="noStrike" cap="none">
              <a:solidFill>
                <a:schemeClr val="dk2"/>
              </a:solidFill>
              <a:latin typeface="Open Sans Light"/>
              <a:ea typeface="Open Sans Light"/>
              <a:cs typeface="Open Sans Light"/>
              <a:sym typeface="Open Sans Light"/>
            </a:endParaRPr>
          </a:p>
          <a:p>
            <a:pPr marL="0" marR="0" lvl="0" indent="0" algn="l" rtl="0">
              <a:lnSpc>
                <a:spcPct val="115000"/>
              </a:lnSpc>
              <a:spcBef>
                <a:spcPts val="0"/>
              </a:spcBef>
              <a:spcAft>
                <a:spcPts val="600"/>
              </a:spcAft>
              <a:buClr>
                <a:srgbClr val="000000"/>
              </a:buClr>
              <a:buSzPts val="1400"/>
              <a:buFont typeface="Arial"/>
              <a:buNone/>
            </a:pPr>
            <a:endParaRPr sz="1400" b="0" i="0" u="none" strike="noStrike" cap="none">
              <a:solidFill>
                <a:schemeClr val="dk2"/>
              </a:solidFill>
              <a:latin typeface="Open Sans Light"/>
              <a:ea typeface="Open Sans Light"/>
              <a:cs typeface="Open Sans Light"/>
              <a:sym typeface="Open Sans Light"/>
            </a:endParaRPr>
          </a:p>
        </p:txBody>
      </p:sp>
      <p:pic>
        <p:nvPicPr>
          <p:cNvPr id="286" name="Google Shape;286;g31381c18348_0_0"/>
          <p:cNvPicPr preferRelativeResize="0"/>
          <p:nvPr/>
        </p:nvPicPr>
        <p:blipFill>
          <a:blip r:embed="rId4">
            <a:alphaModFix/>
          </a:blip>
          <a:stretch>
            <a:fillRect/>
          </a:stretch>
        </p:blipFill>
        <p:spPr>
          <a:xfrm>
            <a:off x="311700" y="1385175"/>
            <a:ext cx="3710774" cy="3246925"/>
          </a:xfrm>
          <a:prstGeom prst="rect">
            <a:avLst/>
          </a:prstGeom>
          <a:noFill/>
          <a:ln>
            <a:noFill/>
          </a:ln>
        </p:spPr>
      </p:pic>
      <p:sp>
        <p:nvSpPr>
          <p:cNvPr id="287" name="Google Shape;287;g31381c18348_0_0"/>
          <p:cNvSpPr txBox="1"/>
          <p:nvPr/>
        </p:nvSpPr>
        <p:spPr>
          <a:xfrm>
            <a:off x="311700" y="947475"/>
            <a:ext cx="4027200" cy="460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500" b="1">
                <a:solidFill>
                  <a:schemeClr val="dk2"/>
                </a:solidFill>
              </a:rPr>
              <a:t>80,000 Tech News Articles before filtering </a:t>
            </a:r>
            <a:endParaRPr sz="1500" b="1">
              <a:solidFill>
                <a:schemeClr val="dk2"/>
              </a:solidFill>
            </a:endParaRPr>
          </a:p>
        </p:txBody>
      </p:sp>
      <p:sp>
        <p:nvSpPr>
          <p:cNvPr id="288" name="Google Shape;288;g31381c18348_0_0"/>
          <p:cNvSpPr txBox="1"/>
          <p:nvPr/>
        </p:nvSpPr>
        <p:spPr>
          <a:xfrm>
            <a:off x="4928450" y="970275"/>
            <a:ext cx="3996000" cy="414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500" b="1">
                <a:solidFill>
                  <a:schemeClr val="dk2"/>
                </a:solidFill>
              </a:rPr>
              <a:t>12,269 Tech News Articles after filtering</a:t>
            </a:r>
            <a:endParaRPr sz="1500" b="1">
              <a:solidFill>
                <a:schemeClr val="dk2"/>
              </a:solidFill>
            </a:endParaRPr>
          </a:p>
        </p:txBody>
      </p:sp>
      <p:pic>
        <p:nvPicPr>
          <p:cNvPr id="289" name="Google Shape;289;g31381c18348_0_0"/>
          <p:cNvPicPr preferRelativeResize="0"/>
          <p:nvPr/>
        </p:nvPicPr>
        <p:blipFill>
          <a:blip r:embed="rId5">
            <a:alphaModFix/>
          </a:blip>
          <a:stretch>
            <a:fillRect/>
          </a:stretch>
        </p:blipFill>
        <p:spPr>
          <a:xfrm>
            <a:off x="4157650" y="1302700"/>
            <a:ext cx="4853550" cy="3640149"/>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93"/>
        <p:cNvGrpSpPr/>
        <p:nvPr/>
      </p:nvGrpSpPr>
      <p:grpSpPr>
        <a:xfrm>
          <a:off x="0" y="0"/>
          <a:ext cx="0" cy="0"/>
          <a:chOff x="0" y="0"/>
          <a:chExt cx="0" cy="0"/>
        </a:xfrm>
      </p:grpSpPr>
      <p:sp>
        <p:nvSpPr>
          <p:cNvPr id="294" name="Google Shape;294;g315f99d6be6_0_36"/>
          <p:cNvSpPr txBox="1"/>
          <p:nvPr/>
        </p:nvSpPr>
        <p:spPr>
          <a:xfrm>
            <a:off x="311700" y="390475"/>
            <a:ext cx="8520600" cy="572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 sz="2800">
                <a:solidFill>
                  <a:srgbClr val="002D45"/>
                </a:solidFill>
                <a:latin typeface="Montserrat"/>
                <a:ea typeface="Montserrat"/>
                <a:cs typeface="Montserrat"/>
                <a:sym typeface="Montserrat"/>
              </a:rPr>
              <a:t>Topic Modeling Results</a:t>
            </a:r>
            <a:endParaRPr sz="2800" b="0" i="0" u="none" strike="noStrike" cap="none">
              <a:solidFill>
                <a:srgbClr val="002D45"/>
              </a:solidFill>
              <a:latin typeface="Montserrat"/>
              <a:ea typeface="Montserrat"/>
              <a:cs typeface="Montserrat"/>
              <a:sym typeface="Montserrat"/>
            </a:endParaRPr>
          </a:p>
        </p:txBody>
      </p:sp>
      <p:pic>
        <p:nvPicPr>
          <p:cNvPr id="295" name="Google Shape;295;g315f99d6be6_0_36"/>
          <p:cNvPicPr preferRelativeResize="0"/>
          <p:nvPr/>
        </p:nvPicPr>
        <p:blipFill>
          <a:blip r:embed="rId4">
            <a:alphaModFix/>
          </a:blip>
          <a:stretch>
            <a:fillRect/>
          </a:stretch>
        </p:blipFill>
        <p:spPr>
          <a:xfrm>
            <a:off x="1172575" y="1534075"/>
            <a:ext cx="6538351" cy="3341650"/>
          </a:xfrm>
          <a:prstGeom prst="rect">
            <a:avLst/>
          </a:prstGeom>
          <a:noFill/>
          <a:ln>
            <a:noFill/>
          </a:ln>
        </p:spPr>
      </p:pic>
      <p:sp>
        <p:nvSpPr>
          <p:cNvPr id="296" name="Google Shape;296;g315f99d6be6_0_36"/>
          <p:cNvSpPr txBox="1"/>
          <p:nvPr/>
        </p:nvSpPr>
        <p:spPr>
          <a:xfrm>
            <a:off x="311700" y="1007125"/>
            <a:ext cx="8151900" cy="460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chemeClr val="dk2"/>
                </a:solidFill>
              </a:rPr>
              <a:t>The topic “Digital Project Management Solutions” has the greatest number of articles in the engine</a:t>
            </a:r>
            <a:endParaRPr sz="1300">
              <a:solidFill>
                <a:schemeClr val="dk2"/>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00"/>
        <p:cNvGrpSpPr/>
        <p:nvPr/>
      </p:nvGrpSpPr>
      <p:grpSpPr>
        <a:xfrm>
          <a:off x="0" y="0"/>
          <a:ext cx="0" cy="0"/>
          <a:chOff x="0" y="0"/>
          <a:chExt cx="0" cy="0"/>
        </a:xfrm>
      </p:grpSpPr>
      <p:sp>
        <p:nvSpPr>
          <p:cNvPr id="301" name="Google Shape;301;g315c8fdcda6_0_1"/>
          <p:cNvSpPr txBox="1"/>
          <p:nvPr/>
        </p:nvSpPr>
        <p:spPr>
          <a:xfrm>
            <a:off x="311700" y="551106"/>
            <a:ext cx="8520600" cy="4041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800"/>
              <a:buFont typeface="Arial"/>
              <a:buNone/>
            </a:pPr>
            <a:r>
              <a:rPr lang="en" sz="2800">
                <a:solidFill>
                  <a:srgbClr val="002D45"/>
                </a:solidFill>
                <a:latin typeface="Montserrat"/>
                <a:ea typeface="Montserrat"/>
                <a:cs typeface="Montserrat"/>
                <a:sym typeface="Montserrat"/>
              </a:rPr>
              <a:t>Entity Relationship Mapping</a:t>
            </a:r>
            <a:endParaRPr sz="2800" b="0" i="0" u="none" strike="noStrike" cap="none">
              <a:solidFill>
                <a:srgbClr val="002D45"/>
              </a:solidFill>
              <a:latin typeface="Montserrat"/>
              <a:ea typeface="Montserrat"/>
              <a:cs typeface="Montserrat"/>
              <a:sym typeface="Montserrat"/>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05"/>
        <p:cNvGrpSpPr/>
        <p:nvPr/>
      </p:nvGrpSpPr>
      <p:grpSpPr>
        <a:xfrm>
          <a:off x="0" y="0"/>
          <a:ext cx="0" cy="0"/>
          <a:chOff x="0" y="0"/>
          <a:chExt cx="0" cy="0"/>
        </a:xfrm>
      </p:grpSpPr>
      <p:sp>
        <p:nvSpPr>
          <p:cNvPr id="306" name="Google Shape;306;g315c8fdcda6_0_40"/>
          <p:cNvSpPr txBox="1"/>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 sz="2800">
                <a:solidFill>
                  <a:srgbClr val="002D45"/>
                </a:solidFill>
                <a:latin typeface="Montserrat"/>
                <a:ea typeface="Montserrat"/>
                <a:cs typeface="Montserrat"/>
                <a:sym typeface="Montserrat"/>
              </a:rPr>
              <a:t>Topic Entity Relationship Mapping</a:t>
            </a:r>
            <a:endParaRPr sz="2800" b="0" i="0" u="none" strike="noStrike" cap="none">
              <a:solidFill>
                <a:srgbClr val="002D45"/>
              </a:solidFill>
              <a:latin typeface="Montserrat"/>
              <a:ea typeface="Montserrat"/>
              <a:cs typeface="Montserrat"/>
              <a:sym typeface="Montserrat"/>
            </a:endParaRPr>
          </a:p>
        </p:txBody>
      </p:sp>
      <p:pic>
        <p:nvPicPr>
          <p:cNvPr id="307" name="Google Shape;307;g315c8fdcda6_0_40"/>
          <p:cNvPicPr preferRelativeResize="0"/>
          <p:nvPr/>
        </p:nvPicPr>
        <p:blipFill rotWithShape="1">
          <a:blip r:embed="rId4">
            <a:alphaModFix/>
          </a:blip>
          <a:srcRect l="5342" r="9449"/>
          <a:stretch/>
        </p:blipFill>
        <p:spPr>
          <a:xfrm>
            <a:off x="5221275" y="1184375"/>
            <a:ext cx="3317375" cy="3481425"/>
          </a:xfrm>
          <a:prstGeom prst="rect">
            <a:avLst/>
          </a:prstGeom>
          <a:noFill/>
          <a:ln>
            <a:noFill/>
          </a:ln>
        </p:spPr>
      </p:pic>
      <p:sp>
        <p:nvSpPr>
          <p:cNvPr id="308" name="Google Shape;308;g315c8fdcda6_0_40"/>
          <p:cNvSpPr txBox="1"/>
          <p:nvPr/>
        </p:nvSpPr>
        <p:spPr>
          <a:xfrm>
            <a:off x="387275" y="1556600"/>
            <a:ext cx="4387800" cy="1579200"/>
          </a:xfrm>
          <a:prstGeom prst="rect">
            <a:avLst/>
          </a:prstGeom>
          <a:noFill/>
          <a:ln>
            <a:noFill/>
          </a:ln>
        </p:spPr>
        <p:txBody>
          <a:bodyPr spcFirstLastPara="1" wrap="square" lIns="91425" tIns="91425" rIns="91425" bIns="91425" anchor="t" anchorCtr="0">
            <a:noAutofit/>
          </a:bodyPr>
          <a:lstStyle/>
          <a:p>
            <a:pPr marL="457200" lvl="0" indent="-298450" algn="l" rtl="0">
              <a:lnSpc>
                <a:spcPct val="115000"/>
              </a:lnSpc>
              <a:spcBef>
                <a:spcPts val="1200"/>
              </a:spcBef>
              <a:spcAft>
                <a:spcPts val="0"/>
              </a:spcAft>
              <a:buClr>
                <a:schemeClr val="dk1"/>
              </a:buClr>
              <a:buSzPts val="1100"/>
              <a:buChar char="●"/>
            </a:pPr>
            <a:r>
              <a:rPr lang="en">
                <a:solidFill>
                  <a:schemeClr val="dk2"/>
                </a:solidFill>
                <a:latin typeface="Open Sans Light"/>
                <a:ea typeface="Open Sans Light"/>
                <a:cs typeface="Open Sans Light"/>
                <a:sym typeface="Open Sans Light"/>
              </a:rPr>
              <a:t>Categorized organizations based on the industries or technologies they invest in with the first column listing industry types and the second column showing the corresponding organizations</a:t>
            </a:r>
            <a:endParaRPr>
              <a:solidFill>
                <a:schemeClr val="dk2"/>
              </a:solidFill>
              <a:latin typeface="Open Sans Light"/>
              <a:ea typeface="Open Sans Light"/>
              <a:cs typeface="Open Sans Light"/>
              <a:sym typeface="Open Sans Light"/>
            </a:endParaRPr>
          </a:p>
          <a:p>
            <a:pPr marL="0" lvl="0" indent="0" algn="l" rtl="0">
              <a:lnSpc>
                <a:spcPct val="115000"/>
              </a:lnSpc>
              <a:spcBef>
                <a:spcPts val="1200"/>
              </a:spcBef>
              <a:spcAft>
                <a:spcPts val="0"/>
              </a:spcAft>
              <a:buNone/>
            </a:pPr>
            <a:endParaRPr>
              <a:solidFill>
                <a:schemeClr val="dk2"/>
              </a:solidFill>
              <a:latin typeface="Open Sans Light"/>
              <a:ea typeface="Open Sans Light"/>
              <a:cs typeface="Open Sans Light"/>
              <a:sym typeface="Open Sans Light"/>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12"/>
        <p:cNvGrpSpPr/>
        <p:nvPr/>
      </p:nvGrpSpPr>
      <p:grpSpPr>
        <a:xfrm>
          <a:off x="0" y="0"/>
          <a:ext cx="0" cy="0"/>
          <a:chOff x="0" y="0"/>
          <a:chExt cx="0" cy="0"/>
        </a:xfrm>
      </p:grpSpPr>
      <p:sp>
        <p:nvSpPr>
          <p:cNvPr id="313" name="Google Shape;313;g315c8fdcda6_0_23"/>
          <p:cNvSpPr txBox="1"/>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 sz="2800">
                <a:solidFill>
                  <a:srgbClr val="002D45"/>
                </a:solidFill>
                <a:latin typeface="Montserrat"/>
                <a:ea typeface="Montserrat"/>
                <a:cs typeface="Montserrat"/>
                <a:sym typeface="Montserrat"/>
              </a:rPr>
              <a:t>Topic Entity Relationship Mapping</a:t>
            </a:r>
            <a:endParaRPr sz="2800" b="0" i="0" u="none" strike="noStrike" cap="none">
              <a:solidFill>
                <a:srgbClr val="002D45"/>
              </a:solidFill>
              <a:latin typeface="Montserrat"/>
              <a:ea typeface="Montserrat"/>
              <a:cs typeface="Montserrat"/>
              <a:sym typeface="Montserrat"/>
            </a:endParaRPr>
          </a:p>
        </p:txBody>
      </p:sp>
      <p:pic>
        <p:nvPicPr>
          <p:cNvPr id="314" name="Google Shape;314;g315c8fdcda6_0_23"/>
          <p:cNvPicPr preferRelativeResize="0"/>
          <p:nvPr/>
        </p:nvPicPr>
        <p:blipFill>
          <a:blip r:embed="rId4">
            <a:alphaModFix/>
          </a:blip>
          <a:stretch>
            <a:fillRect/>
          </a:stretch>
        </p:blipFill>
        <p:spPr>
          <a:xfrm>
            <a:off x="1128450" y="1650450"/>
            <a:ext cx="6350399" cy="3413900"/>
          </a:xfrm>
          <a:prstGeom prst="rect">
            <a:avLst/>
          </a:prstGeom>
          <a:noFill/>
          <a:ln>
            <a:noFill/>
          </a:ln>
        </p:spPr>
      </p:pic>
      <p:sp>
        <p:nvSpPr>
          <p:cNvPr id="315" name="Google Shape;315;g315c8fdcda6_0_23"/>
          <p:cNvSpPr txBox="1"/>
          <p:nvPr/>
        </p:nvSpPr>
        <p:spPr>
          <a:xfrm>
            <a:off x="311700" y="970050"/>
            <a:ext cx="8734500" cy="8409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0"/>
              </a:spcBef>
              <a:spcAft>
                <a:spcPts val="0"/>
              </a:spcAft>
              <a:buClr>
                <a:schemeClr val="dk2"/>
              </a:buClr>
              <a:buSzPts val="1400"/>
              <a:buFont typeface="Open Sans Light"/>
              <a:buChar char="●"/>
            </a:pPr>
            <a:r>
              <a:rPr lang="en">
                <a:solidFill>
                  <a:schemeClr val="dk2"/>
                </a:solidFill>
                <a:latin typeface="Open Sans Light"/>
                <a:ea typeface="Open Sans Light"/>
                <a:cs typeface="Open Sans Light"/>
                <a:sym typeface="Open Sans Light"/>
              </a:rPr>
              <a:t>Developed a bar graph to depict which companies and organizations invested in similar technologies, focusing specifically on the top industries.</a:t>
            </a:r>
            <a:endParaRPr>
              <a:solidFill>
                <a:schemeClr val="dk2"/>
              </a:solidFill>
              <a:latin typeface="Open Sans Light"/>
              <a:ea typeface="Open Sans Light"/>
              <a:cs typeface="Open Sans Light"/>
              <a:sym typeface="Open Sans Light"/>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19"/>
        <p:cNvGrpSpPr/>
        <p:nvPr/>
      </p:nvGrpSpPr>
      <p:grpSpPr>
        <a:xfrm>
          <a:off x="0" y="0"/>
          <a:ext cx="0" cy="0"/>
          <a:chOff x="0" y="0"/>
          <a:chExt cx="0" cy="0"/>
        </a:xfrm>
      </p:grpSpPr>
      <p:sp>
        <p:nvSpPr>
          <p:cNvPr id="320" name="Google Shape;320;g31956de225e_0_5"/>
          <p:cNvSpPr txBox="1"/>
          <p:nvPr/>
        </p:nvSpPr>
        <p:spPr>
          <a:xfrm>
            <a:off x="311700" y="2276252"/>
            <a:ext cx="8520600" cy="591000"/>
          </a:xfrm>
          <a:prstGeom prst="rect">
            <a:avLst/>
          </a:prstGeom>
          <a:noFill/>
          <a:ln>
            <a:noFill/>
          </a:ln>
        </p:spPr>
        <p:txBody>
          <a:bodyPr spcFirstLastPara="1" wrap="square" lIns="91425" tIns="91425" rIns="91425" bIns="91425" anchor="b" anchorCtr="0">
            <a:noAutofit/>
          </a:bodyPr>
          <a:lstStyle/>
          <a:p>
            <a:pPr marL="0" marR="0" lvl="0" indent="0" algn="ctr" rtl="0">
              <a:lnSpc>
                <a:spcPct val="100000"/>
              </a:lnSpc>
              <a:spcBef>
                <a:spcPts val="0"/>
              </a:spcBef>
              <a:spcAft>
                <a:spcPts val="0"/>
              </a:spcAft>
              <a:buClr>
                <a:srgbClr val="000000"/>
              </a:buClr>
              <a:buSzPts val="2800"/>
              <a:buFont typeface="Arial"/>
              <a:buNone/>
            </a:pPr>
            <a:r>
              <a:rPr lang="en" sz="2800">
                <a:solidFill>
                  <a:srgbClr val="002D45"/>
                </a:solidFill>
                <a:latin typeface="Montserrat"/>
                <a:ea typeface="Montserrat"/>
                <a:cs typeface="Montserrat"/>
                <a:sym typeface="Montserrat"/>
              </a:rPr>
              <a:t>Technology News Recommendation System</a:t>
            </a:r>
            <a:endParaRPr sz="2800" b="0" i="0" u="none" strike="noStrike" cap="none">
              <a:solidFill>
                <a:srgbClr val="002D45"/>
              </a:solidFill>
              <a:latin typeface="Montserrat"/>
              <a:ea typeface="Montserrat"/>
              <a:cs typeface="Montserrat"/>
              <a:sym typeface="Montserrat"/>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24"/>
        <p:cNvGrpSpPr/>
        <p:nvPr/>
      </p:nvGrpSpPr>
      <p:grpSpPr>
        <a:xfrm>
          <a:off x="0" y="0"/>
          <a:ext cx="0" cy="0"/>
          <a:chOff x="0" y="0"/>
          <a:chExt cx="0" cy="0"/>
        </a:xfrm>
      </p:grpSpPr>
      <p:sp>
        <p:nvSpPr>
          <p:cNvPr id="325" name="Google Shape;325;g31956de225e_0_0"/>
          <p:cNvSpPr txBox="1"/>
          <p:nvPr/>
        </p:nvSpPr>
        <p:spPr>
          <a:xfrm>
            <a:off x="311700" y="378575"/>
            <a:ext cx="8520600" cy="572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 sz="2800">
                <a:solidFill>
                  <a:srgbClr val="002D45"/>
                </a:solidFill>
                <a:latin typeface="Montserrat"/>
                <a:ea typeface="Montserrat"/>
                <a:cs typeface="Montserrat"/>
                <a:sym typeface="Montserrat"/>
              </a:rPr>
              <a:t>Recommendation System Overview</a:t>
            </a:r>
            <a:endParaRPr sz="2800" b="0" i="0" u="none" strike="noStrike" cap="none">
              <a:solidFill>
                <a:srgbClr val="002D45"/>
              </a:solidFill>
              <a:latin typeface="Montserrat"/>
              <a:ea typeface="Montserrat"/>
              <a:cs typeface="Montserrat"/>
              <a:sym typeface="Montserrat"/>
            </a:endParaRPr>
          </a:p>
        </p:txBody>
      </p:sp>
      <p:sp>
        <p:nvSpPr>
          <p:cNvPr id="326" name="Google Shape;326;g31956de225e_0_0"/>
          <p:cNvSpPr txBox="1"/>
          <p:nvPr/>
        </p:nvSpPr>
        <p:spPr>
          <a:xfrm>
            <a:off x="311700" y="1017725"/>
            <a:ext cx="8520600" cy="3900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1"/>
              </a:buClr>
              <a:buSzPts val="1400"/>
              <a:buFont typeface="Arial"/>
              <a:buNone/>
            </a:pPr>
            <a:r>
              <a:rPr lang="en" b="1">
                <a:solidFill>
                  <a:schemeClr val="dk2"/>
                </a:solidFill>
                <a:latin typeface="Open Sans"/>
                <a:ea typeface="Open Sans"/>
                <a:cs typeface="Open Sans"/>
                <a:sym typeface="Open Sans"/>
              </a:rPr>
              <a:t>Goal:</a:t>
            </a:r>
            <a:r>
              <a:rPr lang="en">
                <a:solidFill>
                  <a:schemeClr val="dk2"/>
                </a:solidFill>
                <a:latin typeface="Open Sans Light"/>
                <a:ea typeface="Open Sans Light"/>
                <a:cs typeface="Open Sans Light"/>
                <a:sym typeface="Open Sans Light"/>
              </a:rPr>
              <a:t> Input a list of relevant articles to a user’s query in a chatbot model and receive a suggestion from the model</a:t>
            </a:r>
            <a:endParaRPr>
              <a:solidFill>
                <a:schemeClr val="dk2"/>
              </a:solidFill>
              <a:latin typeface="Open Sans Light"/>
              <a:ea typeface="Open Sans Light"/>
              <a:cs typeface="Open Sans Light"/>
              <a:sym typeface="Open Sans Light"/>
            </a:endParaRPr>
          </a:p>
          <a:p>
            <a:pPr marL="0" marR="0" lvl="0" indent="0" algn="l" rtl="0">
              <a:lnSpc>
                <a:spcPct val="115000"/>
              </a:lnSpc>
              <a:spcBef>
                <a:spcPts val="0"/>
              </a:spcBef>
              <a:spcAft>
                <a:spcPts val="0"/>
              </a:spcAft>
              <a:buClr>
                <a:schemeClr val="dk1"/>
              </a:buClr>
              <a:buSzPts val="1400"/>
              <a:buFont typeface="Arial"/>
              <a:buNone/>
            </a:pPr>
            <a:endParaRPr>
              <a:solidFill>
                <a:schemeClr val="dk2"/>
              </a:solidFill>
              <a:latin typeface="Open Sans Light"/>
              <a:ea typeface="Open Sans Light"/>
              <a:cs typeface="Open Sans Light"/>
              <a:sym typeface="Open Sans Light"/>
            </a:endParaRPr>
          </a:p>
          <a:p>
            <a:pPr marL="0" marR="0" lvl="0" indent="0" algn="l" rtl="0">
              <a:lnSpc>
                <a:spcPct val="115000"/>
              </a:lnSpc>
              <a:spcBef>
                <a:spcPts val="0"/>
              </a:spcBef>
              <a:spcAft>
                <a:spcPts val="0"/>
              </a:spcAft>
              <a:buClr>
                <a:schemeClr val="dk1"/>
              </a:buClr>
              <a:buSzPts val="1400"/>
              <a:buFont typeface="Arial"/>
              <a:buNone/>
            </a:pPr>
            <a:r>
              <a:rPr lang="en" b="1">
                <a:solidFill>
                  <a:schemeClr val="dk2"/>
                </a:solidFill>
                <a:latin typeface="Open Sans"/>
                <a:ea typeface="Open Sans"/>
                <a:cs typeface="Open Sans"/>
                <a:sym typeface="Open Sans"/>
              </a:rPr>
              <a:t>Recommendation system:</a:t>
            </a:r>
            <a:r>
              <a:rPr lang="en">
                <a:solidFill>
                  <a:schemeClr val="dk2"/>
                </a:solidFill>
                <a:latin typeface="Open Sans Light"/>
                <a:ea typeface="Open Sans Light"/>
                <a:cs typeface="Open Sans Light"/>
                <a:sym typeface="Open Sans Light"/>
              </a:rPr>
              <a:t> consists of Bi-Encoder and Cross Encoder from sentence transformers and Retrieval Argumented Generation (RAG)</a:t>
            </a:r>
            <a:endParaRPr>
              <a:solidFill>
                <a:schemeClr val="dk2"/>
              </a:solidFill>
              <a:latin typeface="Open Sans Light"/>
              <a:ea typeface="Open Sans Light"/>
              <a:cs typeface="Open Sans Light"/>
              <a:sym typeface="Open Sans Light"/>
            </a:endParaRPr>
          </a:p>
          <a:p>
            <a:pPr marL="0" marR="0" lvl="0" indent="0" algn="l" rtl="0">
              <a:lnSpc>
                <a:spcPct val="115000"/>
              </a:lnSpc>
              <a:spcBef>
                <a:spcPts val="0"/>
              </a:spcBef>
              <a:spcAft>
                <a:spcPts val="0"/>
              </a:spcAft>
              <a:buClr>
                <a:schemeClr val="dk1"/>
              </a:buClr>
              <a:buSzPts val="1400"/>
              <a:buFont typeface="Arial"/>
              <a:buNone/>
            </a:pPr>
            <a:endParaRPr>
              <a:solidFill>
                <a:schemeClr val="dk2"/>
              </a:solidFill>
              <a:latin typeface="Open Sans Light"/>
              <a:ea typeface="Open Sans Light"/>
              <a:cs typeface="Open Sans Light"/>
              <a:sym typeface="Open Sans Light"/>
            </a:endParaRPr>
          </a:p>
          <a:p>
            <a:pPr marL="0" marR="0" lvl="0" indent="0" algn="l" rtl="0">
              <a:lnSpc>
                <a:spcPct val="115000"/>
              </a:lnSpc>
              <a:spcBef>
                <a:spcPts val="0"/>
              </a:spcBef>
              <a:spcAft>
                <a:spcPts val="600"/>
              </a:spcAft>
              <a:buClr>
                <a:srgbClr val="000000"/>
              </a:buClr>
              <a:buSzPts val="1400"/>
              <a:buFont typeface="Arial"/>
              <a:buNone/>
            </a:pPr>
            <a:endParaRPr sz="1400" b="0" i="0" u="none" strike="noStrike" cap="none">
              <a:solidFill>
                <a:schemeClr val="dk2"/>
              </a:solidFill>
              <a:latin typeface="Open Sans Light"/>
              <a:ea typeface="Open Sans Light"/>
              <a:cs typeface="Open Sans Light"/>
              <a:sym typeface="Open Sans Light"/>
            </a:endParaRPr>
          </a:p>
        </p:txBody>
      </p:sp>
      <p:pic>
        <p:nvPicPr>
          <p:cNvPr id="327" name="Google Shape;327;g31956de225e_0_0"/>
          <p:cNvPicPr preferRelativeResize="0"/>
          <p:nvPr/>
        </p:nvPicPr>
        <p:blipFill>
          <a:blip r:embed="rId4">
            <a:alphaModFix/>
          </a:blip>
          <a:stretch>
            <a:fillRect/>
          </a:stretch>
        </p:blipFill>
        <p:spPr>
          <a:xfrm>
            <a:off x="196312" y="2509900"/>
            <a:ext cx="8751375" cy="240782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31"/>
        <p:cNvGrpSpPr/>
        <p:nvPr/>
      </p:nvGrpSpPr>
      <p:grpSpPr>
        <a:xfrm>
          <a:off x="0" y="0"/>
          <a:ext cx="0" cy="0"/>
          <a:chOff x="0" y="0"/>
          <a:chExt cx="0" cy="0"/>
        </a:xfrm>
      </p:grpSpPr>
      <p:sp>
        <p:nvSpPr>
          <p:cNvPr id="332" name="Google Shape;332;g31956de225e_0_10"/>
          <p:cNvSpPr txBox="1"/>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 sz="2800">
                <a:solidFill>
                  <a:srgbClr val="002D45"/>
                </a:solidFill>
                <a:latin typeface="Montserrat"/>
                <a:ea typeface="Montserrat"/>
                <a:cs typeface="Montserrat"/>
                <a:sym typeface="Montserrat"/>
              </a:rPr>
              <a:t>Recommendation System Example (1)</a:t>
            </a:r>
            <a:endParaRPr sz="2800" b="0" i="0" u="none" strike="noStrike" cap="none">
              <a:solidFill>
                <a:srgbClr val="002D45"/>
              </a:solidFill>
              <a:latin typeface="Montserrat"/>
              <a:ea typeface="Montserrat"/>
              <a:cs typeface="Montserrat"/>
              <a:sym typeface="Montserrat"/>
            </a:endParaRPr>
          </a:p>
        </p:txBody>
      </p:sp>
      <p:sp>
        <p:nvSpPr>
          <p:cNvPr id="333" name="Google Shape;333;g31956de225e_0_10"/>
          <p:cNvSpPr txBox="1"/>
          <p:nvPr/>
        </p:nvSpPr>
        <p:spPr>
          <a:xfrm>
            <a:off x="311700" y="1136350"/>
            <a:ext cx="8692800" cy="3767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1"/>
              </a:buClr>
              <a:buSzPts val="1400"/>
              <a:buFont typeface="Arial"/>
              <a:buNone/>
            </a:pPr>
            <a:r>
              <a:rPr lang="en" b="1">
                <a:solidFill>
                  <a:schemeClr val="dk2"/>
                </a:solidFill>
                <a:latin typeface="Open Sans"/>
                <a:ea typeface="Open Sans"/>
                <a:cs typeface="Open Sans"/>
                <a:sym typeface="Open Sans"/>
              </a:rPr>
              <a:t>Question</a:t>
            </a:r>
            <a:r>
              <a:rPr lang="en">
                <a:solidFill>
                  <a:schemeClr val="dk2"/>
                </a:solidFill>
                <a:latin typeface="Open Sans Light"/>
                <a:ea typeface="Open Sans Light"/>
                <a:cs typeface="Open Sans Light"/>
                <a:sym typeface="Open Sans Light"/>
              </a:rPr>
              <a:t>: What is the initiatives of cloud accounting software platform?</a:t>
            </a:r>
            <a:endParaRPr>
              <a:solidFill>
                <a:schemeClr val="dk2"/>
              </a:solidFill>
              <a:latin typeface="Open Sans Light"/>
              <a:ea typeface="Open Sans Light"/>
              <a:cs typeface="Open Sans Light"/>
              <a:sym typeface="Open Sans Light"/>
            </a:endParaRPr>
          </a:p>
          <a:p>
            <a:pPr marL="0" marR="0" lvl="0" indent="0" algn="l" rtl="0">
              <a:lnSpc>
                <a:spcPct val="115000"/>
              </a:lnSpc>
              <a:spcBef>
                <a:spcPts val="0"/>
              </a:spcBef>
              <a:spcAft>
                <a:spcPts val="0"/>
              </a:spcAft>
              <a:buClr>
                <a:schemeClr val="dk1"/>
              </a:buClr>
              <a:buSzPts val="1400"/>
              <a:buFont typeface="Arial"/>
              <a:buNone/>
            </a:pPr>
            <a:endParaRPr>
              <a:solidFill>
                <a:schemeClr val="dk2"/>
              </a:solidFill>
              <a:latin typeface="Open Sans Light"/>
              <a:ea typeface="Open Sans Light"/>
              <a:cs typeface="Open Sans Light"/>
              <a:sym typeface="Open Sans Light"/>
            </a:endParaRPr>
          </a:p>
          <a:p>
            <a:pPr marL="0" marR="0" lvl="0" indent="0" algn="l" rtl="0">
              <a:lnSpc>
                <a:spcPct val="115000"/>
              </a:lnSpc>
              <a:spcBef>
                <a:spcPts val="0"/>
              </a:spcBef>
              <a:spcAft>
                <a:spcPts val="0"/>
              </a:spcAft>
              <a:buClr>
                <a:schemeClr val="dk1"/>
              </a:buClr>
              <a:buSzPts val="1400"/>
              <a:buFont typeface="Arial"/>
              <a:buNone/>
            </a:pPr>
            <a:r>
              <a:rPr lang="en" b="1">
                <a:solidFill>
                  <a:schemeClr val="dk2"/>
                </a:solidFill>
                <a:latin typeface="Open Sans"/>
                <a:ea typeface="Open Sans"/>
                <a:cs typeface="Open Sans"/>
                <a:sym typeface="Open Sans"/>
              </a:rPr>
              <a:t>Answer</a:t>
            </a:r>
            <a:r>
              <a:rPr lang="en">
                <a:solidFill>
                  <a:schemeClr val="dk2"/>
                </a:solidFill>
                <a:latin typeface="Open Sans Light"/>
                <a:ea typeface="Open Sans Light"/>
                <a:cs typeface="Open Sans Light"/>
                <a:sym typeface="Open Sans Light"/>
              </a:rPr>
              <a:t>: Cloud accounting software platforms streamline financial management with features like</a:t>
            </a:r>
            <a:endParaRPr>
              <a:solidFill>
                <a:schemeClr val="dk2"/>
              </a:solidFill>
              <a:latin typeface="Open Sans Light"/>
              <a:ea typeface="Open Sans Light"/>
              <a:cs typeface="Open Sans Light"/>
              <a:sym typeface="Open Sans Light"/>
            </a:endParaRPr>
          </a:p>
          <a:p>
            <a:pPr marL="457200" marR="0" lvl="0" indent="-317500" algn="l" rtl="0">
              <a:lnSpc>
                <a:spcPct val="115000"/>
              </a:lnSpc>
              <a:spcBef>
                <a:spcPts val="0"/>
              </a:spcBef>
              <a:spcAft>
                <a:spcPts val="0"/>
              </a:spcAft>
              <a:buClr>
                <a:schemeClr val="dk2"/>
              </a:buClr>
              <a:buSzPts val="1400"/>
              <a:buFont typeface="Open Sans Light"/>
              <a:buAutoNum type="arabicPeriod"/>
            </a:pPr>
            <a:r>
              <a:rPr lang="en">
                <a:solidFill>
                  <a:schemeClr val="dk2"/>
                </a:solidFill>
                <a:latin typeface="Open Sans Light"/>
                <a:ea typeface="Open Sans Light"/>
                <a:cs typeface="Open Sans Light"/>
                <a:sym typeface="Open Sans Light"/>
              </a:rPr>
              <a:t>Automated payroll</a:t>
            </a:r>
            <a:endParaRPr>
              <a:solidFill>
                <a:schemeClr val="dk2"/>
              </a:solidFill>
              <a:latin typeface="Open Sans Light"/>
              <a:ea typeface="Open Sans Light"/>
              <a:cs typeface="Open Sans Light"/>
              <a:sym typeface="Open Sans Light"/>
            </a:endParaRPr>
          </a:p>
          <a:p>
            <a:pPr marL="457200" marR="0" lvl="0" indent="0" algn="l" rtl="0">
              <a:lnSpc>
                <a:spcPct val="115000"/>
              </a:lnSpc>
              <a:spcBef>
                <a:spcPts val="0"/>
              </a:spcBef>
              <a:spcAft>
                <a:spcPts val="0"/>
              </a:spcAft>
              <a:buNone/>
            </a:pPr>
            <a:endParaRPr>
              <a:solidFill>
                <a:schemeClr val="dk2"/>
              </a:solidFill>
              <a:latin typeface="Open Sans Light"/>
              <a:ea typeface="Open Sans Light"/>
              <a:cs typeface="Open Sans Light"/>
              <a:sym typeface="Open Sans Light"/>
            </a:endParaRPr>
          </a:p>
          <a:p>
            <a:pPr marL="457200" marR="0" lvl="0" indent="-317500" algn="l" rtl="0">
              <a:lnSpc>
                <a:spcPct val="115000"/>
              </a:lnSpc>
              <a:spcBef>
                <a:spcPts val="0"/>
              </a:spcBef>
              <a:spcAft>
                <a:spcPts val="0"/>
              </a:spcAft>
              <a:buClr>
                <a:schemeClr val="dk2"/>
              </a:buClr>
              <a:buSzPts val="1400"/>
              <a:buFont typeface="Open Sans Light"/>
              <a:buAutoNum type="arabicPeriod"/>
            </a:pPr>
            <a:r>
              <a:rPr lang="en">
                <a:solidFill>
                  <a:schemeClr val="dk2"/>
                </a:solidFill>
                <a:latin typeface="Open Sans Light"/>
                <a:ea typeface="Open Sans Light"/>
                <a:cs typeface="Open Sans Light"/>
                <a:sym typeface="Open Sans Light"/>
              </a:rPr>
              <a:t>Time-saving tools</a:t>
            </a:r>
            <a:endParaRPr>
              <a:solidFill>
                <a:schemeClr val="dk2"/>
              </a:solidFill>
              <a:latin typeface="Open Sans Light"/>
              <a:ea typeface="Open Sans Light"/>
              <a:cs typeface="Open Sans Light"/>
              <a:sym typeface="Open Sans Light"/>
            </a:endParaRPr>
          </a:p>
          <a:p>
            <a:pPr marL="457200" marR="0" lvl="0" indent="0" algn="l" rtl="0">
              <a:lnSpc>
                <a:spcPct val="115000"/>
              </a:lnSpc>
              <a:spcBef>
                <a:spcPts val="0"/>
              </a:spcBef>
              <a:spcAft>
                <a:spcPts val="0"/>
              </a:spcAft>
              <a:buNone/>
            </a:pPr>
            <a:endParaRPr>
              <a:solidFill>
                <a:schemeClr val="dk2"/>
              </a:solidFill>
              <a:latin typeface="Open Sans Light"/>
              <a:ea typeface="Open Sans Light"/>
              <a:cs typeface="Open Sans Light"/>
              <a:sym typeface="Open Sans Light"/>
            </a:endParaRPr>
          </a:p>
          <a:p>
            <a:pPr marL="457200" marR="0" lvl="0" indent="-317500" algn="l" rtl="0">
              <a:lnSpc>
                <a:spcPct val="115000"/>
              </a:lnSpc>
              <a:spcBef>
                <a:spcPts val="0"/>
              </a:spcBef>
              <a:spcAft>
                <a:spcPts val="0"/>
              </a:spcAft>
              <a:buClr>
                <a:schemeClr val="dk2"/>
              </a:buClr>
              <a:buSzPts val="1400"/>
              <a:buFont typeface="Open Sans Light"/>
              <a:buAutoNum type="arabicPeriod"/>
            </a:pPr>
            <a:r>
              <a:rPr lang="en">
                <a:solidFill>
                  <a:schemeClr val="dk2"/>
                </a:solidFill>
                <a:latin typeface="Open Sans Light"/>
                <a:ea typeface="Open Sans Light"/>
                <a:cs typeface="Open Sans Light"/>
                <a:sym typeface="Open Sans Light"/>
              </a:rPr>
              <a:t>Seamless system integration</a:t>
            </a:r>
            <a:endParaRPr>
              <a:solidFill>
                <a:schemeClr val="dk2"/>
              </a:solidFill>
              <a:latin typeface="Open Sans Light"/>
              <a:ea typeface="Open Sans Light"/>
              <a:cs typeface="Open Sans Light"/>
              <a:sym typeface="Open Sans Light"/>
            </a:endParaRPr>
          </a:p>
          <a:p>
            <a:pPr marL="457200" marR="0" lvl="0" indent="0" algn="l" rtl="0">
              <a:lnSpc>
                <a:spcPct val="115000"/>
              </a:lnSpc>
              <a:spcBef>
                <a:spcPts val="0"/>
              </a:spcBef>
              <a:spcAft>
                <a:spcPts val="0"/>
              </a:spcAft>
              <a:buNone/>
            </a:pPr>
            <a:endParaRPr>
              <a:solidFill>
                <a:schemeClr val="dk2"/>
              </a:solidFill>
              <a:latin typeface="Open Sans Light"/>
              <a:ea typeface="Open Sans Light"/>
              <a:cs typeface="Open Sans Light"/>
              <a:sym typeface="Open Sans Light"/>
            </a:endParaRPr>
          </a:p>
          <a:p>
            <a:pPr marL="457200" marR="0" lvl="0" indent="-317500" algn="l" rtl="0">
              <a:lnSpc>
                <a:spcPct val="115000"/>
              </a:lnSpc>
              <a:spcBef>
                <a:spcPts val="0"/>
              </a:spcBef>
              <a:spcAft>
                <a:spcPts val="0"/>
              </a:spcAft>
              <a:buClr>
                <a:schemeClr val="dk2"/>
              </a:buClr>
              <a:buSzPts val="1400"/>
              <a:buFont typeface="Open Sans Light"/>
              <a:buAutoNum type="arabicPeriod"/>
            </a:pPr>
            <a:r>
              <a:rPr lang="en">
                <a:solidFill>
                  <a:schemeClr val="dk2"/>
                </a:solidFill>
                <a:latin typeface="Open Sans Light"/>
                <a:ea typeface="Open Sans Light"/>
                <a:cs typeface="Open Sans Light"/>
                <a:sym typeface="Open Sans Light"/>
              </a:rPr>
              <a:t>Customizable dashboards</a:t>
            </a:r>
            <a:endParaRPr>
              <a:solidFill>
                <a:schemeClr val="dk2"/>
              </a:solidFill>
              <a:latin typeface="Open Sans Light"/>
              <a:ea typeface="Open Sans Light"/>
              <a:cs typeface="Open Sans Light"/>
              <a:sym typeface="Open Sans Light"/>
            </a:endParaRPr>
          </a:p>
          <a:p>
            <a:pPr marL="457200" marR="0" lvl="0" indent="0" algn="l" rtl="0">
              <a:lnSpc>
                <a:spcPct val="115000"/>
              </a:lnSpc>
              <a:spcBef>
                <a:spcPts val="0"/>
              </a:spcBef>
              <a:spcAft>
                <a:spcPts val="0"/>
              </a:spcAft>
              <a:buNone/>
            </a:pPr>
            <a:endParaRPr>
              <a:solidFill>
                <a:schemeClr val="dk2"/>
              </a:solidFill>
              <a:latin typeface="Open Sans Light"/>
              <a:ea typeface="Open Sans Light"/>
              <a:cs typeface="Open Sans Light"/>
              <a:sym typeface="Open Sans Light"/>
            </a:endParaRPr>
          </a:p>
          <a:p>
            <a:pPr marL="457200" marR="0" lvl="0" indent="-317500" algn="l" rtl="0">
              <a:lnSpc>
                <a:spcPct val="115000"/>
              </a:lnSpc>
              <a:spcBef>
                <a:spcPts val="0"/>
              </a:spcBef>
              <a:spcAft>
                <a:spcPts val="0"/>
              </a:spcAft>
              <a:buClr>
                <a:schemeClr val="dk2"/>
              </a:buClr>
              <a:buSzPts val="1400"/>
              <a:buFont typeface="Open Sans Light"/>
              <a:buAutoNum type="arabicPeriod"/>
            </a:pPr>
            <a:r>
              <a:rPr lang="en">
                <a:solidFill>
                  <a:schemeClr val="dk2"/>
                </a:solidFill>
                <a:latin typeface="Open Sans Light"/>
                <a:ea typeface="Open Sans Light"/>
                <a:cs typeface="Open Sans Light"/>
                <a:sym typeface="Open Sans Light"/>
              </a:rPr>
              <a:t>Invoicing, tax management</a:t>
            </a:r>
            <a:endParaRPr>
              <a:solidFill>
                <a:schemeClr val="dk2"/>
              </a:solidFill>
              <a:latin typeface="Open Sans Light"/>
              <a:ea typeface="Open Sans Light"/>
              <a:cs typeface="Open Sans Light"/>
              <a:sym typeface="Open Sans Light"/>
            </a:endParaRPr>
          </a:p>
          <a:p>
            <a:pPr marL="457200" marR="0" lvl="0" indent="0" algn="l" rtl="0">
              <a:lnSpc>
                <a:spcPct val="115000"/>
              </a:lnSpc>
              <a:spcBef>
                <a:spcPts val="0"/>
              </a:spcBef>
              <a:spcAft>
                <a:spcPts val="0"/>
              </a:spcAft>
              <a:buNone/>
            </a:pPr>
            <a:endParaRPr>
              <a:solidFill>
                <a:schemeClr val="dk2"/>
              </a:solidFill>
              <a:latin typeface="Open Sans Light"/>
              <a:ea typeface="Open Sans Light"/>
              <a:cs typeface="Open Sans Light"/>
              <a:sym typeface="Open Sans Light"/>
            </a:endParaRPr>
          </a:p>
          <a:p>
            <a:pPr marL="457200" marR="0" lvl="0" indent="-317500" algn="l" rtl="0">
              <a:lnSpc>
                <a:spcPct val="115000"/>
              </a:lnSpc>
              <a:spcBef>
                <a:spcPts val="0"/>
              </a:spcBef>
              <a:spcAft>
                <a:spcPts val="0"/>
              </a:spcAft>
              <a:buClr>
                <a:schemeClr val="dk2"/>
              </a:buClr>
              <a:buSzPts val="1400"/>
              <a:buFont typeface="Open Sans Light"/>
              <a:buAutoNum type="arabicPeriod"/>
            </a:pPr>
            <a:r>
              <a:rPr lang="en">
                <a:solidFill>
                  <a:schemeClr val="dk2"/>
                </a:solidFill>
                <a:latin typeface="Open Sans Light"/>
                <a:ea typeface="Open Sans Light"/>
                <a:cs typeface="Open Sans Light"/>
                <a:sym typeface="Open Sans Light"/>
              </a:rPr>
              <a:t>Flexible subscription plans, and free trials.</a:t>
            </a:r>
            <a:endParaRPr>
              <a:solidFill>
                <a:schemeClr val="dk2"/>
              </a:solidFill>
              <a:highlight>
                <a:srgbClr val="FFFFFF"/>
              </a:highlight>
              <a:latin typeface="Open Sans Light"/>
              <a:ea typeface="Open Sans Light"/>
              <a:cs typeface="Open Sans Light"/>
              <a:sym typeface="Open Sans Light"/>
            </a:endParaRPr>
          </a:p>
          <a:p>
            <a:pPr marL="0" marR="0" lvl="0" indent="0" algn="l" rtl="0">
              <a:lnSpc>
                <a:spcPct val="115000"/>
              </a:lnSpc>
              <a:spcBef>
                <a:spcPts val="0"/>
              </a:spcBef>
              <a:spcAft>
                <a:spcPts val="0"/>
              </a:spcAft>
              <a:buClr>
                <a:schemeClr val="dk1"/>
              </a:buClr>
              <a:buSzPts val="1400"/>
              <a:buFont typeface="Arial"/>
              <a:buNone/>
            </a:pPr>
            <a:endParaRPr sz="1200">
              <a:solidFill>
                <a:schemeClr val="dk2"/>
              </a:solidFill>
              <a:latin typeface="Open Sans Light"/>
              <a:ea typeface="Open Sans Light"/>
              <a:cs typeface="Open Sans Light"/>
              <a:sym typeface="Open Sans Light"/>
            </a:endParaRPr>
          </a:p>
          <a:p>
            <a:pPr marL="0" marR="0" lvl="0" indent="0" algn="l" rtl="0">
              <a:lnSpc>
                <a:spcPct val="115000"/>
              </a:lnSpc>
              <a:spcBef>
                <a:spcPts val="0"/>
              </a:spcBef>
              <a:spcAft>
                <a:spcPts val="0"/>
              </a:spcAft>
              <a:buClr>
                <a:schemeClr val="dk1"/>
              </a:buClr>
              <a:buSzPts val="1400"/>
              <a:buFont typeface="Arial"/>
              <a:buNone/>
            </a:pPr>
            <a:endParaRPr>
              <a:solidFill>
                <a:schemeClr val="dk2"/>
              </a:solidFill>
              <a:latin typeface="Open Sans Light"/>
              <a:ea typeface="Open Sans Light"/>
              <a:cs typeface="Open Sans Light"/>
              <a:sym typeface="Open Sans Light"/>
            </a:endParaRPr>
          </a:p>
          <a:p>
            <a:pPr marL="0" marR="0" lvl="0" indent="0" algn="l" rtl="0">
              <a:lnSpc>
                <a:spcPct val="115000"/>
              </a:lnSpc>
              <a:spcBef>
                <a:spcPts val="0"/>
              </a:spcBef>
              <a:spcAft>
                <a:spcPts val="0"/>
              </a:spcAft>
              <a:buClr>
                <a:schemeClr val="dk1"/>
              </a:buClr>
              <a:buSzPts val="1400"/>
              <a:buFont typeface="Arial"/>
              <a:buNone/>
            </a:pPr>
            <a:endParaRPr>
              <a:solidFill>
                <a:schemeClr val="dk2"/>
              </a:solidFill>
              <a:latin typeface="Open Sans Light"/>
              <a:ea typeface="Open Sans Light"/>
              <a:cs typeface="Open Sans Light"/>
              <a:sym typeface="Open Sans Light"/>
            </a:endParaRPr>
          </a:p>
          <a:p>
            <a:pPr marL="0" marR="0" lvl="0" indent="0" algn="l" rtl="0">
              <a:lnSpc>
                <a:spcPct val="115000"/>
              </a:lnSpc>
              <a:spcBef>
                <a:spcPts val="0"/>
              </a:spcBef>
              <a:spcAft>
                <a:spcPts val="600"/>
              </a:spcAft>
              <a:buClr>
                <a:srgbClr val="000000"/>
              </a:buClr>
              <a:buSzPts val="1400"/>
              <a:buFont typeface="Arial"/>
              <a:buNone/>
            </a:pPr>
            <a:endParaRPr sz="1400" b="0" i="0" u="none" strike="noStrike" cap="none">
              <a:solidFill>
                <a:schemeClr val="dk2"/>
              </a:solidFill>
              <a:latin typeface="Open Sans Light"/>
              <a:ea typeface="Open Sans Light"/>
              <a:cs typeface="Open Sans Light"/>
              <a:sym typeface="Open Sans Light"/>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37"/>
        <p:cNvGrpSpPr/>
        <p:nvPr/>
      </p:nvGrpSpPr>
      <p:grpSpPr>
        <a:xfrm>
          <a:off x="0" y="0"/>
          <a:ext cx="0" cy="0"/>
          <a:chOff x="0" y="0"/>
          <a:chExt cx="0" cy="0"/>
        </a:xfrm>
      </p:grpSpPr>
      <p:sp>
        <p:nvSpPr>
          <p:cNvPr id="338" name="Google Shape;338;g31a98d15345_0_9"/>
          <p:cNvSpPr txBox="1"/>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 sz="2800">
                <a:solidFill>
                  <a:srgbClr val="002D45"/>
                </a:solidFill>
                <a:latin typeface="Montserrat"/>
                <a:ea typeface="Montserrat"/>
                <a:cs typeface="Montserrat"/>
                <a:sym typeface="Montserrat"/>
              </a:rPr>
              <a:t>Recommendation System Example (2)</a:t>
            </a:r>
            <a:endParaRPr sz="2800" b="0" i="0" u="none" strike="noStrike" cap="none">
              <a:solidFill>
                <a:srgbClr val="002D45"/>
              </a:solidFill>
              <a:latin typeface="Montserrat"/>
              <a:ea typeface="Montserrat"/>
              <a:cs typeface="Montserrat"/>
              <a:sym typeface="Montserrat"/>
            </a:endParaRPr>
          </a:p>
        </p:txBody>
      </p:sp>
      <p:sp>
        <p:nvSpPr>
          <p:cNvPr id="339" name="Google Shape;339;g31a98d15345_0_9"/>
          <p:cNvSpPr txBox="1"/>
          <p:nvPr/>
        </p:nvSpPr>
        <p:spPr>
          <a:xfrm>
            <a:off x="311700" y="970200"/>
            <a:ext cx="8692800" cy="3767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1"/>
              </a:buClr>
              <a:buSzPts val="1400"/>
              <a:buFont typeface="Arial"/>
              <a:buNone/>
            </a:pPr>
            <a:r>
              <a:rPr lang="en" b="1">
                <a:solidFill>
                  <a:schemeClr val="dk2"/>
                </a:solidFill>
                <a:latin typeface="Open Sans"/>
                <a:ea typeface="Open Sans"/>
                <a:cs typeface="Open Sans"/>
                <a:sym typeface="Open Sans"/>
              </a:rPr>
              <a:t>Question</a:t>
            </a:r>
            <a:r>
              <a:rPr lang="en">
                <a:solidFill>
                  <a:schemeClr val="dk2"/>
                </a:solidFill>
                <a:latin typeface="Open Sans Light"/>
                <a:ea typeface="Open Sans Light"/>
                <a:cs typeface="Open Sans Light"/>
                <a:sym typeface="Open Sans Light"/>
              </a:rPr>
              <a:t>: Who are the biggest providers of cloud accounting software platform and what type is being used?</a:t>
            </a:r>
            <a:endParaRPr>
              <a:solidFill>
                <a:schemeClr val="dk2"/>
              </a:solidFill>
              <a:latin typeface="Open Sans Light"/>
              <a:ea typeface="Open Sans Light"/>
              <a:cs typeface="Open Sans Light"/>
              <a:sym typeface="Open Sans Light"/>
            </a:endParaRPr>
          </a:p>
          <a:p>
            <a:pPr marL="0" marR="0" lvl="0" indent="0" algn="l" rtl="0">
              <a:lnSpc>
                <a:spcPct val="115000"/>
              </a:lnSpc>
              <a:spcBef>
                <a:spcPts val="1000"/>
              </a:spcBef>
              <a:spcAft>
                <a:spcPts val="0"/>
              </a:spcAft>
              <a:buClr>
                <a:schemeClr val="dk1"/>
              </a:buClr>
              <a:buSzPts val="1400"/>
              <a:buFont typeface="Arial"/>
              <a:buNone/>
            </a:pPr>
            <a:r>
              <a:rPr lang="en" b="1">
                <a:solidFill>
                  <a:schemeClr val="dk2"/>
                </a:solidFill>
                <a:latin typeface="Open Sans"/>
                <a:ea typeface="Open Sans"/>
                <a:cs typeface="Open Sans"/>
                <a:sym typeface="Open Sans"/>
              </a:rPr>
              <a:t>Answer</a:t>
            </a:r>
            <a:r>
              <a:rPr lang="en">
                <a:solidFill>
                  <a:schemeClr val="dk2"/>
                </a:solidFill>
                <a:latin typeface="Open Sans Light"/>
                <a:ea typeface="Open Sans Light"/>
                <a:cs typeface="Open Sans Light"/>
                <a:sym typeface="Open Sans Light"/>
              </a:rPr>
              <a:t>: </a:t>
            </a:r>
            <a:endParaRPr>
              <a:solidFill>
                <a:schemeClr val="dk2"/>
              </a:solidFill>
              <a:latin typeface="Open Sans Light"/>
              <a:ea typeface="Open Sans Light"/>
              <a:cs typeface="Open Sans Light"/>
              <a:sym typeface="Open Sans Light"/>
            </a:endParaRPr>
          </a:p>
          <a:p>
            <a:pPr marL="457200" marR="0" lvl="0" indent="-304800" algn="l" rtl="0">
              <a:lnSpc>
                <a:spcPct val="115000"/>
              </a:lnSpc>
              <a:spcBef>
                <a:spcPts val="0"/>
              </a:spcBef>
              <a:spcAft>
                <a:spcPts val="0"/>
              </a:spcAft>
              <a:buClr>
                <a:schemeClr val="dk1"/>
              </a:buClr>
              <a:buSzPts val="1200"/>
              <a:buFont typeface="Open Sans Light"/>
              <a:buAutoNum type="arabicPeriod"/>
            </a:pPr>
            <a:r>
              <a:rPr lang="en" sz="1200" b="1">
                <a:solidFill>
                  <a:schemeClr val="dk1"/>
                </a:solidFill>
                <a:latin typeface="Open Sans"/>
                <a:ea typeface="Open Sans"/>
                <a:cs typeface="Open Sans"/>
                <a:sym typeface="Open Sans"/>
              </a:rPr>
              <a:t>QuickBooks</a:t>
            </a:r>
            <a:r>
              <a:rPr lang="en" sz="1200">
                <a:solidFill>
                  <a:schemeClr val="dk1"/>
                </a:solidFill>
                <a:latin typeface="Open Sans Light"/>
                <a:ea typeface="Open Sans Light"/>
                <a:cs typeface="Open Sans Light"/>
                <a:sym typeface="Open Sans Light"/>
              </a:rPr>
              <a:t>: A widely used platform for small businesses, offering invoicing, expense tracking, inventory management, and payroll processing.</a:t>
            </a:r>
            <a:endParaRPr sz="1200">
              <a:solidFill>
                <a:schemeClr val="dk1"/>
              </a:solidFill>
              <a:latin typeface="Open Sans Light"/>
              <a:ea typeface="Open Sans Light"/>
              <a:cs typeface="Open Sans Light"/>
              <a:sym typeface="Open Sans Light"/>
            </a:endParaRPr>
          </a:p>
          <a:p>
            <a:pPr marL="457200" marR="0" lvl="0" indent="0" algn="l" rtl="0">
              <a:lnSpc>
                <a:spcPct val="115000"/>
              </a:lnSpc>
              <a:spcBef>
                <a:spcPts val="0"/>
              </a:spcBef>
              <a:spcAft>
                <a:spcPts val="0"/>
              </a:spcAft>
              <a:buNone/>
            </a:pPr>
            <a:endParaRPr sz="1200">
              <a:solidFill>
                <a:schemeClr val="dk1"/>
              </a:solidFill>
              <a:latin typeface="Open Sans Light"/>
              <a:ea typeface="Open Sans Light"/>
              <a:cs typeface="Open Sans Light"/>
              <a:sym typeface="Open Sans Light"/>
            </a:endParaRPr>
          </a:p>
          <a:p>
            <a:pPr marL="457200" lvl="0" indent="-304800" algn="l" rtl="0">
              <a:lnSpc>
                <a:spcPct val="115000"/>
              </a:lnSpc>
              <a:spcBef>
                <a:spcPts val="0"/>
              </a:spcBef>
              <a:spcAft>
                <a:spcPts val="0"/>
              </a:spcAft>
              <a:buClr>
                <a:schemeClr val="dk1"/>
              </a:buClr>
              <a:buSzPts val="1200"/>
              <a:buFont typeface="Open Sans Light"/>
              <a:buAutoNum type="arabicPeriod"/>
            </a:pPr>
            <a:r>
              <a:rPr lang="en" sz="1200" b="1">
                <a:solidFill>
                  <a:schemeClr val="dk1"/>
                </a:solidFill>
                <a:latin typeface="Open Sans"/>
                <a:ea typeface="Open Sans"/>
                <a:cs typeface="Open Sans"/>
                <a:sym typeface="Open Sans"/>
              </a:rPr>
              <a:t>Xero</a:t>
            </a:r>
            <a:r>
              <a:rPr lang="en" sz="1200">
                <a:solidFill>
                  <a:schemeClr val="dk1"/>
                </a:solidFill>
                <a:latin typeface="Open Sans Light"/>
                <a:ea typeface="Open Sans Light"/>
                <a:cs typeface="Open Sans Light"/>
                <a:sym typeface="Open Sans Light"/>
              </a:rPr>
              <a:t>: Known for invoicing, expense tracking, and project management, with integration to payment gateways and banking apps.</a:t>
            </a:r>
            <a:endParaRPr sz="1200">
              <a:solidFill>
                <a:schemeClr val="dk1"/>
              </a:solidFill>
              <a:latin typeface="Open Sans Light"/>
              <a:ea typeface="Open Sans Light"/>
              <a:cs typeface="Open Sans Light"/>
              <a:sym typeface="Open Sans Light"/>
            </a:endParaRPr>
          </a:p>
          <a:p>
            <a:pPr marL="457200" lvl="0" indent="0" algn="l" rtl="0">
              <a:lnSpc>
                <a:spcPct val="115000"/>
              </a:lnSpc>
              <a:spcBef>
                <a:spcPts val="0"/>
              </a:spcBef>
              <a:spcAft>
                <a:spcPts val="0"/>
              </a:spcAft>
              <a:buNone/>
            </a:pPr>
            <a:endParaRPr sz="1200">
              <a:solidFill>
                <a:schemeClr val="dk1"/>
              </a:solidFill>
              <a:latin typeface="Open Sans Light"/>
              <a:ea typeface="Open Sans Light"/>
              <a:cs typeface="Open Sans Light"/>
              <a:sym typeface="Open Sans Light"/>
            </a:endParaRPr>
          </a:p>
          <a:p>
            <a:pPr marL="457200" lvl="0" indent="-304800" algn="l" rtl="0">
              <a:lnSpc>
                <a:spcPct val="115000"/>
              </a:lnSpc>
              <a:spcBef>
                <a:spcPts val="0"/>
              </a:spcBef>
              <a:spcAft>
                <a:spcPts val="0"/>
              </a:spcAft>
              <a:buClr>
                <a:schemeClr val="dk1"/>
              </a:buClr>
              <a:buSzPts val="1200"/>
              <a:buFont typeface="Open Sans Light"/>
              <a:buAutoNum type="arabicPeriod"/>
            </a:pPr>
            <a:r>
              <a:rPr lang="en" sz="1200" b="1">
                <a:solidFill>
                  <a:schemeClr val="dk1"/>
                </a:solidFill>
                <a:latin typeface="Open Sans"/>
                <a:ea typeface="Open Sans"/>
                <a:cs typeface="Open Sans"/>
                <a:sym typeface="Open Sans"/>
              </a:rPr>
              <a:t>FreshBooks</a:t>
            </a:r>
            <a:r>
              <a:rPr lang="en" sz="1200">
                <a:solidFill>
                  <a:schemeClr val="dk1"/>
                </a:solidFill>
                <a:latin typeface="Open Sans Light"/>
                <a:ea typeface="Open Sans Light"/>
                <a:cs typeface="Open Sans Light"/>
                <a:sym typeface="Open Sans Light"/>
              </a:rPr>
              <a:t>: Tailored for freelancers and small businesses, offering invoicing, time tracking, expense tracking, and integration with payment gateways and project management tools.</a:t>
            </a:r>
            <a:endParaRPr sz="1200">
              <a:solidFill>
                <a:schemeClr val="dk1"/>
              </a:solidFill>
              <a:latin typeface="Open Sans Light"/>
              <a:ea typeface="Open Sans Light"/>
              <a:cs typeface="Open Sans Light"/>
              <a:sym typeface="Open Sans Light"/>
            </a:endParaRPr>
          </a:p>
          <a:p>
            <a:pPr marL="457200" lvl="0" indent="0" algn="l" rtl="0">
              <a:lnSpc>
                <a:spcPct val="115000"/>
              </a:lnSpc>
              <a:spcBef>
                <a:spcPts val="0"/>
              </a:spcBef>
              <a:spcAft>
                <a:spcPts val="0"/>
              </a:spcAft>
              <a:buNone/>
            </a:pPr>
            <a:endParaRPr sz="1200">
              <a:solidFill>
                <a:schemeClr val="dk1"/>
              </a:solidFill>
              <a:latin typeface="Open Sans Light"/>
              <a:ea typeface="Open Sans Light"/>
              <a:cs typeface="Open Sans Light"/>
              <a:sym typeface="Open Sans Light"/>
            </a:endParaRPr>
          </a:p>
          <a:p>
            <a:pPr marL="457200" lvl="0" indent="-304800" algn="l" rtl="0">
              <a:lnSpc>
                <a:spcPct val="115000"/>
              </a:lnSpc>
              <a:spcBef>
                <a:spcPts val="0"/>
              </a:spcBef>
              <a:spcAft>
                <a:spcPts val="0"/>
              </a:spcAft>
              <a:buClr>
                <a:schemeClr val="dk1"/>
              </a:buClr>
              <a:buSzPts val="1200"/>
              <a:buFont typeface="Open Sans Light"/>
              <a:buAutoNum type="arabicPeriod"/>
            </a:pPr>
            <a:r>
              <a:rPr lang="en" sz="1200" b="1">
                <a:solidFill>
                  <a:schemeClr val="dk1"/>
                </a:solidFill>
                <a:latin typeface="Open Sans"/>
                <a:ea typeface="Open Sans"/>
                <a:cs typeface="Open Sans"/>
                <a:sym typeface="Open Sans"/>
              </a:rPr>
              <a:t>Zoho Books</a:t>
            </a:r>
            <a:r>
              <a:rPr lang="en" sz="1200">
                <a:solidFill>
                  <a:schemeClr val="dk1"/>
                </a:solidFill>
                <a:latin typeface="Open Sans Light"/>
                <a:ea typeface="Open Sans Light"/>
                <a:cs typeface="Open Sans Light"/>
                <a:sym typeface="Open Sans Light"/>
              </a:rPr>
              <a:t>: Provides invoicing, expense tracking, and project management, and integrates with Zoho's CRM and inventory management tools.</a:t>
            </a:r>
            <a:endParaRPr sz="1200">
              <a:solidFill>
                <a:schemeClr val="dk1"/>
              </a:solidFill>
              <a:latin typeface="Open Sans Light"/>
              <a:ea typeface="Open Sans Light"/>
              <a:cs typeface="Open Sans Light"/>
              <a:sym typeface="Open Sans Light"/>
            </a:endParaRPr>
          </a:p>
          <a:p>
            <a:pPr marL="457200" lvl="0" indent="0" algn="l" rtl="0">
              <a:lnSpc>
                <a:spcPct val="115000"/>
              </a:lnSpc>
              <a:spcBef>
                <a:spcPts val="0"/>
              </a:spcBef>
              <a:spcAft>
                <a:spcPts val="0"/>
              </a:spcAft>
              <a:buNone/>
            </a:pPr>
            <a:endParaRPr sz="1200">
              <a:solidFill>
                <a:schemeClr val="dk1"/>
              </a:solidFill>
              <a:latin typeface="Open Sans Light"/>
              <a:ea typeface="Open Sans Light"/>
              <a:cs typeface="Open Sans Light"/>
              <a:sym typeface="Open Sans Light"/>
            </a:endParaRPr>
          </a:p>
          <a:p>
            <a:pPr marL="457200" lvl="0" indent="-304800" algn="l" rtl="0">
              <a:lnSpc>
                <a:spcPct val="115000"/>
              </a:lnSpc>
              <a:spcBef>
                <a:spcPts val="0"/>
              </a:spcBef>
              <a:spcAft>
                <a:spcPts val="0"/>
              </a:spcAft>
              <a:buClr>
                <a:schemeClr val="dk1"/>
              </a:buClr>
              <a:buSzPts val="1200"/>
              <a:buFont typeface="Open Sans Light"/>
              <a:buAutoNum type="arabicPeriod"/>
            </a:pPr>
            <a:r>
              <a:rPr lang="en" sz="1200" b="1">
                <a:solidFill>
                  <a:schemeClr val="dk1"/>
                </a:solidFill>
                <a:latin typeface="Open Sans"/>
                <a:ea typeface="Open Sans"/>
                <a:cs typeface="Open Sans"/>
                <a:sym typeface="Open Sans"/>
              </a:rPr>
              <a:t>Wave</a:t>
            </a:r>
            <a:r>
              <a:rPr lang="en" sz="1200">
                <a:solidFill>
                  <a:schemeClr val="dk1"/>
                </a:solidFill>
                <a:latin typeface="Open Sans Light"/>
                <a:ea typeface="Open Sans Light"/>
                <a:cs typeface="Open Sans Light"/>
                <a:sym typeface="Open Sans Light"/>
              </a:rPr>
              <a:t>: A free platform for small businesses and freelancers, offering invoicing, expense tracking, payment processing, and integration with payment gateways and banking apps.</a:t>
            </a:r>
            <a:endParaRPr sz="1200">
              <a:solidFill>
                <a:schemeClr val="dk1"/>
              </a:solidFill>
              <a:latin typeface="Open Sans Light"/>
              <a:ea typeface="Open Sans Light"/>
              <a:cs typeface="Open Sans Light"/>
              <a:sym typeface="Open Sans Light"/>
            </a:endParaRPr>
          </a:p>
          <a:p>
            <a:pPr marL="0" marR="0" lvl="0" indent="0" algn="l" rtl="0">
              <a:lnSpc>
                <a:spcPct val="115000"/>
              </a:lnSpc>
              <a:spcBef>
                <a:spcPts val="0"/>
              </a:spcBef>
              <a:spcAft>
                <a:spcPts val="0"/>
              </a:spcAft>
              <a:buClr>
                <a:schemeClr val="dk1"/>
              </a:buClr>
              <a:buSzPts val="1400"/>
              <a:buFont typeface="Arial"/>
              <a:buNone/>
            </a:pPr>
            <a:endParaRPr>
              <a:solidFill>
                <a:schemeClr val="dk2"/>
              </a:solidFill>
              <a:latin typeface="Open Sans Light"/>
              <a:ea typeface="Open Sans Light"/>
              <a:cs typeface="Open Sans Light"/>
              <a:sym typeface="Open Sans Light"/>
            </a:endParaRPr>
          </a:p>
          <a:p>
            <a:pPr marL="0" marR="0" lvl="0" indent="0" algn="l" rtl="0">
              <a:lnSpc>
                <a:spcPct val="115000"/>
              </a:lnSpc>
              <a:spcBef>
                <a:spcPts val="0"/>
              </a:spcBef>
              <a:spcAft>
                <a:spcPts val="0"/>
              </a:spcAft>
              <a:buClr>
                <a:schemeClr val="dk1"/>
              </a:buClr>
              <a:buSzPts val="1400"/>
              <a:buFont typeface="Arial"/>
              <a:buNone/>
            </a:pPr>
            <a:endParaRPr>
              <a:solidFill>
                <a:schemeClr val="dk2"/>
              </a:solidFill>
              <a:latin typeface="Open Sans Light"/>
              <a:ea typeface="Open Sans Light"/>
              <a:cs typeface="Open Sans Light"/>
              <a:sym typeface="Open Sans Light"/>
            </a:endParaRPr>
          </a:p>
          <a:p>
            <a:pPr marL="0" marR="0" lvl="0" indent="0" algn="l" rtl="0">
              <a:lnSpc>
                <a:spcPct val="115000"/>
              </a:lnSpc>
              <a:spcBef>
                <a:spcPts val="0"/>
              </a:spcBef>
              <a:spcAft>
                <a:spcPts val="0"/>
              </a:spcAft>
              <a:buClr>
                <a:schemeClr val="dk1"/>
              </a:buClr>
              <a:buSzPts val="1400"/>
              <a:buFont typeface="Arial"/>
              <a:buNone/>
            </a:pPr>
            <a:endParaRPr>
              <a:solidFill>
                <a:schemeClr val="dk2"/>
              </a:solidFill>
              <a:latin typeface="Open Sans Light"/>
              <a:ea typeface="Open Sans Light"/>
              <a:cs typeface="Open Sans Light"/>
              <a:sym typeface="Open Sans Light"/>
            </a:endParaRPr>
          </a:p>
          <a:p>
            <a:pPr marL="0" marR="0" lvl="0" indent="0" algn="l" rtl="0">
              <a:lnSpc>
                <a:spcPct val="115000"/>
              </a:lnSpc>
              <a:spcBef>
                <a:spcPts val="0"/>
              </a:spcBef>
              <a:spcAft>
                <a:spcPts val="0"/>
              </a:spcAft>
              <a:buClr>
                <a:schemeClr val="dk1"/>
              </a:buClr>
              <a:buSzPts val="1400"/>
              <a:buFont typeface="Arial"/>
              <a:buNone/>
            </a:pPr>
            <a:endParaRPr>
              <a:solidFill>
                <a:schemeClr val="dk2"/>
              </a:solidFill>
              <a:latin typeface="Open Sans Light"/>
              <a:ea typeface="Open Sans Light"/>
              <a:cs typeface="Open Sans Light"/>
              <a:sym typeface="Open Sans Light"/>
            </a:endParaRPr>
          </a:p>
          <a:p>
            <a:pPr marL="0" marR="0" lvl="0" indent="0" algn="l" rtl="0">
              <a:lnSpc>
                <a:spcPct val="115000"/>
              </a:lnSpc>
              <a:spcBef>
                <a:spcPts val="0"/>
              </a:spcBef>
              <a:spcAft>
                <a:spcPts val="600"/>
              </a:spcAft>
              <a:buClr>
                <a:srgbClr val="000000"/>
              </a:buClr>
              <a:buSzPts val="1400"/>
              <a:buFont typeface="Arial"/>
              <a:buNone/>
            </a:pPr>
            <a:endParaRPr sz="1400" b="0" i="0" u="none" strike="noStrike" cap="none">
              <a:solidFill>
                <a:schemeClr val="dk2"/>
              </a:solidFill>
              <a:latin typeface="Open Sans Light"/>
              <a:ea typeface="Open Sans Light"/>
              <a:cs typeface="Open Sans Light"/>
              <a:sym typeface="Open Sans Light"/>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43"/>
        <p:cNvGrpSpPr/>
        <p:nvPr/>
      </p:nvGrpSpPr>
      <p:grpSpPr>
        <a:xfrm>
          <a:off x="0" y="0"/>
          <a:ext cx="0" cy="0"/>
          <a:chOff x="0" y="0"/>
          <a:chExt cx="0" cy="0"/>
        </a:xfrm>
      </p:grpSpPr>
      <p:sp>
        <p:nvSpPr>
          <p:cNvPr id="344" name="Google Shape;344;g31a98d15345_0_15"/>
          <p:cNvSpPr txBox="1"/>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 sz="2800">
                <a:solidFill>
                  <a:srgbClr val="002D45"/>
                </a:solidFill>
                <a:latin typeface="Montserrat"/>
                <a:ea typeface="Montserrat"/>
                <a:cs typeface="Montserrat"/>
                <a:sym typeface="Montserrat"/>
              </a:rPr>
              <a:t>More Questions</a:t>
            </a:r>
            <a:endParaRPr sz="2800" b="0" i="0" u="none" strike="noStrike" cap="none">
              <a:solidFill>
                <a:srgbClr val="002D45"/>
              </a:solidFill>
              <a:latin typeface="Montserrat"/>
              <a:ea typeface="Montserrat"/>
              <a:cs typeface="Montserrat"/>
              <a:sym typeface="Montserrat"/>
            </a:endParaRPr>
          </a:p>
        </p:txBody>
      </p:sp>
      <p:sp>
        <p:nvSpPr>
          <p:cNvPr id="345" name="Google Shape;345;g31a98d15345_0_15"/>
          <p:cNvSpPr txBox="1"/>
          <p:nvPr/>
        </p:nvSpPr>
        <p:spPr>
          <a:xfrm>
            <a:off x="311700" y="1017725"/>
            <a:ext cx="6459900" cy="38862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1"/>
              </a:buClr>
              <a:buSzPts val="1400"/>
              <a:buFont typeface="Arial"/>
              <a:buNone/>
            </a:pPr>
            <a:r>
              <a:rPr lang="en" b="1">
                <a:solidFill>
                  <a:schemeClr val="dk2"/>
                </a:solidFill>
                <a:latin typeface="Open Sans"/>
                <a:ea typeface="Open Sans"/>
                <a:cs typeface="Open Sans"/>
                <a:sym typeface="Open Sans"/>
              </a:rPr>
              <a:t>Questions</a:t>
            </a:r>
            <a:r>
              <a:rPr lang="en">
                <a:solidFill>
                  <a:schemeClr val="dk2"/>
                </a:solidFill>
                <a:latin typeface="Open Sans Light"/>
                <a:ea typeface="Open Sans Light"/>
                <a:cs typeface="Open Sans Light"/>
                <a:sym typeface="Open Sans Light"/>
              </a:rPr>
              <a:t>:</a:t>
            </a:r>
            <a:endParaRPr>
              <a:solidFill>
                <a:schemeClr val="dk2"/>
              </a:solidFill>
              <a:latin typeface="Open Sans Light"/>
              <a:ea typeface="Open Sans Light"/>
              <a:cs typeface="Open Sans Light"/>
              <a:sym typeface="Open Sans Light"/>
            </a:endParaRPr>
          </a:p>
          <a:p>
            <a:pPr marL="457200" lvl="0" indent="-317500" algn="l" rtl="0">
              <a:spcBef>
                <a:spcPts val="0"/>
              </a:spcBef>
              <a:spcAft>
                <a:spcPts val="0"/>
              </a:spcAft>
              <a:buClr>
                <a:schemeClr val="dk2"/>
              </a:buClr>
              <a:buSzPts val="1400"/>
              <a:buFont typeface="Open Sans Light"/>
              <a:buAutoNum type="arabicPeriod"/>
            </a:pPr>
            <a:r>
              <a:rPr lang="en">
                <a:solidFill>
                  <a:schemeClr val="dk2"/>
                </a:solidFill>
                <a:latin typeface="Open Sans Light"/>
                <a:ea typeface="Open Sans Light"/>
                <a:cs typeface="Open Sans Light"/>
                <a:sym typeface="Open Sans Light"/>
              </a:rPr>
              <a:t>What are the strength, weaknesses, opportunity, and threats for cloud accounting software platform and each company?</a:t>
            </a:r>
            <a:endParaRPr>
              <a:solidFill>
                <a:schemeClr val="dk2"/>
              </a:solidFill>
              <a:latin typeface="Open Sans Light"/>
              <a:ea typeface="Open Sans Light"/>
              <a:cs typeface="Open Sans Light"/>
              <a:sym typeface="Open Sans Light"/>
            </a:endParaRPr>
          </a:p>
          <a:p>
            <a:pPr marL="457200" lvl="0" indent="0" algn="l" rtl="0">
              <a:spcBef>
                <a:spcPts val="0"/>
              </a:spcBef>
              <a:spcAft>
                <a:spcPts val="0"/>
              </a:spcAft>
              <a:buNone/>
            </a:pPr>
            <a:endParaRPr>
              <a:solidFill>
                <a:schemeClr val="dk2"/>
              </a:solidFill>
              <a:latin typeface="Open Sans Light"/>
              <a:ea typeface="Open Sans Light"/>
              <a:cs typeface="Open Sans Light"/>
              <a:sym typeface="Open Sans Light"/>
            </a:endParaRPr>
          </a:p>
          <a:p>
            <a:pPr marL="457200" lvl="0" indent="-317500" algn="l" rtl="0">
              <a:spcBef>
                <a:spcPts val="0"/>
              </a:spcBef>
              <a:spcAft>
                <a:spcPts val="0"/>
              </a:spcAft>
              <a:buClr>
                <a:schemeClr val="dk2"/>
              </a:buClr>
              <a:buSzPts val="1400"/>
              <a:buFont typeface="Open Sans Light"/>
              <a:buAutoNum type="arabicPeriod"/>
            </a:pPr>
            <a:r>
              <a:rPr lang="en">
                <a:solidFill>
                  <a:schemeClr val="dk2"/>
                </a:solidFill>
                <a:latin typeface="Open Sans Light"/>
                <a:ea typeface="Open Sans Light"/>
                <a:cs typeface="Open Sans Light"/>
                <a:sym typeface="Open Sans Light"/>
              </a:rPr>
              <a:t>What are the primary challenges or risks faced by clients when adopting or using a cloud accounting software platform?</a:t>
            </a:r>
            <a:endParaRPr>
              <a:solidFill>
                <a:schemeClr val="dk2"/>
              </a:solidFill>
              <a:latin typeface="Open Sans Light"/>
              <a:ea typeface="Open Sans Light"/>
              <a:cs typeface="Open Sans Light"/>
              <a:sym typeface="Open Sans Light"/>
            </a:endParaRPr>
          </a:p>
          <a:p>
            <a:pPr marL="457200" lvl="0" indent="0" algn="l" rtl="0">
              <a:spcBef>
                <a:spcPts val="0"/>
              </a:spcBef>
              <a:spcAft>
                <a:spcPts val="0"/>
              </a:spcAft>
              <a:buNone/>
            </a:pPr>
            <a:endParaRPr>
              <a:solidFill>
                <a:schemeClr val="dk2"/>
              </a:solidFill>
              <a:latin typeface="Open Sans Light"/>
              <a:ea typeface="Open Sans Light"/>
              <a:cs typeface="Open Sans Light"/>
              <a:sym typeface="Open Sans Light"/>
            </a:endParaRPr>
          </a:p>
          <a:p>
            <a:pPr marL="457200" lvl="0" indent="-317500" algn="l" rtl="0">
              <a:spcBef>
                <a:spcPts val="0"/>
              </a:spcBef>
              <a:spcAft>
                <a:spcPts val="0"/>
              </a:spcAft>
              <a:buClr>
                <a:schemeClr val="dk2"/>
              </a:buClr>
              <a:buSzPts val="1400"/>
              <a:buFont typeface="Open Sans Light"/>
              <a:buAutoNum type="arabicPeriod"/>
            </a:pPr>
            <a:r>
              <a:rPr lang="en">
                <a:solidFill>
                  <a:schemeClr val="dk2"/>
                </a:solidFill>
                <a:latin typeface="Open Sans Light"/>
                <a:ea typeface="Open Sans Light"/>
                <a:cs typeface="Open Sans Light"/>
                <a:sym typeface="Open Sans Light"/>
              </a:rPr>
              <a:t>How much money is being invested in a cloud accounting software platform? How long are they anticipated to take?</a:t>
            </a:r>
            <a:endParaRPr>
              <a:solidFill>
                <a:schemeClr val="dk2"/>
              </a:solidFill>
              <a:latin typeface="Open Sans Light"/>
              <a:ea typeface="Open Sans Light"/>
              <a:cs typeface="Open Sans Light"/>
              <a:sym typeface="Open Sans Light"/>
            </a:endParaRPr>
          </a:p>
          <a:p>
            <a:pPr marL="457200" lvl="0" indent="0" algn="l" rtl="0">
              <a:spcBef>
                <a:spcPts val="0"/>
              </a:spcBef>
              <a:spcAft>
                <a:spcPts val="0"/>
              </a:spcAft>
              <a:buNone/>
            </a:pPr>
            <a:endParaRPr>
              <a:solidFill>
                <a:schemeClr val="dk2"/>
              </a:solidFill>
              <a:latin typeface="Open Sans Light"/>
              <a:ea typeface="Open Sans Light"/>
              <a:cs typeface="Open Sans Light"/>
              <a:sym typeface="Open Sans Light"/>
            </a:endParaRPr>
          </a:p>
          <a:p>
            <a:pPr marL="457200" lvl="0" indent="-317500" algn="l" rtl="0">
              <a:spcBef>
                <a:spcPts val="0"/>
              </a:spcBef>
              <a:spcAft>
                <a:spcPts val="0"/>
              </a:spcAft>
              <a:buClr>
                <a:schemeClr val="dk2"/>
              </a:buClr>
              <a:buSzPts val="1400"/>
              <a:buFont typeface="Open Sans Light"/>
              <a:buAutoNum type="arabicPeriod"/>
            </a:pPr>
            <a:r>
              <a:rPr lang="en">
                <a:solidFill>
                  <a:schemeClr val="dk2"/>
                </a:solidFill>
                <a:latin typeface="Open Sans Light"/>
                <a:ea typeface="Open Sans Light"/>
                <a:cs typeface="Open Sans Light"/>
                <a:sym typeface="Open Sans Light"/>
              </a:rPr>
              <a:t>What is the impact on sustainability metrics in a cloud accounting software platform? How will this impact jobs?</a:t>
            </a:r>
            <a:endParaRPr sz="1050">
              <a:solidFill>
                <a:schemeClr val="dk2"/>
              </a:solidFill>
              <a:highlight>
                <a:srgbClr val="F7F7F7"/>
              </a:highlight>
              <a:latin typeface="Open Sans Light"/>
              <a:ea typeface="Open Sans Light"/>
              <a:cs typeface="Open Sans Light"/>
              <a:sym typeface="Open Sans Light"/>
            </a:endParaRPr>
          </a:p>
          <a:p>
            <a:pPr marL="457200" marR="0" lvl="0" indent="0" algn="l" rtl="0">
              <a:lnSpc>
                <a:spcPct val="115000"/>
              </a:lnSpc>
              <a:spcBef>
                <a:spcPts val="0"/>
              </a:spcBef>
              <a:spcAft>
                <a:spcPts val="0"/>
              </a:spcAft>
              <a:buNone/>
            </a:pPr>
            <a:endParaRPr>
              <a:solidFill>
                <a:schemeClr val="dk2"/>
              </a:solidFill>
              <a:latin typeface="Open Sans Light"/>
              <a:ea typeface="Open Sans Light"/>
              <a:cs typeface="Open Sans Light"/>
              <a:sym typeface="Open Sans Light"/>
            </a:endParaRPr>
          </a:p>
          <a:p>
            <a:pPr marL="0" marR="0" lvl="0" indent="0" algn="l" rtl="0">
              <a:lnSpc>
                <a:spcPct val="115000"/>
              </a:lnSpc>
              <a:spcBef>
                <a:spcPts val="0"/>
              </a:spcBef>
              <a:spcAft>
                <a:spcPts val="0"/>
              </a:spcAft>
              <a:buClr>
                <a:schemeClr val="dk1"/>
              </a:buClr>
              <a:buSzPts val="1400"/>
              <a:buFont typeface="Arial"/>
              <a:buNone/>
            </a:pPr>
            <a:endParaRPr>
              <a:solidFill>
                <a:schemeClr val="dk2"/>
              </a:solidFill>
              <a:latin typeface="Open Sans Light"/>
              <a:ea typeface="Open Sans Light"/>
              <a:cs typeface="Open Sans Light"/>
              <a:sym typeface="Open Sans Light"/>
            </a:endParaRPr>
          </a:p>
          <a:p>
            <a:pPr marL="0" marR="0" lvl="0" indent="0" algn="l" rtl="0">
              <a:lnSpc>
                <a:spcPct val="115000"/>
              </a:lnSpc>
              <a:spcBef>
                <a:spcPts val="0"/>
              </a:spcBef>
              <a:spcAft>
                <a:spcPts val="0"/>
              </a:spcAft>
              <a:buClr>
                <a:schemeClr val="dk1"/>
              </a:buClr>
              <a:buSzPts val="1400"/>
              <a:buFont typeface="Arial"/>
              <a:buNone/>
            </a:pPr>
            <a:endParaRPr>
              <a:solidFill>
                <a:schemeClr val="dk2"/>
              </a:solidFill>
              <a:latin typeface="Open Sans Light"/>
              <a:ea typeface="Open Sans Light"/>
              <a:cs typeface="Open Sans Light"/>
              <a:sym typeface="Open Sans Light"/>
            </a:endParaRPr>
          </a:p>
          <a:p>
            <a:pPr marL="0" marR="0" lvl="0" indent="0" algn="l" rtl="0">
              <a:lnSpc>
                <a:spcPct val="115000"/>
              </a:lnSpc>
              <a:spcBef>
                <a:spcPts val="0"/>
              </a:spcBef>
              <a:spcAft>
                <a:spcPts val="0"/>
              </a:spcAft>
              <a:buClr>
                <a:schemeClr val="dk1"/>
              </a:buClr>
              <a:buSzPts val="1400"/>
              <a:buFont typeface="Arial"/>
              <a:buNone/>
            </a:pPr>
            <a:endParaRPr>
              <a:solidFill>
                <a:schemeClr val="dk2"/>
              </a:solidFill>
              <a:latin typeface="Open Sans Light"/>
              <a:ea typeface="Open Sans Light"/>
              <a:cs typeface="Open Sans Light"/>
              <a:sym typeface="Open Sans Light"/>
            </a:endParaRPr>
          </a:p>
          <a:p>
            <a:pPr marL="0" marR="0" lvl="0" indent="0" algn="l" rtl="0">
              <a:lnSpc>
                <a:spcPct val="115000"/>
              </a:lnSpc>
              <a:spcBef>
                <a:spcPts val="0"/>
              </a:spcBef>
              <a:spcAft>
                <a:spcPts val="600"/>
              </a:spcAft>
              <a:buClr>
                <a:srgbClr val="000000"/>
              </a:buClr>
              <a:buSzPts val="1400"/>
              <a:buFont typeface="Arial"/>
              <a:buNone/>
            </a:pPr>
            <a:endParaRPr sz="1400" b="0" i="0" u="none" strike="noStrike" cap="none">
              <a:solidFill>
                <a:schemeClr val="dk2"/>
              </a:solidFill>
              <a:latin typeface="Open Sans Light"/>
              <a:ea typeface="Open Sans Light"/>
              <a:cs typeface="Open Sans Light"/>
              <a:sym typeface="Open Sans Light"/>
            </a:endParaRPr>
          </a:p>
        </p:txBody>
      </p:sp>
      <p:pic>
        <p:nvPicPr>
          <p:cNvPr id="346" name="Google Shape;346;g31a98d15345_0_15"/>
          <p:cNvPicPr preferRelativeResize="0"/>
          <p:nvPr/>
        </p:nvPicPr>
        <p:blipFill>
          <a:blip r:embed="rId4">
            <a:alphaModFix/>
          </a:blip>
          <a:stretch>
            <a:fillRect/>
          </a:stretch>
        </p:blipFill>
        <p:spPr>
          <a:xfrm>
            <a:off x="6732075" y="1388575"/>
            <a:ext cx="2259725" cy="225972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50"/>
        <p:cNvGrpSpPr/>
        <p:nvPr/>
      </p:nvGrpSpPr>
      <p:grpSpPr>
        <a:xfrm>
          <a:off x="0" y="0"/>
          <a:ext cx="0" cy="0"/>
          <a:chOff x="0" y="0"/>
          <a:chExt cx="0" cy="0"/>
        </a:xfrm>
      </p:grpSpPr>
      <p:sp>
        <p:nvSpPr>
          <p:cNvPr id="351" name="Google Shape;351;p25"/>
          <p:cNvSpPr txBox="1"/>
          <p:nvPr/>
        </p:nvSpPr>
        <p:spPr>
          <a:xfrm>
            <a:off x="311700" y="905256"/>
            <a:ext cx="8520600" cy="40413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rgbClr val="000000"/>
              </a:buClr>
              <a:buSzPts val="2800"/>
              <a:buFont typeface="Arial"/>
              <a:buNone/>
            </a:pPr>
            <a:r>
              <a:rPr lang="en" sz="2800" b="0" i="0" u="none" strike="noStrike" cap="none">
                <a:solidFill>
                  <a:srgbClr val="002D45"/>
                </a:solidFill>
                <a:latin typeface="Montserrat"/>
                <a:ea typeface="Montserrat"/>
                <a:cs typeface="Montserrat"/>
                <a:sym typeface="Montserrat"/>
              </a:rPr>
              <a:t>Final Thoughts</a:t>
            </a:r>
            <a:endParaRPr sz="2800" b="0" i="0" u="none" strike="noStrike" cap="none">
              <a:solidFill>
                <a:srgbClr val="002D45"/>
              </a:solidFill>
              <a:latin typeface="Montserrat"/>
              <a:ea typeface="Montserrat"/>
              <a:cs typeface="Montserrat"/>
              <a:sym typeface="Montserrat"/>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55"/>
        <p:cNvGrpSpPr/>
        <p:nvPr/>
      </p:nvGrpSpPr>
      <p:grpSpPr>
        <a:xfrm>
          <a:off x="0" y="0"/>
          <a:ext cx="0" cy="0"/>
          <a:chOff x="0" y="0"/>
          <a:chExt cx="0" cy="0"/>
        </a:xfrm>
      </p:grpSpPr>
      <p:sp>
        <p:nvSpPr>
          <p:cNvPr id="356" name="Google Shape;356;p27"/>
          <p:cNvSpPr txBox="1"/>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 sz="2800" b="0" i="0" u="none" strike="noStrike" cap="none">
                <a:solidFill>
                  <a:srgbClr val="002D45"/>
                </a:solidFill>
                <a:latin typeface="Montserrat"/>
                <a:ea typeface="Montserrat"/>
                <a:cs typeface="Montserrat"/>
                <a:sym typeface="Montserrat"/>
              </a:rPr>
              <a:t>Potential Next Steps</a:t>
            </a:r>
            <a:endParaRPr sz="2800" b="0" i="0" u="none" strike="noStrike" cap="none">
              <a:solidFill>
                <a:srgbClr val="002D45"/>
              </a:solidFill>
              <a:latin typeface="Montserrat"/>
              <a:ea typeface="Montserrat"/>
              <a:cs typeface="Montserrat"/>
              <a:sym typeface="Montserrat"/>
            </a:endParaRPr>
          </a:p>
        </p:txBody>
      </p:sp>
      <p:sp>
        <p:nvSpPr>
          <p:cNvPr id="357" name="Google Shape;357;p27"/>
          <p:cNvSpPr txBox="1"/>
          <p:nvPr/>
        </p:nvSpPr>
        <p:spPr>
          <a:xfrm>
            <a:off x="311700" y="1017725"/>
            <a:ext cx="8520600" cy="3607800"/>
          </a:xfrm>
          <a:prstGeom prst="rect">
            <a:avLst/>
          </a:prstGeom>
          <a:noFill/>
          <a:ln>
            <a:noFill/>
          </a:ln>
        </p:spPr>
        <p:txBody>
          <a:bodyPr spcFirstLastPara="1" wrap="square" lIns="91425" tIns="91425" rIns="91425" bIns="91425" anchor="t" anchorCtr="0">
            <a:noAutofit/>
          </a:bodyPr>
          <a:lstStyle/>
          <a:p>
            <a:pPr marL="457200" marR="0" lvl="0" indent="-317500" algn="l" rtl="0">
              <a:lnSpc>
                <a:spcPct val="115000"/>
              </a:lnSpc>
              <a:spcBef>
                <a:spcPts val="0"/>
              </a:spcBef>
              <a:spcAft>
                <a:spcPts val="0"/>
              </a:spcAft>
              <a:buClr>
                <a:schemeClr val="dk2"/>
              </a:buClr>
              <a:buSzPts val="1400"/>
              <a:buChar char="●"/>
            </a:pPr>
            <a:r>
              <a:rPr lang="en">
                <a:solidFill>
                  <a:schemeClr val="dk2"/>
                </a:solidFill>
                <a:latin typeface="Open Sans Light"/>
                <a:ea typeface="Open Sans Light"/>
                <a:cs typeface="Open Sans Light"/>
                <a:sym typeface="Open Sans Light"/>
              </a:rPr>
              <a:t>Integrate all our codes to create a complete technology news insight engine that have </a:t>
            </a:r>
            <a:r>
              <a:rPr lang="en" b="1">
                <a:solidFill>
                  <a:schemeClr val="dk2"/>
                </a:solidFill>
                <a:latin typeface="Open Sans"/>
                <a:ea typeface="Open Sans"/>
                <a:cs typeface="Open Sans"/>
                <a:sym typeface="Open Sans"/>
              </a:rPr>
              <a:t>all the functionalities</a:t>
            </a:r>
            <a:endParaRPr b="1">
              <a:solidFill>
                <a:schemeClr val="dk2"/>
              </a:solidFill>
              <a:latin typeface="Open Sans"/>
              <a:ea typeface="Open Sans"/>
              <a:cs typeface="Open Sans"/>
              <a:sym typeface="Open Sans"/>
            </a:endParaRPr>
          </a:p>
          <a:p>
            <a:pPr marL="914400" marR="0" lvl="1" indent="-317500" algn="l" rtl="0">
              <a:lnSpc>
                <a:spcPct val="115000"/>
              </a:lnSpc>
              <a:spcBef>
                <a:spcPts val="0"/>
              </a:spcBef>
              <a:spcAft>
                <a:spcPts val="0"/>
              </a:spcAft>
              <a:buClr>
                <a:schemeClr val="dk2"/>
              </a:buClr>
              <a:buSzPts val="1400"/>
              <a:buFont typeface="Open Sans Light"/>
              <a:buChar char="○"/>
            </a:pPr>
            <a:r>
              <a:rPr lang="en">
                <a:solidFill>
                  <a:schemeClr val="dk2"/>
                </a:solidFill>
                <a:latin typeface="Open Sans Light"/>
                <a:ea typeface="Open Sans Light"/>
                <a:cs typeface="Open Sans Light"/>
                <a:sym typeface="Open Sans Light"/>
              </a:rPr>
              <a:t>Sentiment Analysis and Forecasting</a:t>
            </a:r>
            <a:endParaRPr>
              <a:solidFill>
                <a:schemeClr val="dk2"/>
              </a:solidFill>
              <a:latin typeface="Open Sans Light"/>
              <a:ea typeface="Open Sans Light"/>
              <a:cs typeface="Open Sans Light"/>
              <a:sym typeface="Open Sans Light"/>
            </a:endParaRPr>
          </a:p>
          <a:p>
            <a:pPr marL="914400" marR="0" lvl="1" indent="-317500" algn="l" rtl="0">
              <a:lnSpc>
                <a:spcPct val="115000"/>
              </a:lnSpc>
              <a:spcBef>
                <a:spcPts val="0"/>
              </a:spcBef>
              <a:spcAft>
                <a:spcPts val="0"/>
              </a:spcAft>
              <a:buClr>
                <a:schemeClr val="dk2"/>
              </a:buClr>
              <a:buSzPts val="1400"/>
              <a:buFont typeface="Open Sans Light"/>
              <a:buChar char="○"/>
            </a:pPr>
            <a:r>
              <a:rPr lang="en">
                <a:solidFill>
                  <a:schemeClr val="dk2"/>
                </a:solidFill>
                <a:latin typeface="Open Sans Light"/>
                <a:ea typeface="Open Sans Light"/>
                <a:cs typeface="Open Sans Light"/>
                <a:sym typeface="Open Sans Light"/>
              </a:rPr>
              <a:t>Topic Modeling</a:t>
            </a:r>
            <a:endParaRPr>
              <a:solidFill>
                <a:schemeClr val="dk2"/>
              </a:solidFill>
              <a:latin typeface="Open Sans Light"/>
              <a:ea typeface="Open Sans Light"/>
              <a:cs typeface="Open Sans Light"/>
              <a:sym typeface="Open Sans Light"/>
            </a:endParaRPr>
          </a:p>
          <a:p>
            <a:pPr marL="914400" marR="0" lvl="1" indent="-317500" algn="l" rtl="0">
              <a:lnSpc>
                <a:spcPct val="115000"/>
              </a:lnSpc>
              <a:spcBef>
                <a:spcPts val="0"/>
              </a:spcBef>
              <a:spcAft>
                <a:spcPts val="0"/>
              </a:spcAft>
              <a:buClr>
                <a:schemeClr val="dk2"/>
              </a:buClr>
              <a:buSzPts val="1400"/>
              <a:buFont typeface="Open Sans Light"/>
              <a:buChar char="○"/>
            </a:pPr>
            <a:r>
              <a:rPr lang="en">
                <a:solidFill>
                  <a:schemeClr val="dk2"/>
                </a:solidFill>
                <a:latin typeface="Open Sans Light"/>
                <a:ea typeface="Open Sans Light"/>
                <a:cs typeface="Open Sans Light"/>
                <a:sym typeface="Open Sans Light"/>
              </a:rPr>
              <a:t>Entity Relationship Mapping</a:t>
            </a:r>
            <a:endParaRPr>
              <a:solidFill>
                <a:schemeClr val="dk2"/>
              </a:solidFill>
              <a:latin typeface="Open Sans Light"/>
              <a:ea typeface="Open Sans Light"/>
              <a:cs typeface="Open Sans Light"/>
              <a:sym typeface="Open Sans Light"/>
            </a:endParaRPr>
          </a:p>
          <a:p>
            <a:pPr marL="914400" marR="0" lvl="1" indent="-317500" algn="l" rtl="0">
              <a:lnSpc>
                <a:spcPct val="115000"/>
              </a:lnSpc>
              <a:spcBef>
                <a:spcPts val="0"/>
              </a:spcBef>
              <a:spcAft>
                <a:spcPts val="0"/>
              </a:spcAft>
              <a:buClr>
                <a:schemeClr val="dk2"/>
              </a:buClr>
              <a:buSzPts val="1400"/>
              <a:buFont typeface="Open Sans Light"/>
              <a:buChar char="○"/>
            </a:pPr>
            <a:r>
              <a:rPr lang="en">
                <a:solidFill>
                  <a:schemeClr val="dk2"/>
                </a:solidFill>
                <a:latin typeface="Open Sans Light"/>
                <a:ea typeface="Open Sans Light"/>
                <a:cs typeface="Open Sans Light"/>
                <a:sym typeface="Open Sans Light"/>
              </a:rPr>
              <a:t>Strategic Recommendation System</a:t>
            </a:r>
            <a:endParaRPr>
              <a:solidFill>
                <a:schemeClr val="dk2"/>
              </a:solidFill>
              <a:latin typeface="Open Sans Light"/>
              <a:ea typeface="Open Sans Light"/>
              <a:cs typeface="Open Sans Light"/>
              <a:sym typeface="Open Sans Light"/>
            </a:endParaRPr>
          </a:p>
          <a:p>
            <a:pPr marL="914400" marR="0" lvl="0" indent="0" algn="l" rtl="0">
              <a:lnSpc>
                <a:spcPct val="115000"/>
              </a:lnSpc>
              <a:spcBef>
                <a:spcPts val="0"/>
              </a:spcBef>
              <a:spcAft>
                <a:spcPts val="0"/>
              </a:spcAft>
              <a:buNone/>
            </a:pPr>
            <a:endParaRPr>
              <a:solidFill>
                <a:schemeClr val="dk2"/>
              </a:solidFill>
              <a:latin typeface="Open Sans Light"/>
              <a:ea typeface="Open Sans Light"/>
              <a:cs typeface="Open Sans Light"/>
              <a:sym typeface="Open Sans Light"/>
            </a:endParaRPr>
          </a:p>
          <a:p>
            <a:pPr marL="457200" marR="0" lvl="0" indent="-317500" algn="l" rtl="0">
              <a:lnSpc>
                <a:spcPct val="115000"/>
              </a:lnSpc>
              <a:spcBef>
                <a:spcPts val="0"/>
              </a:spcBef>
              <a:spcAft>
                <a:spcPts val="0"/>
              </a:spcAft>
              <a:buClr>
                <a:schemeClr val="dk2"/>
              </a:buClr>
              <a:buSzPts val="1400"/>
              <a:buFont typeface="Open Sans Light"/>
              <a:buChar char="●"/>
            </a:pPr>
            <a:r>
              <a:rPr lang="en">
                <a:solidFill>
                  <a:schemeClr val="dk2"/>
                </a:solidFill>
                <a:latin typeface="Open Sans Light"/>
                <a:ea typeface="Open Sans Light"/>
                <a:cs typeface="Open Sans Light"/>
                <a:sym typeface="Open Sans Light"/>
              </a:rPr>
              <a:t>Add web scraping functionality</a:t>
            </a:r>
            <a:endParaRPr>
              <a:solidFill>
                <a:schemeClr val="dk2"/>
              </a:solidFill>
              <a:latin typeface="Open Sans Light"/>
              <a:ea typeface="Open Sans Light"/>
              <a:cs typeface="Open Sans Light"/>
              <a:sym typeface="Open Sans Light"/>
            </a:endParaRPr>
          </a:p>
          <a:p>
            <a:pPr marL="914400" marR="0" lvl="0" indent="0" algn="l" rtl="0">
              <a:lnSpc>
                <a:spcPct val="115000"/>
              </a:lnSpc>
              <a:spcBef>
                <a:spcPts val="0"/>
              </a:spcBef>
              <a:spcAft>
                <a:spcPts val="0"/>
              </a:spcAft>
              <a:buNone/>
            </a:pPr>
            <a:endParaRPr>
              <a:solidFill>
                <a:schemeClr val="dk2"/>
              </a:solidFill>
              <a:latin typeface="Open Sans Light"/>
              <a:ea typeface="Open Sans Light"/>
              <a:cs typeface="Open Sans Light"/>
              <a:sym typeface="Open Sans Light"/>
            </a:endParaRPr>
          </a:p>
          <a:p>
            <a:pPr marL="457200" marR="0" lvl="0" indent="-317500" algn="l" rtl="0">
              <a:lnSpc>
                <a:spcPct val="115000"/>
              </a:lnSpc>
              <a:spcBef>
                <a:spcPts val="0"/>
              </a:spcBef>
              <a:spcAft>
                <a:spcPts val="0"/>
              </a:spcAft>
              <a:buClr>
                <a:schemeClr val="dk2"/>
              </a:buClr>
              <a:buSzPts val="1400"/>
              <a:buFont typeface="Open Sans Light"/>
              <a:buChar char="●"/>
            </a:pPr>
            <a:r>
              <a:rPr lang="en">
                <a:solidFill>
                  <a:schemeClr val="dk2"/>
                </a:solidFill>
                <a:latin typeface="Open Sans Light"/>
                <a:ea typeface="Open Sans Light"/>
                <a:cs typeface="Open Sans Light"/>
                <a:sym typeface="Open Sans Light"/>
              </a:rPr>
              <a:t>Replace the summarization methods with </a:t>
            </a:r>
            <a:r>
              <a:rPr lang="en" b="1">
                <a:solidFill>
                  <a:schemeClr val="dk2"/>
                </a:solidFill>
                <a:latin typeface="Open Sans"/>
                <a:ea typeface="Open Sans"/>
                <a:cs typeface="Open Sans"/>
                <a:sym typeface="Open Sans"/>
              </a:rPr>
              <a:t>SmolLM-v2</a:t>
            </a:r>
            <a:r>
              <a:rPr lang="en">
                <a:solidFill>
                  <a:schemeClr val="dk2"/>
                </a:solidFill>
                <a:latin typeface="Open Sans Light"/>
                <a:ea typeface="Open Sans Light"/>
                <a:cs typeface="Open Sans Light"/>
                <a:sym typeface="Open Sans Light"/>
              </a:rPr>
              <a:t> on Transformer</a:t>
            </a:r>
            <a:endParaRPr>
              <a:solidFill>
                <a:schemeClr val="dk2"/>
              </a:solidFill>
              <a:latin typeface="Open Sans Light"/>
              <a:ea typeface="Open Sans Light"/>
              <a:cs typeface="Open Sans Light"/>
              <a:sym typeface="Open Sans Light"/>
            </a:endParaRPr>
          </a:p>
          <a:p>
            <a:pPr marL="457200" marR="0" lvl="0" indent="0" algn="l" rtl="0">
              <a:lnSpc>
                <a:spcPct val="115000"/>
              </a:lnSpc>
              <a:spcBef>
                <a:spcPts val="0"/>
              </a:spcBef>
              <a:spcAft>
                <a:spcPts val="0"/>
              </a:spcAft>
              <a:buNone/>
            </a:pPr>
            <a:endParaRPr>
              <a:solidFill>
                <a:schemeClr val="dk2"/>
              </a:solidFill>
              <a:latin typeface="Open Sans Light"/>
              <a:ea typeface="Open Sans Light"/>
              <a:cs typeface="Open Sans Light"/>
              <a:sym typeface="Open Sans Light"/>
            </a:endParaRPr>
          </a:p>
          <a:p>
            <a:pPr marL="457200" marR="0" lvl="0" indent="-317500" algn="l" rtl="0">
              <a:lnSpc>
                <a:spcPct val="115000"/>
              </a:lnSpc>
              <a:spcBef>
                <a:spcPts val="0"/>
              </a:spcBef>
              <a:spcAft>
                <a:spcPts val="0"/>
              </a:spcAft>
              <a:buClr>
                <a:schemeClr val="dk2"/>
              </a:buClr>
              <a:buSzPts val="1400"/>
              <a:buFont typeface="Open Sans Light"/>
              <a:buChar char="●"/>
            </a:pPr>
            <a:r>
              <a:rPr lang="en">
                <a:solidFill>
                  <a:schemeClr val="dk2"/>
                </a:solidFill>
                <a:latin typeface="Open Sans Light"/>
                <a:ea typeface="Open Sans Light"/>
                <a:cs typeface="Open Sans Light"/>
                <a:sym typeface="Open Sans Light"/>
              </a:rPr>
              <a:t>Fine-tuned </a:t>
            </a:r>
            <a:r>
              <a:rPr lang="en" b="1">
                <a:solidFill>
                  <a:schemeClr val="dk2"/>
                </a:solidFill>
                <a:latin typeface="Open Sans"/>
                <a:ea typeface="Open Sans"/>
                <a:cs typeface="Open Sans"/>
                <a:sym typeface="Open Sans"/>
              </a:rPr>
              <a:t>Llamma2-7b-chat-hf</a:t>
            </a:r>
            <a:r>
              <a:rPr lang="en">
                <a:solidFill>
                  <a:schemeClr val="dk2"/>
                </a:solidFill>
                <a:latin typeface="Open Sans Light"/>
                <a:ea typeface="Open Sans Light"/>
                <a:cs typeface="Open Sans Light"/>
                <a:sym typeface="Open Sans Light"/>
              </a:rPr>
              <a:t> model used by recommendation system and </a:t>
            </a:r>
            <a:r>
              <a:rPr lang="en" b="1">
                <a:solidFill>
                  <a:schemeClr val="dk2"/>
                </a:solidFill>
                <a:latin typeface="Open Sans"/>
                <a:ea typeface="Open Sans"/>
                <a:cs typeface="Open Sans"/>
                <a:sym typeface="Open Sans"/>
              </a:rPr>
              <a:t>SmolLM-v2</a:t>
            </a:r>
            <a:endParaRPr b="1">
              <a:solidFill>
                <a:schemeClr val="dk2"/>
              </a:solidFill>
              <a:latin typeface="Open Sans"/>
              <a:ea typeface="Open Sans"/>
              <a:cs typeface="Open Sans"/>
              <a:sym typeface="Open Sans"/>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61"/>
        <p:cNvGrpSpPr/>
        <p:nvPr/>
      </p:nvGrpSpPr>
      <p:grpSpPr>
        <a:xfrm>
          <a:off x="0" y="0"/>
          <a:ext cx="0" cy="0"/>
          <a:chOff x="0" y="0"/>
          <a:chExt cx="0" cy="0"/>
        </a:xfrm>
      </p:grpSpPr>
      <p:sp>
        <p:nvSpPr>
          <p:cNvPr id="362" name="Google Shape;362;g31c6c500ab9_0_23"/>
          <p:cNvSpPr txBox="1"/>
          <p:nvPr/>
        </p:nvSpPr>
        <p:spPr>
          <a:xfrm>
            <a:off x="112350" y="2170802"/>
            <a:ext cx="8520600" cy="801900"/>
          </a:xfrm>
          <a:prstGeom prst="rect">
            <a:avLst/>
          </a:prstGeom>
          <a:noFill/>
          <a:ln>
            <a:noFill/>
          </a:ln>
        </p:spPr>
        <p:txBody>
          <a:bodyPr spcFirstLastPara="1" wrap="square" lIns="91425" tIns="91425" rIns="91425" bIns="91425" anchor="b" anchorCtr="0">
            <a:noAutofit/>
          </a:bodyPr>
          <a:lstStyle/>
          <a:p>
            <a:pPr marL="0" marR="0" lvl="0" indent="0" algn="ctr" rtl="0">
              <a:lnSpc>
                <a:spcPct val="100000"/>
              </a:lnSpc>
              <a:spcBef>
                <a:spcPts val="0"/>
              </a:spcBef>
              <a:spcAft>
                <a:spcPts val="0"/>
              </a:spcAft>
              <a:buClr>
                <a:srgbClr val="000000"/>
              </a:buClr>
              <a:buSzPts val="2800"/>
              <a:buFont typeface="Arial"/>
              <a:buNone/>
            </a:pPr>
            <a:r>
              <a:rPr lang="en" sz="2800">
                <a:solidFill>
                  <a:srgbClr val="002D45"/>
                </a:solidFill>
                <a:latin typeface="Montserrat"/>
                <a:ea typeface="Montserrat"/>
                <a:cs typeface="Montserrat"/>
                <a:sym typeface="Montserrat"/>
              </a:rPr>
              <a:t>Thank you!</a:t>
            </a:r>
            <a:endParaRPr sz="2800" b="0" i="0" u="none" strike="noStrike" cap="none">
              <a:solidFill>
                <a:srgbClr val="002D45"/>
              </a:solidFill>
              <a:latin typeface="Montserrat"/>
              <a:ea typeface="Montserrat"/>
              <a:cs typeface="Montserrat"/>
              <a:sym typeface="Montserrat"/>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66"/>
        <p:cNvGrpSpPr/>
        <p:nvPr/>
      </p:nvGrpSpPr>
      <p:grpSpPr>
        <a:xfrm>
          <a:off x="0" y="0"/>
          <a:ext cx="0" cy="0"/>
          <a:chOff x="0" y="0"/>
          <a:chExt cx="0" cy="0"/>
        </a:xfrm>
      </p:grpSpPr>
      <p:sp>
        <p:nvSpPr>
          <p:cNvPr id="367" name="Google Shape;367;p28"/>
          <p:cNvSpPr txBox="1"/>
          <p:nvPr/>
        </p:nvSpPr>
        <p:spPr>
          <a:xfrm>
            <a:off x="301175" y="2578825"/>
            <a:ext cx="7894200" cy="20526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rgbClr val="000000"/>
              </a:buClr>
              <a:buSzPts val="4800"/>
              <a:buFont typeface="Arial"/>
              <a:buNone/>
            </a:pPr>
            <a:r>
              <a:rPr lang="en" sz="4800" b="1" i="0" u="none" strike="noStrike" cap="none">
                <a:solidFill>
                  <a:srgbClr val="C1F400"/>
                </a:solidFill>
                <a:latin typeface="Montserrat"/>
                <a:ea typeface="Montserrat"/>
                <a:cs typeface="Montserrat"/>
                <a:sym typeface="Montserrat"/>
              </a:rPr>
              <a:t>Questions?</a:t>
            </a:r>
            <a:endParaRPr sz="4800" b="1" i="0" u="none" strike="noStrike" cap="none">
              <a:solidFill>
                <a:srgbClr val="C1F400"/>
              </a:solidFill>
              <a:latin typeface="Montserrat"/>
              <a:ea typeface="Montserrat"/>
              <a:cs typeface="Montserrat"/>
              <a:sym typeface="Montserrat"/>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77"/>
        <p:cNvGrpSpPr/>
        <p:nvPr/>
      </p:nvGrpSpPr>
      <p:grpSpPr>
        <a:xfrm>
          <a:off x="0" y="0"/>
          <a:ext cx="0" cy="0"/>
          <a:chOff x="0" y="0"/>
          <a:chExt cx="0" cy="0"/>
        </a:xfrm>
      </p:grpSpPr>
      <p:sp>
        <p:nvSpPr>
          <p:cNvPr id="378" name="Google Shape;378;g31a98d15345_0_25"/>
          <p:cNvSpPr txBox="1"/>
          <p:nvPr/>
        </p:nvSpPr>
        <p:spPr>
          <a:xfrm>
            <a:off x="112350" y="2170802"/>
            <a:ext cx="8520600" cy="801900"/>
          </a:xfrm>
          <a:prstGeom prst="rect">
            <a:avLst/>
          </a:prstGeom>
          <a:noFill/>
          <a:ln>
            <a:noFill/>
          </a:ln>
        </p:spPr>
        <p:txBody>
          <a:bodyPr spcFirstLastPara="1" wrap="square" lIns="91425" tIns="91425" rIns="91425" bIns="91425" anchor="b" anchorCtr="0">
            <a:noAutofit/>
          </a:bodyPr>
          <a:lstStyle/>
          <a:p>
            <a:pPr marL="0" marR="0" lvl="0" indent="0" algn="ctr" rtl="0">
              <a:lnSpc>
                <a:spcPct val="100000"/>
              </a:lnSpc>
              <a:spcBef>
                <a:spcPts val="0"/>
              </a:spcBef>
              <a:spcAft>
                <a:spcPts val="0"/>
              </a:spcAft>
              <a:buClr>
                <a:srgbClr val="000000"/>
              </a:buClr>
              <a:buSzPts val="2800"/>
              <a:buFont typeface="Arial"/>
              <a:buNone/>
            </a:pPr>
            <a:r>
              <a:rPr lang="en" sz="2800">
                <a:solidFill>
                  <a:srgbClr val="002D45"/>
                </a:solidFill>
                <a:latin typeface="Montserrat"/>
                <a:ea typeface="Montserrat"/>
                <a:cs typeface="Montserrat"/>
                <a:sym typeface="Montserrat"/>
              </a:rPr>
              <a:t>Appendix</a:t>
            </a:r>
            <a:endParaRPr sz="2800" b="0" i="0" u="none" strike="noStrike" cap="none">
              <a:solidFill>
                <a:srgbClr val="002D45"/>
              </a:solidFill>
              <a:latin typeface="Montserrat"/>
              <a:ea typeface="Montserrat"/>
              <a:cs typeface="Montserrat"/>
              <a:sym typeface="Montserrat"/>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82"/>
        <p:cNvGrpSpPr/>
        <p:nvPr/>
      </p:nvGrpSpPr>
      <p:grpSpPr>
        <a:xfrm>
          <a:off x="0" y="0"/>
          <a:ext cx="0" cy="0"/>
          <a:chOff x="0" y="0"/>
          <a:chExt cx="0" cy="0"/>
        </a:xfrm>
      </p:grpSpPr>
      <p:sp>
        <p:nvSpPr>
          <p:cNvPr id="383" name="Google Shape;383;g31a98d15345_0_29"/>
          <p:cNvSpPr txBox="1"/>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 sz="2800">
                <a:solidFill>
                  <a:srgbClr val="002D45"/>
                </a:solidFill>
                <a:latin typeface="Montserrat"/>
                <a:ea typeface="Montserrat"/>
                <a:cs typeface="Montserrat"/>
                <a:sym typeface="Montserrat"/>
              </a:rPr>
              <a:t>Recommendation System Example (3)</a:t>
            </a:r>
            <a:endParaRPr sz="2800" b="0" i="0" u="none" strike="noStrike" cap="none">
              <a:solidFill>
                <a:srgbClr val="002D45"/>
              </a:solidFill>
              <a:latin typeface="Montserrat"/>
              <a:ea typeface="Montserrat"/>
              <a:cs typeface="Montserrat"/>
              <a:sym typeface="Montserrat"/>
            </a:endParaRPr>
          </a:p>
        </p:txBody>
      </p:sp>
      <p:sp>
        <p:nvSpPr>
          <p:cNvPr id="384" name="Google Shape;384;g31a98d15345_0_29"/>
          <p:cNvSpPr txBox="1"/>
          <p:nvPr/>
        </p:nvSpPr>
        <p:spPr>
          <a:xfrm>
            <a:off x="311700" y="1090800"/>
            <a:ext cx="8520600" cy="3972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2"/>
                </a:solidFill>
                <a:latin typeface="Open Sans Light"/>
                <a:ea typeface="Open Sans Light"/>
                <a:cs typeface="Open Sans Light"/>
                <a:sym typeface="Open Sans Light"/>
              </a:rPr>
              <a:t>Question: What are the strength, weaknesses, opportunity, and threats for cloud accounting software platform and each company?</a:t>
            </a:r>
            <a:endParaRPr>
              <a:solidFill>
                <a:schemeClr val="dk2"/>
              </a:solidFill>
              <a:latin typeface="Open Sans Light"/>
              <a:ea typeface="Open Sans Light"/>
              <a:cs typeface="Open Sans Light"/>
              <a:sym typeface="Open Sans Light"/>
            </a:endParaRPr>
          </a:p>
          <a:p>
            <a:pPr marL="0" lvl="0" indent="0" algn="l" rtl="0">
              <a:spcBef>
                <a:spcPts val="0"/>
              </a:spcBef>
              <a:spcAft>
                <a:spcPts val="0"/>
              </a:spcAft>
              <a:buNone/>
            </a:pPr>
            <a:endParaRPr>
              <a:solidFill>
                <a:schemeClr val="dk2"/>
              </a:solidFill>
              <a:latin typeface="Open Sans Light"/>
              <a:ea typeface="Open Sans Light"/>
              <a:cs typeface="Open Sans Light"/>
              <a:sym typeface="Open Sans Light"/>
            </a:endParaRPr>
          </a:p>
          <a:p>
            <a:pPr marL="0" lvl="0" indent="0" algn="l" rtl="0">
              <a:spcBef>
                <a:spcPts val="0"/>
              </a:spcBef>
              <a:spcAft>
                <a:spcPts val="0"/>
              </a:spcAft>
              <a:buNone/>
            </a:pPr>
            <a:r>
              <a:rPr lang="en">
                <a:solidFill>
                  <a:schemeClr val="dk2"/>
                </a:solidFill>
                <a:latin typeface="Open Sans Light"/>
                <a:ea typeface="Open Sans Light"/>
                <a:cs typeface="Open Sans Light"/>
                <a:sym typeface="Open Sans Light"/>
              </a:rPr>
              <a:t>Answer:</a:t>
            </a:r>
            <a:endParaRPr>
              <a:solidFill>
                <a:schemeClr val="dk2"/>
              </a:solidFill>
              <a:latin typeface="Open Sans Light"/>
              <a:ea typeface="Open Sans Light"/>
              <a:cs typeface="Open Sans Light"/>
              <a:sym typeface="Open Sans Light"/>
            </a:endParaRPr>
          </a:p>
          <a:p>
            <a:pPr marL="457200" lvl="0" indent="-304800" algn="l" rtl="0">
              <a:spcBef>
                <a:spcPts val="0"/>
              </a:spcBef>
              <a:spcAft>
                <a:spcPts val="0"/>
              </a:spcAft>
              <a:buClr>
                <a:schemeClr val="dk2"/>
              </a:buClr>
              <a:buSzPts val="1200"/>
              <a:buFont typeface="Open Sans Light"/>
              <a:buAutoNum type="arabicPeriod"/>
            </a:pPr>
            <a:r>
              <a:rPr lang="en" sz="1200" b="1">
                <a:solidFill>
                  <a:schemeClr val="dk2"/>
                </a:solidFill>
                <a:latin typeface="Open Sans"/>
                <a:ea typeface="Open Sans"/>
                <a:cs typeface="Open Sans"/>
                <a:sym typeface="Open Sans"/>
              </a:rPr>
              <a:t>Strengths</a:t>
            </a:r>
            <a:r>
              <a:rPr lang="en" sz="1200">
                <a:solidFill>
                  <a:schemeClr val="dk2"/>
                </a:solidFill>
                <a:latin typeface="Open Sans Light"/>
                <a:ea typeface="Open Sans Light"/>
                <a:cs typeface="Open Sans Light"/>
                <a:sym typeface="Open Sans Light"/>
              </a:rPr>
              <a:t>:</a:t>
            </a:r>
            <a:endParaRPr sz="1200">
              <a:solidFill>
                <a:schemeClr val="dk2"/>
              </a:solidFill>
              <a:latin typeface="Open Sans Light"/>
              <a:ea typeface="Open Sans Light"/>
              <a:cs typeface="Open Sans Light"/>
              <a:sym typeface="Open Sans Light"/>
            </a:endParaRPr>
          </a:p>
          <a:p>
            <a:pPr marL="914400" lvl="1" indent="-304800" algn="l" rtl="0">
              <a:spcBef>
                <a:spcPts val="0"/>
              </a:spcBef>
              <a:spcAft>
                <a:spcPts val="0"/>
              </a:spcAft>
              <a:buClr>
                <a:schemeClr val="dk2"/>
              </a:buClr>
              <a:buSzPts val="1200"/>
              <a:buFont typeface="Open Sans Light"/>
              <a:buChar char="○"/>
            </a:pPr>
            <a:r>
              <a:rPr lang="en" sz="1200">
                <a:solidFill>
                  <a:schemeClr val="dk2"/>
                </a:solidFill>
                <a:latin typeface="Open Sans Light"/>
                <a:ea typeface="Open Sans Light"/>
                <a:cs typeface="Open Sans Light"/>
                <a:sym typeface="Open Sans Light"/>
              </a:rPr>
              <a:t>Cloud accounting software is user-friendly, offers real-time reporting, is scalable, facilitates collaboration, and ensures automatic data backups.</a:t>
            </a:r>
            <a:endParaRPr sz="1200">
              <a:solidFill>
                <a:schemeClr val="dk2"/>
              </a:solidFill>
              <a:latin typeface="Open Sans Light"/>
              <a:ea typeface="Open Sans Light"/>
              <a:cs typeface="Open Sans Light"/>
              <a:sym typeface="Open Sans Light"/>
            </a:endParaRPr>
          </a:p>
          <a:p>
            <a:pPr marL="457200" lvl="0" indent="-304800" algn="l" rtl="0">
              <a:spcBef>
                <a:spcPts val="1000"/>
              </a:spcBef>
              <a:spcAft>
                <a:spcPts val="0"/>
              </a:spcAft>
              <a:buClr>
                <a:schemeClr val="dk2"/>
              </a:buClr>
              <a:buSzPts val="1200"/>
              <a:buFont typeface="Open Sans Light"/>
              <a:buAutoNum type="arabicPeriod"/>
            </a:pPr>
            <a:r>
              <a:rPr lang="en" sz="1200" b="1">
                <a:solidFill>
                  <a:schemeClr val="dk2"/>
                </a:solidFill>
                <a:latin typeface="Open Sans"/>
                <a:ea typeface="Open Sans"/>
                <a:cs typeface="Open Sans"/>
                <a:sym typeface="Open Sans"/>
              </a:rPr>
              <a:t>Weaknesses</a:t>
            </a:r>
            <a:r>
              <a:rPr lang="en" sz="1200">
                <a:solidFill>
                  <a:schemeClr val="dk2"/>
                </a:solidFill>
                <a:latin typeface="Open Sans Light"/>
                <a:ea typeface="Open Sans Light"/>
                <a:cs typeface="Open Sans Light"/>
                <a:sym typeface="Open Sans Light"/>
              </a:rPr>
              <a:t>:</a:t>
            </a:r>
            <a:endParaRPr sz="1200">
              <a:solidFill>
                <a:schemeClr val="dk2"/>
              </a:solidFill>
              <a:latin typeface="Open Sans Light"/>
              <a:ea typeface="Open Sans Light"/>
              <a:cs typeface="Open Sans Light"/>
              <a:sym typeface="Open Sans Light"/>
            </a:endParaRPr>
          </a:p>
          <a:p>
            <a:pPr marL="914400" lvl="1" indent="-304800" algn="l" rtl="0">
              <a:spcBef>
                <a:spcPts val="0"/>
              </a:spcBef>
              <a:spcAft>
                <a:spcPts val="0"/>
              </a:spcAft>
              <a:buClr>
                <a:schemeClr val="dk2"/>
              </a:buClr>
              <a:buSzPts val="1200"/>
              <a:buFont typeface="Open Sans Light"/>
              <a:buChar char="○"/>
            </a:pPr>
            <a:r>
              <a:rPr lang="en" sz="1200">
                <a:solidFill>
                  <a:schemeClr val="dk2"/>
                </a:solidFill>
                <a:latin typeface="Open Sans Light"/>
                <a:ea typeface="Open Sans Light"/>
                <a:cs typeface="Open Sans Light"/>
                <a:sym typeface="Open Sans Light"/>
              </a:rPr>
              <a:t>It may raise security concerns, requires stable internet connectivity, lacks full customization, and can be costly for some businesses.</a:t>
            </a:r>
            <a:endParaRPr sz="1200">
              <a:solidFill>
                <a:schemeClr val="dk2"/>
              </a:solidFill>
              <a:latin typeface="Open Sans Light"/>
              <a:ea typeface="Open Sans Light"/>
              <a:cs typeface="Open Sans Light"/>
              <a:sym typeface="Open Sans Light"/>
            </a:endParaRPr>
          </a:p>
          <a:p>
            <a:pPr marL="457200" lvl="0" indent="-304800" algn="l" rtl="0">
              <a:lnSpc>
                <a:spcPct val="115000"/>
              </a:lnSpc>
              <a:spcBef>
                <a:spcPts val="1000"/>
              </a:spcBef>
              <a:spcAft>
                <a:spcPts val="0"/>
              </a:spcAft>
              <a:buClr>
                <a:schemeClr val="dk2"/>
              </a:buClr>
              <a:buSzPts val="1200"/>
              <a:buFont typeface="Open Sans Light"/>
              <a:buAutoNum type="arabicPeriod"/>
            </a:pPr>
            <a:r>
              <a:rPr lang="en" sz="1200" b="1">
                <a:solidFill>
                  <a:schemeClr val="dk2"/>
                </a:solidFill>
                <a:latin typeface="Open Sans"/>
                <a:ea typeface="Open Sans"/>
                <a:cs typeface="Open Sans"/>
                <a:sym typeface="Open Sans"/>
              </a:rPr>
              <a:t>Opportunities</a:t>
            </a:r>
            <a:r>
              <a:rPr lang="en" sz="1200">
                <a:solidFill>
                  <a:schemeClr val="dk2"/>
                </a:solidFill>
                <a:latin typeface="Open Sans Light"/>
                <a:ea typeface="Open Sans Light"/>
                <a:cs typeface="Open Sans Light"/>
                <a:sym typeface="Open Sans Light"/>
              </a:rPr>
              <a:t>:</a:t>
            </a:r>
            <a:endParaRPr sz="1200">
              <a:solidFill>
                <a:schemeClr val="dk2"/>
              </a:solidFill>
              <a:latin typeface="Open Sans Light"/>
              <a:ea typeface="Open Sans Light"/>
              <a:cs typeface="Open Sans Light"/>
              <a:sym typeface="Open Sans Light"/>
            </a:endParaRPr>
          </a:p>
          <a:p>
            <a:pPr marL="914400" lvl="1" indent="-304800" algn="l" rtl="0">
              <a:lnSpc>
                <a:spcPct val="115000"/>
              </a:lnSpc>
              <a:spcBef>
                <a:spcPts val="0"/>
              </a:spcBef>
              <a:spcAft>
                <a:spcPts val="0"/>
              </a:spcAft>
              <a:buClr>
                <a:schemeClr val="dk2"/>
              </a:buClr>
              <a:buSzPts val="1200"/>
              <a:buFont typeface="Open Sans Light"/>
              <a:buChar char="○"/>
            </a:pPr>
            <a:r>
              <a:rPr lang="en" sz="1200">
                <a:solidFill>
                  <a:schemeClr val="dk2"/>
                </a:solidFill>
                <a:latin typeface="Open Sans Light"/>
                <a:ea typeface="Open Sans Light"/>
                <a:cs typeface="Open Sans Light"/>
                <a:sym typeface="Open Sans Light"/>
              </a:rPr>
              <a:t>There is growing demand, integration potential with other business tools, mobile access for flexibility, and opportunities to expand into new markets.</a:t>
            </a:r>
            <a:endParaRPr sz="1200">
              <a:solidFill>
                <a:schemeClr val="dk2"/>
              </a:solidFill>
              <a:latin typeface="Open Sans Light"/>
              <a:ea typeface="Open Sans Light"/>
              <a:cs typeface="Open Sans Light"/>
              <a:sym typeface="Open Sans Light"/>
            </a:endParaRPr>
          </a:p>
          <a:p>
            <a:pPr marL="457200" lvl="0" indent="-304800" algn="l" rtl="0">
              <a:lnSpc>
                <a:spcPct val="115000"/>
              </a:lnSpc>
              <a:spcBef>
                <a:spcPts val="1000"/>
              </a:spcBef>
              <a:spcAft>
                <a:spcPts val="0"/>
              </a:spcAft>
              <a:buClr>
                <a:schemeClr val="dk2"/>
              </a:buClr>
              <a:buSzPts val="1200"/>
              <a:buFont typeface="Open Sans Light"/>
              <a:buAutoNum type="arabicPeriod"/>
            </a:pPr>
            <a:r>
              <a:rPr lang="en" sz="1200" b="1">
                <a:solidFill>
                  <a:schemeClr val="dk2"/>
                </a:solidFill>
                <a:latin typeface="Open Sans"/>
                <a:ea typeface="Open Sans"/>
                <a:cs typeface="Open Sans"/>
                <a:sym typeface="Open Sans"/>
              </a:rPr>
              <a:t>Threats</a:t>
            </a:r>
            <a:r>
              <a:rPr lang="en" sz="1200">
                <a:solidFill>
                  <a:schemeClr val="dk2"/>
                </a:solidFill>
                <a:latin typeface="Open Sans Light"/>
                <a:ea typeface="Open Sans Light"/>
                <a:cs typeface="Open Sans Light"/>
                <a:sym typeface="Open Sans Light"/>
              </a:rPr>
              <a:t>:</a:t>
            </a:r>
            <a:endParaRPr sz="1200">
              <a:solidFill>
                <a:schemeClr val="dk2"/>
              </a:solidFill>
              <a:latin typeface="Open Sans Light"/>
              <a:ea typeface="Open Sans Light"/>
              <a:cs typeface="Open Sans Light"/>
              <a:sym typeface="Open Sans Light"/>
            </a:endParaRPr>
          </a:p>
          <a:p>
            <a:pPr marL="914400" lvl="1" indent="-298450" algn="l" rtl="0">
              <a:lnSpc>
                <a:spcPct val="115000"/>
              </a:lnSpc>
              <a:spcBef>
                <a:spcPts val="0"/>
              </a:spcBef>
              <a:spcAft>
                <a:spcPts val="0"/>
              </a:spcAft>
              <a:buClr>
                <a:schemeClr val="dk2"/>
              </a:buClr>
              <a:buSzPts val="1100"/>
              <a:buFont typeface="Open Sans Light"/>
              <a:buChar char="○"/>
            </a:pPr>
            <a:r>
              <a:rPr lang="en" sz="1200">
                <a:solidFill>
                  <a:schemeClr val="dk2"/>
                </a:solidFill>
                <a:latin typeface="Open Sans Light"/>
                <a:ea typeface="Open Sans Light"/>
                <a:cs typeface="Open Sans Light"/>
                <a:sym typeface="Open Sans Light"/>
              </a:rPr>
              <a:t>The market is highly competitive, and regulatory changes may pose challenges or necessitate software updates</a:t>
            </a:r>
            <a:r>
              <a:rPr lang="en" sz="1100">
                <a:solidFill>
                  <a:schemeClr val="dk2"/>
                </a:solidFill>
                <a:latin typeface="Open Sans Light"/>
                <a:ea typeface="Open Sans Light"/>
                <a:cs typeface="Open Sans Light"/>
                <a:sym typeface="Open Sans Light"/>
              </a:rPr>
              <a:t>.</a:t>
            </a:r>
            <a:endParaRPr sz="1100">
              <a:solidFill>
                <a:schemeClr val="dk2"/>
              </a:solidFill>
              <a:latin typeface="Open Sans Light"/>
              <a:ea typeface="Open Sans Light"/>
              <a:cs typeface="Open Sans Light"/>
              <a:sym typeface="Open Sans Light"/>
            </a:endParaRPr>
          </a:p>
          <a:p>
            <a:pPr marL="0" marR="0" lvl="0" indent="0" algn="l" rtl="0">
              <a:lnSpc>
                <a:spcPct val="115000"/>
              </a:lnSpc>
              <a:spcBef>
                <a:spcPts val="1200"/>
              </a:spcBef>
              <a:spcAft>
                <a:spcPts val="0"/>
              </a:spcAft>
              <a:buClr>
                <a:schemeClr val="dk1"/>
              </a:buClr>
              <a:buSzPts val="1400"/>
              <a:buFont typeface="Arial"/>
              <a:buNone/>
            </a:pPr>
            <a:endParaRPr sz="1400" b="0" i="0" u="none" strike="noStrike" cap="none">
              <a:solidFill>
                <a:schemeClr val="dk2"/>
              </a:solidFill>
              <a:latin typeface="Open Sans Light"/>
              <a:ea typeface="Open Sans Light"/>
              <a:cs typeface="Open Sans Light"/>
              <a:sym typeface="Open Sans Light"/>
            </a:endParaRPr>
          </a:p>
          <a:p>
            <a:pPr marL="0" marR="0" lvl="0" indent="0" algn="l" rtl="0">
              <a:lnSpc>
                <a:spcPct val="115000"/>
              </a:lnSpc>
              <a:spcBef>
                <a:spcPts val="0"/>
              </a:spcBef>
              <a:spcAft>
                <a:spcPts val="600"/>
              </a:spcAft>
              <a:buClr>
                <a:srgbClr val="000000"/>
              </a:buClr>
              <a:buSzPts val="1400"/>
              <a:buFont typeface="Arial"/>
              <a:buNone/>
            </a:pPr>
            <a:endParaRPr sz="1400" b="0" i="0" u="none" strike="noStrike" cap="none">
              <a:solidFill>
                <a:schemeClr val="dk2"/>
              </a:solidFill>
              <a:latin typeface="Open Sans Light"/>
              <a:ea typeface="Open Sans Light"/>
              <a:cs typeface="Open Sans Light"/>
              <a:sym typeface="Open Sans Light"/>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88"/>
        <p:cNvGrpSpPr/>
        <p:nvPr/>
      </p:nvGrpSpPr>
      <p:grpSpPr>
        <a:xfrm>
          <a:off x="0" y="0"/>
          <a:ext cx="0" cy="0"/>
          <a:chOff x="0" y="0"/>
          <a:chExt cx="0" cy="0"/>
        </a:xfrm>
      </p:grpSpPr>
      <p:sp>
        <p:nvSpPr>
          <p:cNvPr id="389" name="Google Shape;389;g31a98d15345_0_37"/>
          <p:cNvSpPr txBox="1"/>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 sz="2800">
                <a:solidFill>
                  <a:srgbClr val="002D45"/>
                </a:solidFill>
                <a:latin typeface="Montserrat"/>
                <a:ea typeface="Montserrat"/>
                <a:cs typeface="Montserrat"/>
                <a:sym typeface="Montserrat"/>
              </a:rPr>
              <a:t>Recommendation System Example (4)</a:t>
            </a:r>
            <a:endParaRPr sz="2800" b="0" i="0" u="none" strike="noStrike" cap="none">
              <a:solidFill>
                <a:srgbClr val="002D45"/>
              </a:solidFill>
              <a:latin typeface="Montserrat"/>
              <a:ea typeface="Montserrat"/>
              <a:cs typeface="Montserrat"/>
              <a:sym typeface="Montserrat"/>
            </a:endParaRPr>
          </a:p>
        </p:txBody>
      </p:sp>
      <p:sp>
        <p:nvSpPr>
          <p:cNvPr id="390" name="Google Shape;390;g31a98d15345_0_37"/>
          <p:cNvSpPr txBox="1"/>
          <p:nvPr/>
        </p:nvSpPr>
        <p:spPr>
          <a:xfrm>
            <a:off x="311700" y="1090800"/>
            <a:ext cx="8520600" cy="3972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2"/>
                </a:solidFill>
                <a:latin typeface="Open Sans Light"/>
                <a:ea typeface="Open Sans Light"/>
                <a:cs typeface="Open Sans Light"/>
                <a:sym typeface="Open Sans Light"/>
              </a:rPr>
              <a:t>Question: What are the primary challenges or risks faced by clients when adopting or using a cloud accounting software platform?</a:t>
            </a:r>
            <a:endParaRPr>
              <a:solidFill>
                <a:schemeClr val="dk2"/>
              </a:solidFill>
              <a:latin typeface="Open Sans Light"/>
              <a:ea typeface="Open Sans Light"/>
              <a:cs typeface="Open Sans Light"/>
              <a:sym typeface="Open Sans Light"/>
            </a:endParaRPr>
          </a:p>
          <a:p>
            <a:pPr marL="0" lvl="0" indent="0" algn="l" rtl="0">
              <a:spcBef>
                <a:spcPts val="0"/>
              </a:spcBef>
              <a:spcAft>
                <a:spcPts val="0"/>
              </a:spcAft>
              <a:buNone/>
            </a:pPr>
            <a:endParaRPr>
              <a:solidFill>
                <a:schemeClr val="dk2"/>
              </a:solidFill>
              <a:latin typeface="Open Sans Light"/>
              <a:ea typeface="Open Sans Light"/>
              <a:cs typeface="Open Sans Light"/>
              <a:sym typeface="Open Sans Light"/>
            </a:endParaRPr>
          </a:p>
          <a:p>
            <a:pPr marL="0" lvl="0" indent="0" algn="l" rtl="0">
              <a:spcBef>
                <a:spcPts val="0"/>
              </a:spcBef>
              <a:spcAft>
                <a:spcPts val="0"/>
              </a:spcAft>
              <a:buNone/>
            </a:pPr>
            <a:r>
              <a:rPr lang="en">
                <a:solidFill>
                  <a:schemeClr val="dk2"/>
                </a:solidFill>
                <a:latin typeface="Open Sans Light"/>
                <a:ea typeface="Open Sans Light"/>
                <a:cs typeface="Open Sans Light"/>
                <a:sym typeface="Open Sans Light"/>
              </a:rPr>
              <a:t>Answer:</a:t>
            </a:r>
            <a:endParaRPr>
              <a:solidFill>
                <a:schemeClr val="dk2"/>
              </a:solidFill>
              <a:latin typeface="Open Sans Light"/>
              <a:ea typeface="Open Sans Light"/>
              <a:cs typeface="Open Sans Light"/>
              <a:sym typeface="Open Sans Light"/>
            </a:endParaRPr>
          </a:p>
          <a:p>
            <a:pPr marL="457200" lvl="0" indent="-304800" algn="l" rtl="0">
              <a:spcBef>
                <a:spcPts val="0"/>
              </a:spcBef>
              <a:spcAft>
                <a:spcPts val="0"/>
              </a:spcAft>
              <a:buClr>
                <a:schemeClr val="dk2"/>
              </a:buClr>
              <a:buSzPts val="1200"/>
              <a:buFont typeface="Open Sans Light"/>
              <a:buChar char="●"/>
            </a:pPr>
            <a:r>
              <a:rPr lang="en" sz="1200">
                <a:solidFill>
                  <a:schemeClr val="dk2"/>
                </a:solidFill>
                <a:latin typeface="Open Sans Light"/>
                <a:ea typeface="Open Sans Light"/>
                <a:cs typeface="Open Sans Light"/>
                <a:sym typeface="Open Sans Light"/>
              </a:rPr>
              <a:t>Clients may face </a:t>
            </a:r>
            <a:r>
              <a:rPr lang="en" sz="1200" b="1">
                <a:solidFill>
                  <a:schemeClr val="dk2"/>
                </a:solidFill>
                <a:latin typeface="Open Sans"/>
                <a:ea typeface="Open Sans"/>
                <a:cs typeface="Open Sans"/>
                <a:sym typeface="Open Sans"/>
              </a:rPr>
              <a:t>challenges </a:t>
            </a:r>
            <a:r>
              <a:rPr lang="en" sz="1200">
                <a:solidFill>
                  <a:schemeClr val="dk2"/>
                </a:solidFill>
                <a:latin typeface="Open Sans Light"/>
                <a:ea typeface="Open Sans Light"/>
                <a:cs typeface="Open Sans Light"/>
                <a:sym typeface="Open Sans Light"/>
              </a:rPr>
              <a:t>when adopting cloud accounting software, including:</a:t>
            </a:r>
            <a:endParaRPr sz="1200">
              <a:solidFill>
                <a:schemeClr val="dk2"/>
              </a:solidFill>
              <a:latin typeface="Open Sans Light"/>
              <a:ea typeface="Open Sans Light"/>
              <a:cs typeface="Open Sans Light"/>
              <a:sym typeface="Open Sans Light"/>
            </a:endParaRPr>
          </a:p>
          <a:p>
            <a:pPr marL="914400" lvl="0" indent="-304800" algn="l" rtl="0">
              <a:spcBef>
                <a:spcPts val="0"/>
              </a:spcBef>
              <a:spcAft>
                <a:spcPts val="0"/>
              </a:spcAft>
              <a:buClr>
                <a:schemeClr val="dk2"/>
              </a:buClr>
              <a:buSzPts val="1200"/>
              <a:buFont typeface="Open Sans Light"/>
              <a:buAutoNum type="arabicPeriod"/>
            </a:pPr>
            <a:r>
              <a:rPr lang="en" sz="1200">
                <a:solidFill>
                  <a:schemeClr val="dk2"/>
                </a:solidFill>
                <a:latin typeface="Open Sans Light"/>
                <a:ea typeface="Open Sans Light"/>
                <a:cs typeface="Open Sans Light"/>
                <a:sym typeface="Open Sans Light"/>
              </a:rPr>
              <a:t>Concerns over data security and privacy</a:t>
            </a:r>
            <a:endParaRPr sz="1200">
              <a:solidFill>
                <a:schemeClr val="dk2"/>
              </a:solidFill>
              <a:latin typeface="Open Sans Light"/>
              <a:ea typeface="Open Sans Light"/>
              <a:cs typeface="Open Sans Light"/>
              <a:sym typeface="Open Sans Light"/>
            </a:endParaRPr>
          </a:p>
          <a:p>
            <a:pPr marL="457200" lvl="0" indent="0" algn="l" rtl="0">
              <a:spcBef>
                <a:spcPts val="0"/>
              </a:spcBef>
              <a:spcAft>
                <a:spcPts val="0"/>
              </a:spcAft>
              <a:buNone/>
            </a:pPr>
            <a:endParaRPr sz="1200">
              <a:solidFill>
                <a:schemeClr val="dk2"/>
              </a:solidFill>
              <a:latin typeface="Open Sans Light"/>
              <a:ea typeface="Open Sans Light"/>
              <a:cs typeface="Open Sans Light"/>
              <a:sym typeface="Open Sans Light"/>
            </a:endParaRPr>
          </a:p>
          <a:p>
            <a:pPr marL="914400" lvl="0" indent="-304800" algn="l" rtl="0">
              <a:spcBef>
                <a:spcPts val="0"/>
              </a:spcBef>
              <a:spcAft>
                <a:spcPts val="0"/>
              </a:spcAft>
              <a:buClr>
                <a:schemeClr val="dk2"/>
              </a:buClr>
              <a:buSzPts val="1200"/>
              <a:buFont typeface="Open Sans Light"/>
              <a:buAutoNum type="arabicPeriod"/>
            </a:pPr>
            <a:r>
              <a:rPr lang="en" sz="1200">
                <a:solidFill>
                  <a:schemeClr val="dk2"/>
                </a:solidFill>
                <a:latin typeface="Open Sans Light"/>
                <a:ea typeface="Open Sans Light"/>
                <a:cs typeface="Open Sans Light"/>
                <a:sym typeface="Open Sans Light"/>
              </a:rPr>
              <a:t>Loss of control over financial data, and dependence on internet connectivity</a:t>
            </a:r>
            <a:endParaRPr sz="1200">
              <a:solidFill>
                <a:schemeClr val="dk2"/>
              </a:solidFill>
              <a:latin typeface="Open Sans Light"/>
              <a:ea typeface="Open Sans Light"/>
              <a:cs typeface="Open Sans Light"/>
              <a:sym typeface="Open Sans Light"/>
            </a:endParaRPr>
          </a:p>
          <a:p>
            <a:pPr marL="457200" lvl="0" indent="0" algn="l" rtl="0">
              <a:spcBef>
                <a:spcPts val="0"/>
              </a:spcBef>
              <a:spcAft>
                <a:spcPts val="0"/>
              </a:spcAft>
              <a:buNone/>
            </a:pPr>
            <a:endParaRPr sz="1200">
              <a:solidFill>
                <a:schemeClr val="dk2"/>
              </a:solidFill>
              <a:latin typeface="Open Sans Light"/>
              <a:ea typeface="Open Sans Light"/>
              <a:cs typeface="Open Sans Light"/>
              <a:sym typeface="Open Sans Light"/>
            </a:endParaRPr>
          </a:p>
          <a:p>
            <a:pPr marL="914400" lvl="0" indent="-304800" algn="l" rtl="0">
              <a:spcBef>
                <a:spcPts val="0"/>
              </a:spcBef>
              <a:spcAft>
                <a:spcPts val="0"/>
              </a:spcAft>
              <a:buClr>
                <a:schemeClr val="dk2"/>
              </a:buClr>
              <a:buSzPts val="1200"/>
              <a:buFont typeface="Open Sans Light"/>
              <a:buAutoNum type="arabicPeriod"/>
            </a:pPr>
            <a:r>
              <a:rPr lang="en" sz="1200">
                <a:solidFill>
                  <a:schemeClr val="dk2"/>
                </a:solidFill>
                <a:latin typeface="Open Sans Light"/>
                <a:ea typeface="Open Sans Light"/>
                <a:cs typeface="Open Sans Light"/>
                <a:sym typeface="Open Sans Light"/>
              </a:rPr>
              <a:t>Compliance with regulations</a:t>
            </a:r>
            <a:endParaRPr sz="1200">
              <a:solidFill>
                <a:schemeClr val="dk2"/>
              </a:solidFill>
              <a:latin typeface="Open Sans Light"/>
              <a:ea typeface="Open Sans Light"/>
              <a:cs typeface="Open Sans Light"/>
              <a:sym typeface="Open Sans Light"/>
            </a:endParaRPr>
          </a:p>
          <a:p>
            <a:pPr marL="457200" lvl="0" indent="0" algn="l" rtl="0">
              <a:spcBef>
                <a:spcPts val="0"/>
              </a:spcBef>
              <a:spcAft>
                <a:spcPts val="0"/>
              </a:spcAft>
              <a:buNone/>
            </a:pPr>
            <a:endParaRPr sz="1200">
              <a:solidFill>
                <a:schemeClr val="dk2"/>
              </a:solidFill>
              <a:latin typeface="Open Sans Light"/>
              <a:ea typeface="Open Sans Light"/>
              <a:cs typeface="Open Sans Light"/>
              <a:sym typeface="Open Sans Light"/>
            </a:endParaRPr>
          </a:p>
          <a:p>
            <a:pPr marL="914400" lvl="0" indent="-304800" algn="l" rtl="0">
              <a:spcBef>
                <a:spcPts val="0"/>
              </a:spcBef>
              <a:spcAft>
                <a:spcPts val="0"/>
              </a:spcAft>
              <a:buClr>
                <a:schemeClr val="dk2"/>
              </a:buClr>
              <a:buSzPts val="1200"/>
              <a:buFont typeface="Open Sans Light"/>
              <a:buAutoNum type="arabicPeriod"/>
            </a:pPr>
            <a:r>
              <a:rPr lang="en" sz="1200">
                <a:solidFill>
                  <a:schemeClr val="dk2"/>
                </a:solidFill>
                <a:latin typeface="Open Sans Light"/>
                <a:ea typeface="Open Sans Light"/>
                <a:cs typeface="Open Sans Light"/>
                <a:sym typeface="Open Sans Light"/>
              </a:rPr>
              <a:t>Difficulty integrating with other systems</a:t>
            </a:r>
            <a:endParaRPr sz="1200">
              <a:solidFill>
                <a:schemeClr val="dk2"/>
              </a:solidFill>
              <a:latin typeface="Open Sans Light"/>
              <a:ea typeface="Open Sans Light"/>
              <a:cs typeface="Open Sans Light"/>
              <a:sym typeface="Open Sans Light"/>
            </a:endParaRPr>
          </a:p>
          <a:p>
            <a:pPr marL="457200" lvl="0" indent="0" algn="l" rtl="0">
              <a:spcBef>
                <a:spcPts val="0"/>
              </a:spcBef>
              <a:spcAft>
                <a:spcPts val="0"/>
              </a:spcAft>
              <a:buNone/>
            </a:pPr>
            <a:endParaRPr sz="1200">
              <a:solidFill>
                <a:schemeClr val="dk2"/>
              </a:solidFill>
              <a:latin typeface="Open Sans Light"/>
              <a:ea typeface="Open Sans Light"/>
              <a:cs typeface="Open Sans Light"/>
              <a:sym typeface="Open Sans Light"/>
            </a:endParaRPr>
          </a:p>
          <a:p>
            <a:pPr marL="914400" lvl="0" indent="-304800" algn="l" rtl="0">
              <a:spcBef>
                <a:spcPts val="0"/>
              </a:spcBef>
              <a:spcAft>
                <a:spcPts val="0"/>
              </a:spcAft>
              <a:buClr>
                <a:schemeClr val="dk2"/>
              </a:buClr>
              <a:buSzPts val="1200"/>
              <a:buFont typeface="Open Sans Light"/>
              <a:buAutoNum type="arabicPeriod"/>
            </a:pPr>
            <a:r>
              <a:rPr lang="en" sz="1200">
                <a:solidFill>
                  <a:schemeClr val="dk2"/>
                </a:solidFill>
                <a:latin typeface="Open Sans Light"/>
                <a:ea typeface="Open Sans Light"/>
                <a:cs typeface="Open Sans Light"/>
                <a:sym typeface="Open Sans Light"/>
              </a:rPr>
              <a:t>Concerns about cost vs. value</a:t>
            </a:r>
            <a:endParaRPr sz="1200">
              <a:solidFill>
                <a:schemeClr val="dk2"/>
              </a:solidFill>
              <a:latin typeface="Open Sans Light"/>
              <a:ea typeface="Open Sans Light"/>
              <a:cs typeface="Open Sans Light"/>
              <a:sym typeface="Open Sans Light"/>
            </a:endParaRPr>
          </a:p>
          <a:p>
            <a:pPr marL="457200" lvl="0" indent="0" algn="l" rtl="0">
              <a:spcBef>
                <a:spcPts val="0"/>
              </a:spcBef>
              <a:spcAft>
                <a:spcPts val="0"/>
              </a:spcAft>
              <a:buNone/>
            </a:pPr>
            <a:endParaRPr sz="1200">
              <a:solidFill>
                <a:schemeClr val="dk2"/>
              </a:solidFill>
              <a:latin typeface="Open Sans Light"/>
              <a:ea typeface="Open Sans Light"/>
              <a:cs typeface="Open Sans Light"/>
              <a:sym typeface="Open Sans Light"/>
            </a:endParaRPr>
          </a:p>
          <a:p>
            <a:pPr marL="914400" lvl="0" indent="-304800" algn="l" rtl="0">
              <a:spcBef>
                <a:spcPts val="0"/>
              </a:spcBef>
              <a:spcAft>
                <a:spcPts val="0"/>
              </a:spcAft>
              <a:buClr>
                <a:schemeClr val="dk2"/>
              </a:buClr>
              <a:buSzPts val="1200"/>
              <a:buFont typeface="Open Sans Light"/>
              <a:buAutoNum type="arabicPeriod"/>
            </a:pPr>
            <a:r>
              <a:rPr lang="en" sz="1200">
                <a:solidFill>
                  <a:schemeClr val="dk2"/>
                </a:solidFill>
                <a:latin typeface="Open Sans Light"/>
                <a:ea typeface="Open Sans Light"/>
                <a:cs typeface="Open Sans Light"/>
                <a:sym typeface="Open Sans Light"/>
              </a:rPr>
              <a:t>Limited customization options, and the need for support and training. </a:t>
            </a:r>
            <a:endParaRPr sz="1500" b="0" i="0" u="none" strike="noStrike" cap="none">
              <a:solidFill>
                <a:schemeClr val="dk2"/>
              </a:solidFill>
              <a:latin typeface="Open Sans Light"/>
              <a:ea typeface="Open Sans Light"/>
              <a:cs typeface="Open Sans Light"/>
              <a:sym typeface="Open Sans Light"/>
            </a:endParaRPr>
          </a:p>
          <a:p>
            <a:pPr marL="0" marR="0" lvl="0" indent="0" algn="l" rtl="0">
              <a:lnSpc>
                <a:spcPct val="115000"/>
              </a:lnSpc>
              <a:spcBef>
                <a:spcPts val="0"/>
              </a:spcBef>
              <a:spcAft>
                <a:spcPts val="600"/>
              </a:spcAft>
              <a:buClr>
                <a:srgbClr val="000000"/>
              </a:buClr>
              <a:buSzPts val="1400"/>
              <a:buFont typeface="Arial"/>
              <a:buNone/>
            </a:pPr>
            <a:endParaRPr sz="1400" b="0" i="0" u="none" strike="noStrike" cap="none">
              <a:solidFill>
                <a:schemeClr val="dk2"/>
              </a:solidFill>
              <a:latin typeface="Open Sans Light"/>
              <a:ea typeface="Open Sans Light"/>
              <a:cs typeface="Open Sans Light"/>
              <a:sym typeface="Open Sans Light"/>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94"/>
        <p:cNvGrpSpPr/>
        <p:nvPr/>
      </p:nvGrpSpPr>
      <p:grpSpPr>
        <a:xfrm>
          <a:off x="0" y="0"/>
          <a:ext cx="0" cy="0"/>
          <a:chOff x="0" y="0"/>
          <a:chExt cx="0" cy="0"/>
        </a:xfrm>
      </p:grpSpPr>
      <p:sp>
        <p:nvSpPr>
          <p:cNvPr id="395" name="Google Shape;395;g31a98d15345_0_43"/>
          <p:cNvSpPr txBox="1"/>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 sz="2800">
                <a:solidFill>
                  <a:srgbClr val="002D45"/>
                </a:solidFill>
                <a:latin typeface="Montserrat"/>
                <a:ea typeface="Montserrat"/>
                <a:cs typeface="Montserrat"/>
                <a:sym typeface="Montserrat"/>
              </a:rPr>
              <a:t>Recommendation System Example (5)</a:t>
            </a:r>
            <a:endParaRPr sz="2800" b="0" i="0" u="none" strike="noStrike" cap="none">
              <a:solidFill>
                <a:srgbClr val="002D45"/>
              </a:solidFill>
              <a:latin typeface="Montserrat"/>
              <a:ea typeface="Montserrat"/>
              <a:cs typeface="Montserrat"/>
              <a:sym typeface="Montserrat"/>
            </a:endParaRPr>
          </a:p>
        </p:txBody>
      </p:sp>
      <p:sp>
        <p:nvSpPr>
          <p:cNvPr id="396" name="Google Shape;396;g31a98d15345_0_43"/>
          <p:cNvSpPr txBox="1"/>
          <p:nvPr/>
        </p:nvSpPr>
        <p:spPr>
          <a:xfrm>
            <a:off x="311700" y="1090800"/>
            <a:ext cx="8520600" cy="3972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2"/>
                </a:solidFill>
                <a:latin typeface="Open Sans Light"/>
                <a:ea typeface="Open Sans Light"/>
                <a:cs typeface="Open Sans Light"/>
                <a:sym typeface="Open Sans Light"/>
              </a:rPr>
              <a:t>Question: How much money is being invested in a cloud accounting software platform? How long are they anticipated to take?</a:t>
            </a:r>
            <a:endParaRPr>
              <a:solidFill>
                <a:schemeClr val="dk2"/>
              </a:solidFill>
              <a:latin typeface="Open Sans Light"/>
              <a:ea typeface="Open Sans Light"/>
              <a:cs typeface="Open Sans Light"/>
              <a:sym typeface="Open Sans Light"/>
            </a:endParaRPr>
          </a:p>
          <a:p>
            <a:pPr marL="0" lvl="0" indent="0" algn="l" rtl="0">
              <a:spcBef>
                <a:spcPts val="0"/>
              </a:spcBef>
              <a:spcAft>
                <a:spcPts val="0"/>
              </a:spcAft>
              <a:buNone/>
            </a:pPr>
            <a:endParaRPr>
              <a:solidFill>
                <a:schemeClr val="dk2"/>
              </a:solidFill>
              <a:latin typeface="Open Sans Light"/>
              <a:ea typeface="Open Sans Light"/>
              <a:cs typeface="Open Sans Light"/>
              <a:sym typeface="Open Sans Light"/>
            </a:endParaRPr>
          </a:p>
          <a:p>
            <a:pPr marL="0" lvl="0" indent="0" algn="l" rtl="0">
              <a:spcBef>
                <a:spcPts val="0"/>
              </a:spcBef>
              <a:spcAft>
                <a:spcPts val="0"/>
              </a:spcAft>
              <a:buNone/>
            </a:pPr>
            <a:r>
              <a:rPr lang="en">
                <a:solidFill>
                  <a:schemeClr val="dk2"/>
                </a:solidFill>
                <a:latin typeface="Open Sans Light"/>
                <a:ea typeface="Open Sans Light"/>
                <a:cs typeface="Open Sans Light"/>
                <a:sym typeface="Open Sans Light"/>
              </a:rPr>
              <a:t>Answer:</a:t>
            </a:r>
            <a:endParaRPr>
              <a:solidFill>
                <a:schemeClr val="dk2"/>
              </a:solidFill>
              <a:latin typeface="Open Sans Light"/>
              <a:ea typeface="Open Sans Light"/>
              <a:cs typeface="Open Sans Light"/>
              <a:sym typeface="Open Sans Light"/>
            </a:endParaRPr>
          </a:p>
          <a:p>
            <a:pPr marL="457200" lvl="0" indent="-304800" algn="l" rtl="0">
              <a:spcBef>
                <a:spcPts val="0"/>
              </a:spcBef>
              <a:spcAft>
                <a:spcPts val="0"/>
              </a:spcAft>
              <a:buClr>
                <a:srgbClr val="1F1F1F"/>
              </a:buClr>
              <a:buSzPts val="1200"/>
              <a:buFont typeface="Open Sans Light"/>
              <a:buChar char="●"/>
            </a:pPr>
            <a:r>
              <a:rPr lang="en" sz="1200">
                <a:solidFill>
                  <a:srgbClr val="1F1F1F"/>
                </a:solidFill>
                <a:highlight>
                  <a:srgbClr val="FFFFFF"/>
                </a:highlight>
                <a:latin typeface="Open Sans Light"/>
                <a:ea typeface="Open Sans Light"/>
                <a:cs typeface="Open Sans Light"/>
                <a:sym typeface="Open Sans Light"/>
              </a:rPr>
              <a:t>Cloud accounting software platform will take around </a:t>
            </a:r>
            <a:r>
              <a:rPr lang="en" sz="1200" b="1">
                <a:solidFill>
                  <a:srgbClr val="1F1F1F"/>
                </a:solidFill>
                <a:highlight>
                  <a:srgbClr val="FFFFFF"/>
                </a:highlight>
                <a:latin typeface="Open Sans"/>
                <a:ea typeface="Open Sans"/>
                <a:cs typeface="Open Sans"/>
                <a:sym typeface="Open Sans"/>
              </a:rPr>
              <a:t>12 months</a:t>
            </a:r>
            <a:r>
              <a:rPr lang="en" sz="1200">
                <a:solidFill>
                  <a:srgbClr val="1F1F1F"/>
                </a:solidFill>
                <a:highlight>
                  <a:srgbClr val="FFFFFF"/>
                </a:highlight>
                <a:latin typeface="Open Sans Light"/>
                <a:ea typeface="Open Sans Light"/>
                <a:cs typeface="Open Sans Light"/>
                <a:sym typeface="Open Sans Light"/>
              </a:rPr>
              <a:t> to develop, with an estimated investment of </a:t>
            </a:r>
            <a:r>
              <a:rPr lang="en" sz="1200" b="1">
                <a:solidFill>
                  <a:srgbClr val="1F1F1F"/>
                </a:solidFill>
                <a:highlight>
                  <a:srgbClr val="FFFFFF"/>
                </a:highlight>
                <a:latin typeface="Open Sans"/>
                <a:ea typeface="Open Sans"/>
                <a:cs typeface="Open Sans"/>
                <a:sym typeface="Open Sans"/>
              </a:rPr>
              <a:t>$500,000</a:t>
            </a:r>
            <a:r>
              <a:rPr lang="en" sz="1200">
                <a:solidFill>
                  <a:srgbClr val="1F1F1F"/>
                </a:solidFill>
                <a:highlight>
                  <a:srgbClr val="FFFFFF"/>
                </a:highlight>
                <a:latin typeface="Open Sans Light"/>
                <a:ea typeface="Open Sans Light"/>
                <a:cs typeface="Open Sans Light"/>
                <a:sym typeface="Open Sans Light"/>
              </a:rPr>
              <a:t>. However, it is important to note that these estimates are based on the information provided and may not reflect the actual time and investment required for the development of the platform.</a:t>
            </a:r>
            <a:endParaRPr sz="1200" i="0" u="none" strike="noStrike" cap="none">
              <a:solidFill>
                <a:schemeClr val="dk2"/>
              </a:solidFill>
              <a:latin typeface="Open Sans Light"/>
              <a:ea typeface="Open Sans Light"/>
              <a:cs typeface="Open Sans Light"/>
              <a:sym typeface="Open Sans Light"/>
            </a:endParaRPr>
          </a:p>
          <a:p>
            <a:pPr marL="0" marR="0" lvl="0" indent="0" algn="l" rtl="0">
              <a:lnSpc>
                <a:spcPct val="115000"/>
              </a:lnSpc>
              <a:spcBef>
                <a:spcPts val="0"/>
              </a:spcBef>
              <a:spcAft>
                <a:spcPts val="600"/>
              </a:spcAft>
              <a:buClr>
                <a:srgbClr val="000000"/>
              </a:buClr>
              <a:buSzPts val="1400"/>
              <a:buFont typeface="Arial"/>
              <a:buNone/>
            </a:pPr>
            <a:endParaRPr sz="1400" b="0" i="0" u="none" strike="noStrike" cap="none">
              <a:solidFill>
                <a:schemeClr val="dk2"/>
              </a:solidFill>
              <a:latin typeface="Open Sans Light"/>
              <a:ea typeface="Open Sans Light"/>
              <a:cs typeface="Open Sans Light"/>
              <a:sym typeface="Open Sans Light"/>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00"/>
        <p:cNvGrpSpPr/>
        <p:nvPr/>
      </p:nvGrpSpPr>
      <p:grpSpPr>
        <a:xfrm>
          <a:off x="0" y="0"/>
          <a:ext cx="0" cy="0"/>
          <a:chOff x="0" y="0"/>
          <a:chExt cx="0" cy="0"/>
        </a:xfrm>
      </p:grpSpPr>
      <p:sp>
        <p:nvSpPr>
          <p:cNvPr id="401" name="Google Shape;401;g31a98d15345_0_49"/>
          <p:cNvSpPr txBox="1"/>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 sz="2800">
                <a:solidFill>
                  <a:srgbClr val="002D45"/>
                </a:solidFill>
                <a:latin typeface="Montserrat"/>
                <a:ea typeface="Montserrat"/>
                <a:cs typeface="Montserrat"/>
                <a:sym typeface="Montserrat"/>
              </a:rPr>
              <a:t>Recommendation System Example (6)</a:t>
            </a:r>
            <a:endParaRPr sz="2800" b="0" i="0" u="none" strike="noStrike" cap="none">
              <a:solidFill>
                <a:srgbClr val="002D45"/>
              </a:solidFill>
              <a:latin typeface="Montserrat"/>
              <a:ea typeface="Montserrat"/>
              <a:cs typeface="Montserrat"/>
              <a:sym typeface="Montserrat"/>
            </a:endParaRPr>
          </a:p>
        </p:txBody>
      </p:sp>
      <p:sp>
        <p:nvSpPr>
          <p:cNvPr id="402" name="Google Shape;402;g31a98d15345_0_49"/>
          <p:cNvSpPr txBox="1"/>
          <p:nvPr/>
        </p:nvSpPr>
        <p:spPr>
          <a:xfrm>
            <a:off x="311700" y="977800"/>
            <a:ext cx="8520600" cy="3972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2"/>
                </a:solidFill>
                <a:latin typeface="Open Sans Light"/>
                <a:ea typeface="Open Sans Light"/>
                <a:cs typeface="Open Sans Light"/>
                <a:sym typeface="Open Sans Light"/>
              </a:rPr>
              <a:t>Question: What is the impact on sustainability metrics in a cloud accounting software platform? How will this impact jobs?</a:t>
            </a:r>
            <a:endParaRPr>
              <a:solidFill>
                <a:schemeClr val="dk2"/>
              </a:solidFill>
              <a:latin typeface="Open Sans Light"/>
              <a:ea typeface="Open Sans Light"/>
              <a:cs typeface="Open Sans Light"/>
              <a:sym typeface="Open Sans Light"/>
            </a:endParaRPr>
          </a:p>
          <a:p>
            <a:pPr marL="0" lvl="0" indent="0" algn="l" rtl="0">
              <a:spcBef>
                <a:spcPts val="0"/>
              </a:spcBef>
              <a:spcAft>
                <a:spcPts val="0"/>
              </a:spcAft>
              <a:buNone/>
            </a:pPr>
            <a:endParaRPr>
              <a:solidFill>
                <a:schemeClr val="dk2"/>
              </a:solidFill>
              <a:latin typeface="Open Sans Light"/>
              <a:ea typeface="Open Sans Light"/>
              <a:cs typeface="Open Sans Light"/>
              <a:sym typeface="Open Sans Light"/>
            </a:endParaRPr>
          </a:p>
          <a:p>
            <a:pPr marL="0" lvl="0" indent="0" algn="l" rtl="0">
              <a:spcBef>
                <a:spcPts val="0"/>
              </a:spcBef>
              <a:spcAft>
                <a:spcPts val="0"/>
              </a:spcAft>
              <a:buNone/>
            </a:pPr>
            <a:r>
              <a:rPr lang="en">
                <a:solidFill>
                  <a:schemeClr val="dk2"/>
                </a:solidFill>
                <a:latin typeface="Open Sans Light"/>
                <a:ea typeface="Open Sans Light"/>
                <a:cs typeface="Open Sans Light"/>
                <a:sym typeface="Open Sans Light"/>
              </a:rPr>
              <a:t>Answer:</a:t>
            </a:r>
            <a:endParaRPr>
              <a:solidFill>
                <a:schemeClr val="dk2"/>
              </a:solidFill>
              <a:latin typeface="Open Sans Light"/>
              <a:ea typeface="Open Sans Light"/>
              <a:cs typeface="Open Sans Light"/>
              <a:sym typeface="Open Sans Light"/>
            </a:endParaRPr>
          </a:p>
          <a:p>
            <a:pPr marL="457200" lvl="0" indent="-304800" algn="l" rtl="0">
              <a:spcBef>
                <a:spcPts val="0"/>
              </a:spcBef>
              <a:spcAft>
                <a:spcPts val="0"/>
              </a:spcAft>
              <a:buClr>
                <a:schemeClr val="dk2"/>
              </a:buClr>
              <a:buSzPts val="1200"/>
              <a:buFont typeface="Open Sans Light"/>
              <a:buAutoNum type="arabicPeriod"/>
            </a:pPr>
            <a:r>
              <a:rPr lang="en" sz="1200" b="1">
                <a:solidFill>
                  <a:schemeClr val="dk2"/>
                </a:solidFill>
                <a:latin typeface="Open Sans"/>
                <a:ea typeface="Open Sans"/>
                <a:cs typeface="Open Sans"/>
                <a:sym typeface="Open Sans"/>
              </a:rPr>
              <a:t>Reduced Carbon Footprint</a:t>
            </a:r>
            <a:r>
              <a:rPr lang="en" sz="1200">
                <a:solidFill>
                  <a:schemeClr val="dk2"/>
                </a:solidFill>
                <a:latin typeface="Open Sans Light"/>
                <a:ea typeface="Open Sans Light"/>
                <a:cs typeface="Open Sans Light"/>
                <a:sym typeface="Open Sans Light"/>
              </a:rPr>
              <a:t>: </a:t>
            </a:r>
            <a:endParaRPr sz="1200">
              <a:solidFill>
                <a:schemeClr val="dk2"/>
              </a:solidFill>
              <a:latin typeface="Open Sans Light"/>
              <a:ea typeface="Open Sans Light"/>
              <a:cs typeface="Open Sans Light"/>
              <a:sym typeface="Open Sans Light"/>
            </a:endParaRPr>
          </a:p>
          <a:p>
            <a:pPr marL="914400" lvl="1" indent="-304800" algn="l" rtl="0">
              <a:spcBef>
                <a:spcPts val="0"/>
              </a:spcBef>
              <a:spcAft>
                <a:spcPts val="0"/>
              </a:spcAft>
              <a:buClr>
                <a:schemeClr val="dk2"/>
              </a:buClr>
              <a:buSzPts val="1200"/>
              <a:buFont typeface="Open Sans Light"/>
              <a:buAutoNum type="alphaLcPeriod"/>
            </a:pPr>
            <a:r>
              <a:rPr lang="en" sz="1200">
                <a:solidFill>
                  <a:schemeClr val="dk2"/>
                </a:solidFill>
                <a:latin typeface="Open Sans Light"/>
                <a:ea typeface="Open Sans Light"/>
                <a:cs typeface="Open Sans Light"/>
                <a:sym typeface="Open Sans Light"/>
              </a:rPr>
              <a:t>It lowers carbon emissions by eliminating the need for physical hardware like servers and data centers.</a:t>
            </a:r>
            <a:endParaRPr sz="1200">
              <a:solidFill>
                <a:schemeClr val="dk2"/>
              </a:solidFill>
              <a:latin typeface="Open Sans Light"/>
              <a:ea typeface="Open Sans Light"/>
              <a:cs typeface="Open Sans Light"/>
              <a:sym typeface="Open Sans Light"/>
            </a:endParaRPr>
          </a:p>
          <a:p>
            <a:pPr marL="914400" lvl="0" indent="0" algn="l" rtl="0">
              <a:spcBef>
                <a:spcPts val="0"/>
              </a:spcBef>
              <a:spcAft>
                <a:spcPts val="0"/>
              </a:spcAft>
              <a:buNone/>
            </a:pPr>
            <a:endParaRPr sz="1200">
              <a:solidFill>
                <a:schemeClr val="dk2"/>
              </a:solidFill>
              <a:latin typeface="Open Sans Light"/>
              <a:ea typeface="Open Sans Light"/>
              <a:cs typeface="Open Sans Light"/>
              <a:sym typeface="Open Sans Light"/>
            </a:endParaRPr>
          </a:p>
          <a:p>
            <a:pPr marL="457200" lvl="0" indent="-304800" algn="l" rtl="0">
              <a:spcBef>
                <a:spcPts val="0"/>
              </a:spcBef>
              <a:spcAft>
                <a:spcPts val="0"/>
              </a:spcAft>
              <a:buClr>
                <a:schemeClr val="dk2"/>
              </a:buClr>
              <a:buSzPts val="1200"/>
              <a:buFont typeface="Open Sans Light"/>
              <a:buAutoNum type="arabicPeriod"/>
            </a:pPr>
            <a:r>
              <a:rPr lang="en" sz="1200" b="1">
                <a:solidFill>
                  <a:schemeClr val="dk2"/>
                </a:solidFill>
                <a:latin typeface="Open Sans"/>
                <a:ea typeface="Open Sans"/>
                <a:cs typeface="Open Sans"/>
                <a:sym typeface="Open Sans"/>
              </a:rPr>
              <a:t>Energy Efficiency</a:t>
            </a:r>
            <a:r>
              <a:rPr lang="en" sz="1200">
                <a:solidFill>
                  <a:schemeClr val="dk2"/>
                </a:solidFill>
                <a:latin typeface="Open Sans Light"/>
                <a:ea typeface="Open Sans Light"/>
                <a:cs typeface="Open Sans Light"/>
                <a:sym typeface="Open Sans Light"/>
              </a:rPr>
              <a:t>: </a:t>
            </a:r>
            <a:endParaRPr sz="1200">
              <a:solidFill>
                <a:schemeClr val="dk2"/>
              </a:solidFill>
              <a:latin typeface="Open Sans Light"/>
              <a:ea typeface="Open Sans Light"/>
              <a:cs typeface="Open Sans Light"/>
              <a:sym typeface="Open Sans Light"/>
            </a:endParaRPr>
          </a:p>
          <a:p>
            <a:pPr marL="914400" lvl="1" indent="-304800" algn="l" rtl="0">
              <a:spcBef>
                <a:spcPts val="0"/>
              </a:spcBef>
              <a:spcAft>
                <a:spcPts val="0"/>
              </a:spcAft>
              <a:buClr>
                <a:schemeClr val="dk2"/>
              </a:buClr>
              <a:buSzPts val="1200"/>
              <a:buFont typeface="Open Sans Light"/>
              <a:buAutoNum type="alphaLcPeriod"/>
            </a:pPr>
            <a:r>
              <a:rPr lang="en" sz="1200">
                <a:solidFill>
                  <a:schemeClr val="dk2"/>
                </a:solidFill>
                <a:latin typeface="Open Sans Light"/>
                <a:ea typeface="Open Sans Light"/>
                <a:cs typeface="Open Sans Light"/>
                <a:sym typeface="Open Sans Light"/>
              </a:rPr>
              <a:t>The use of energy-efficient technologies minimizes energy consumption and emissions.</a:t>
            </a:r>
            <a:endParaRPr sz="1200">
              <a:solidFill>
                <a:schemeClr val="dk2"/>
              </a:solidFill>
              <a:latin typeface="Open Sans Light"/>
              <a:ea typeface="Open Sans Light"/>
              <a:cs typeface="Open Sans Light"/>
              <a:sym typeface="Open Sans Light"/>
            </a:endParaRPr>
          </a:p>
          <a:p>
            <a:pPr marL="914400" lvl="0" indent="0" algn="l" rtl="0">
              <a:spcBef>
                <a:spcPts val="0"/>
              </a:spcBef>
              <a:spcAft>
                <a:spcPts val="0"/>
              </a:spcAft>
              <a:buNone/>
            </a:pPr>
            <a:endParaRPr sz="1200">
              <a:solidFill>
                <a:schemeClr val="dk2"/>
              </a:solidFill>
              <a:latin typeface="Open Sans Light"/>
              <a:ea typeface="Open Sans Light"/>
              <a:cs typeface="Open Sans Light"/>
              <a:sym typeface="Open Sans Light"/>
            </a:endParaRPr>
          </a:p>
          <a:p>
            <a:pPr marL="457200" lvl="0" indent="-304800" algn="l" rtl="0">
              <a:spcBef>
                <a:spcPts val="0"/>
              </a:spcBef>
              <a:spcAft>
                <a:spcPts val="0"/>
              </a:spcAft>
              <a:buClr>
                <a:schemeClr val="dk2"/>
              </a:buClr>
              <a:buSzPts val="1200"/>
              <a:buFont typeface="Open Sans Light"/>
              <a:buAutoNum type="arabicPeriod"/>
            </a:pPr>
            <a:r>
              <a:rPr lang="en" sz="1200" b="1">
                <a:solidFill>
                  <a:schemeClr val="dk2"/>
                </a:solidFill>
                <a:latin typeface="Open Sans"/>
                <a:ea typeface="Open Sans"/>
                <a:cs typeface="Open Sans"/>
                <a:sym typeface="Open Sans"/>
              </a:rPr>
              <a:t>Sustainable Data Centers</a:t>
            </a:r>
            <a:r>
              <a:rPr lang="en" sz="1200">
                <a:solidFill>
                  <a:schemeClr val="dk2"/>
                </a:solidFill>
                <a:latin typeface="Open Sans Light"/>
                <a:ea typeface="Open Sans Light"/>
                <a:cs typeface="Open Sans Light"/>
                <a:sym typeface="Open Sans Light"/>
              </a:rPr>
              <a:t>: </a:t>
            </a:r>
            <a:endParaRPr sz="1200">
              <a:solidFill>
                <a:schemeClr val="dk2"/>
              </a:solidFill>
              <a:latin typeface="Open Sans Light"/>
              <a:ea typeface="Open Sans Light"/>
              <a:cs typeface="Open Sans Light"/>
              <a:sym typeface="Open Sans Light"/>
            </a:endParaRPr>
          </a:p>
          <a:p>
            <a:pPr marL="914400" lvl="1" indent="-304800" algn="l" rtl="0">
              <a:spcBef>
                <a:spcPts val="0"/>
              </a:spcBef>
              <a:spcAft>
                <a:spcPts val="0"/>
              </a:spcAft>
              <a:buClr>
                <a:schemeClr val="dk2"/>
              </a:buClr>
              <a:buSzPts val="1200"/>
              <a:buFont typeface="Open Sans Light"/>
              <a:buAutoNum type="alphaLcPeriod"/>
            </a:pPr>
            <a:r>
              <a:rPr lang="en" sz="1200">
                <a:solidFill>
                  <a:schemeClr val="dk2"/>
                </a:solidFill>
                <a:latin typeface="Open Sans Light"/>
                <a:ea typeface="Open Sans Light"/>
                <a:cs typeface="Open Sans Light"/>
                <a:sym typeface="Open Sans Light"/>
              </a:rPr>
              <a:t>Cloud providers are investing in eco-friendly data centers powered by renewable energy sources.</a:t>
            </a:r>
            <a:endParaRPr sz="1200">
              <a:solidFill>
                <a:schemeClr val="dk2"/>
              </a:solidFill>
              <a:latin typeface="Open Sans Light"/>
              <a:ea typeface="Open Sans Light"/>
              <a:cs typeface="Open Sans Light"/>
              <a:sym typeface="Open Sans Light"/>
            </a:endParaRPr>
          </a:p>
          <a:p>
            <a:pPr marL="914400" lvl="0" indent="0" algn="l" rtl="0">
              <a:spcBef>
                <a:spcPts val="0"/>
              </a:spcBef>
              <a:spcAft>
                <a:spcPts val="0"/>
              </a:spcAft>
              <a:buNone/>
            </a:pPr>
            <a:endParaRPr sz="1200">
              <a:solidFill>
                <a:schemeClr val="dk2"/>
              </a:solidFill>
              <a:latin typeface="Open Sans Light"/>
              <a:ea typeface="Open Sans Light"/>
              <a:cs typeface="Open Sans Light"/>
              <a:sym typeface="Open Sans Light"/>
            </a:endParaRPr>
          </a:p>
          <a:p>
            <a:pPr marL="457200" lvl="0" indent="-304800" algn="l" rtl="0">
              <a:spcBef>
                <a:spcPts val="0"/>
              </a:spcBef>
              <a:spcAft>
                <a:spcPts val="0"/>
              </a:spcAft>
              <a:buClr>
                <a:schemeClr val="dk2"/>
              </a:buClr>
              <a:buSzPts val="1200"/>
              <a:buFont typeface="Open Sans Light"/>
              <a:buAutoNum type="arabicPeriod"/>
            </a:pPr>
            <a:r>
              <a:rPr lang="en" sz="1200" b="1">
                <a:solidFill>
                  <a:schemeClr val="dk2"/>
                </a:solidFill>
                <a:latin typeface="Open Sans"/>
                <a:ea typeface="Open Sans"/>
                <a:cs typeface="Open Sans"/>
                <a:sym typeface="Open Sans"/>
              </a:rPr>
              <a:t>Remote Work</a:t>
            </a:r>
            <a:r>
              <a:rPr lang="en" sz="1200">
                <a:solidFill>
                  <a:schemeClr val="dk2"/>
                </a:solidFill>
                <a:latin typeface="Open Sans Light"/>
                <a:ea typeface="Open Sans Light"/>
                <a:cs typeface="Open Sans Light"/>
                <a:sym typeface="Open Sans Light"/>
              </a:rPr>
              <a:t>: </a:t>
            </a:r>
            <a:endParaRPr sz="1200">
              <a:solidFill>
                <a:schemeClr val="dk2"/>
              </a:solidFill>
              <a:latin typeface="Open Sans Light"/>
              <a:ea typeface="Open Sans Light"/>
              <a:cs typeface="Open Sans Light"/>
              <a:sym typeface="Open Sans Light"/>
            </a:endParaRPr>
          </a:p>
          <a:p>
            <a:pPr marL="914400" lvl="1" indent="-304800" algn="l" rtl="0">
              <a:spcBef>
                <a:spcPts val="0"/>
              </a:spcBef>
              <a:spcAft>
                <a:spcPts val="0"/>
              </a:spcAft>
              <a:buClr>
                <a:schemeClr val="dk2"/>
              </a:buClr>
              <a:buSzPts val="1200"/>
              <a:buFont typeface="Open Sans Light"/>
              <a:buAutoNum type="alphaLcPeriod"/>
            </a:pPr>
            <a:r>
              <a:rPr lang="en" sz="1200">
                <a:solidFill>
                  <a:schemeClr val="dk2"/>
                </a:solidFill>
                <a:latin typeface="Open Sans Light"/>
                <a:ea typeface="Open Sans Light"/>
                <a:cs typeface="Open Sans Light"/>
                <a:sym typeface="Open Sans Light"/>
              </a:rPr>
              <a:t>Enables remote work, reducing commuting and cutting carbon emissions.</a:t>
            </a:r>
            <a:endParaRPr sz="1200">
              <a:solidFill>
                <a:schemeClr val="dk2"/>
              </a:solidFill>
              <a:latin typeface="Open Sans Light"/>
              <a:ea typeface="Open Sans Light"/>
              <a:cs typeface="Open Sans Light"/>
              <a:sym typeface="Open Sans Light"/>
            </a:endParaRPr>
          </a:p>
          <a:p>
            <a:pPr marL="914400" lvl="0" indent="0" algn="l" rtl="0">
              <a:spcBef>
                <a:spcPts val="0"/>
              </a:spcBef>
              <a:spcAft>
                <a:spcPts val="0"/>
              </a:spcAft>
              <a:buNone/>
            </a:pPr>
            <a:endParaRPr sz="1200">
              <a:solidFill>
                <a:schemeClr val="dk2"/>
              </a:solidFill>
              <a:latin typeface="Open Sans Light"/>
              <a:ea typeface="Open Sans Light"/>
              <a:cs typeface="Open Sans Light"/>
              <a:sym typeface="Open Sans Light"/>
            </a:endParaRPr>
          </a:p>
          <a:p>
            <a:pPr marL="457200" lvl="0" indent="-304800" algn="l" rtl="0">
              <a:spcBef>
                <a:spcPts val="0"/>
              </a:spcBef>
              <a:spcAft>
                <a:spcPts val="0"/>
              </a:spcAft>
              <a:buClr>
                <a:schemeClr val="dk2"/>
              </a:buClr>
              <a:buSzPts val="1200"/>
              <a:buFont typeface="Open Sans Light"/>
              <a:buAutoNum type="arabicPeriod"/>
            </a:pPr>
            <a:r>
              <a:rPr lang="en" sz="1200" b="1">
                <a:solidFill>
                  <a:schemeClr val="dk2"/>
                </a:solidFill>
                <a:latin typeface="Open Sans"/>
                <a:ea typeface="Open Sans"/>
                <a:cs typeface="Open Sans"/>
                <a:sym typeface="Open Sans"/>
              </a:rPr>
              <a:t>Job Creation</a:t>
            </a:r>
            <a:r>
              <a:rPr lang="en" sz="1200">
                <a:solidFill>
                  <a:schemeClr val="dk2"/>
                </a:solidFill>
                <a:latin typeface="Open Sans Light"/>
                <a:ea typeface="Open Sans Light"/>
                <a:cs typeface="Open Sans Light"/>
                <a:sym typeface="Open Sans Light"/>
              </a:rPr>
              <a:t>: </a:t>
            </a:r>
            <a:endParaRPr sz="1200">
              <a:solidFill>
                <a:schemeClr val="dk2"/>
              </a:solidFill>
              <a:latin typeface="Open Sans Light"/>
              <a:ea typeface="Open Sans Light"/>
              <a:cs typeface="Open Sans Light"/>
              <a:sym typeface="Open Sans Light"/>
            </a:endParaRPr>
          </a:p>
          <a:p>
            <a:pPr marL="914400" lvl="1" indent="-304800" algn="l" rtl="0">
              <a:spcBef>
                <a:spcPts val="0"/>
              </a:spcBef>
              <a:spcAft>
                <a:spcPts val="0"/>
              </a:spcAft>
              <a:buClr>
                <a:schemeClr val="dk2"/>
              </a:buClr>
              <a:buSzPts val="1200"/>
              <a:buFont typeface="Open Sans Light"/>
              <a:buAutoNum type="alphaLcPeriod"/>
            </a:pPr>
            <a:r>
              <a:rPr lang="en" sz="1200">
                <a:solidFill>
                  <a:schemeClr val="dk2"/>
                </a:solidFill>
                <a:latin typeface="Open Sans Light"/>
                <a:ea typeface="Open Sans Light"/>
                <a:cs typeface="Open Sans Light"/>
                <a:sym typeface="Open Sans Light"/>
              </a:rPr>
              <a:t>Promotes economic growth by creating new jobs in software development, data analysis, and customer support.</a:t>
            </a:r>
            <a:endParaRPr sz="1200">
              <a:solidFill>
                <a:schemeClr val="dk2"/>
              </a:solidFill>
              <a:latin typeface="Open Sans Light"/>
              <a:ea typeface="Open Sans Light"/>
              <a:cs typeface="Open Sans Light"/>
              <a:sym typeface="Open Sans Light"/>
            </a:endParaRPr>
          </a:p>
          <a:p>
            <a:pPr marL="0" lvl="0" indent="0" algn="l" rtl="0">
              <a:spcBef>
                <a:spcPts val="0"/>
              </a:spcBef>
              <a:spcAft>
                <a:spcPts val="0"/>
              </a:spcAft>
              <a:buNone/>
            </a:pPr>
            <a:endParaRPr sz="1200">
              <a:solidFill>
                <a:srgbClr val="1F1F1F"/>
              </a:solidFill>
              <a:highlight>
                <a:srgbClr val="FFFFFF"/>
              </a:highlight>
              <a:latin typeface="Open Sans Light"/>
              <a:ea typeface="Open Sans Light"/>
              <a:cs typeface="Open Sans Light"/>
              <a:sym typeface="Open Sans Light"/>
            </a:endParaRPr>
          </a:p>
          <a:p>
            <a:pPr marL="0" marR="0" lvl="0" indent="0" algn="l" rtl="0">
              <a:lnSpc>
                <a:spcPct val="115000"/>
              </a:lnSpc>
              <a:spcBef>
                <a:spcPts val="0"/>
              </a:spcBef>
              <a:spcAft>
                <a:spcPts val="600"/>
              </a:spcAft>
              <a:buClr>
                <a:srgbClr val="000000"/>
              </a:buClr>
              <a:buSzPts val="1400"/>
              <a:buFont typeface="Arial"/>
              <a:buNone/>
            </a:pPr>
            <a:endParaRPr sz="1400" b="0" i="0" u="none" strike="noStrike" cap="none">
              <a:solidFill>
                <a:schemeClr val="dk2"/>
              </a:solidFill>
              <a:latin typeface="Open Sans Light"/>
              <a:ea typeface="Open Sans Light"/>
              <a:cs typeface="Open Sans Light"/>
              <a:sym typeface="Open Sans Light"/>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06"/>
        <p:cNvGrpSpPr/>
        <p:nvPr/>
      </p:nvGrpSpPr>
      <p:grpSpPr>
        <a:xfrm>
          <a:off x="0" y="0"/>
          <a:ext cx="0" cy="0"/>
          <a:chOff x="0" y="0"/>
          <a:chExt cx="0" cy="0"/>
        </a:xfrm>
      </p:grpSpPr>
      <p:sp>
        <p:nvSpPr>
          <p:cNvPr id="407" name="Google Shape;407;g31c6c500ab9_0_0"/>
          <p:cNvSpPr txBox="1"/>
          <p:nvPr/>
        </p:nvSpPr>
        <p:spPr>
          <a:xfrm>
            <a:off x="311700" y="358625"/>
            <a:ext cx="8520600" cy="572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 sz="2800">
                <a:solidFill>
                  <a:srgbClr val="002D45"/>
                </a:solidFill>
                <a:latin typeface="Montserrat"/>
                <a:ea typeface="Montserrat"/>
                <a:cs typeface="Montserrat"/>
                <a:sym typeface="Montserrat"/>
              </a:rPr>
              <a:t>Frequency of Word Summarization</a:t>
            </a:r>
            <a:endParaRPr sz="2800" b="0" i="0" u="none" strike="noStrike" cap="none">
              <a:solidFill>
                <a:srgbClr val="002D45"/>
              </a:solidFill>
              <a:latin typeface="Montserrat"/>
              <a:ea typeface="Montserrat"/>
              <a:cs typeface="Montserrat"/>
              <a:sym typeface="Montserrat"/>
            </a:endParaRPr>
          </a:p>
        </p:txBody>
      </p:sp>
      <p:sp>
        <p:nvSpPr>
          <p:cNvPr id="408" name="Google Shape;408;g31c6c500ab9_0_0"/>
          <p:cNvSpPr txBox="1"/>
          <p:nvPr/>
        </p:nvSpPr>
        <p:spPr>
          <a:xfrm>
            <a:off x="311700" y="931325"/>
            <a:ext cx="8520600" cy="4013100"/>
          </a:xfrm>
          <a:prstGeom prst="rect">
            <a:avLst/>
          </a:prstGeom>
          <a:noFill/>
          <a:ln>
            <a:noFill/>
          </a:ln>
        </p:spPr>
        <p:txBody>
          <a:bodyPr spcFirstLastPara="1" wrap="square" lIns="91425" tIns="91425" rIns="91425" bIns="91425" anchor="t" anchorCtr="0">
            <a:noAutofit/>
          </a:bodyPr>
          <a:lstStyle/>
          <a:p>
            <a:pPr marL="457200" lvl="0" indent="-304800" algn="l" rtl="0">
              <a:lnSpc>
                <a:spcPct val="115000"/>
              </a:lnSpc>
              <a:spcBef>
                <a:spcPts val="500"/>
              </a:spcBef>
              <a:spcAft>
                <a:spcPts val="0"/>
              </a:spcAft>
              <a:buClr>
                <a:srgbClr val="1F1F1F"/>
              </a:buClr>
              <a:buSzPts val="1200"/>
              <a:buFont typeface="Roboto"/>
              <a:buAutoNum type="arabicPeriod"/>
            </a:pPr>
            <a:r>
              <a:rPr lang="en" sz="1200">
                <a:solidFill>
                  <a:srgbClr val="1F1F1F"/>
                </a:solidFill>
                <a:highlight>
                  <a:srgbClr val="FFFFFF"/>
                </a:highlight>
                <a:latin typeface="Open Sans Light"/>
                <a:ea typeface="Open Sans Light"/>
                <a:cs typeface="Open Sans Light"/>
                <a:sym typeface="Open Sans Light"/>
              </a:rPr>
              <a:t>Word Counting:</a:t>
            </a:r>
            <a:endParaRPr sz="1200">
              <a:solidFill>
                <a:srgbClr val="1F1F1F"/>
              </a:solidFill>
              <a:highlight>
                <a:srgbClr val="FFFFFF"/>
              </a:highlight>
              <a:latin typeface="Open Sans Light"/>
              <a:ea typeface="Open Sans Light"/>
              <a:cs typeface="Open Sans Light"/>
              <a:sym typeface="Open Sans Light"/>
            </a:endParaRPr>
          </a:p>
          <a:p>
            <a:pPr marL="914400" lvl="1" indent="-304800" algn="l" rtl="0">
              <a:lnSpc>
                <a:spcPct val="115000"/>
              </a:lnSpc>
              <a:spcBef>
                <a:spcPts val="0"/>
              </a:spcBef>
              <a:spcAft>
                <a:spcPts val="0"/>
              </a:spcAft>
              <a:buClr>
                <a:srgbClr val="1F1F1F"/>
              </a:buClr>
              <a:buSzPts val="1200"/>
              <a:buFont typeface="Open Sans Light"/>
              <a:buChar char="○"/>
            </a:pPr>
            <a:r>
              <a:rPr lang="en" sz="1200">
                <a:solidFill>
                  <a:srgbClr val="1F1F1F"/>
                </a:solidFill>
                <a:highlight>
                  <a:srgbClr val="FFFFFF"/>
                </a:highlight>
                <a:latin typeface="Open Sans Light"/>
                <a:ea typeface="Open Sans Light"/>
                <a:cs typeface="Open Sans Light"/>
                <a:sym typeface="Open Sans Light"/>
              </a:rPr>
              <a:t>It tokenizes the article into individual words.</a:t>
            </a:r>
            <a:endParaRPr sz="1200">
              <a:solidFill>
                <a:srgbClr val="1F1F1F"/>
              </a:solidFill>
              <a:highlight>
                <a:srgbClr val="FFFFFF"/>
              </a:highlight>
              <a:latin typeface="Open Sans Light"/>
              <a:ea typeface="Open Sans Light"/>
              <a:cs typeface="Open Sans Light"/>
              <a:sym typeface="Open Sans Light"/>
            </a:endParaRPr>
          </a:p>
          <a:p>
            <a:pPr marL="914400" lvl="1" indent="-304800" algn="l" rtl="0">
              <a:lnSpc>
                <a:spcPct val="115000"/>
              </a:lnSpc>
              <a:spcBef>
                <a:spcPts val="0"/>
              </a:spcBef>
              <a:spcAft>
                <a:spcPts val="0"/>
              </a:spcAft>
              <a:buClr>
                <a:srgbClr val="1F1F1F"/>
              </a:buClr>
              <a:buSzPts val="1200"/>
              <a:buFont typeface="Roboto"/>
              <a:buChar char="○"/>
            </a:pPr>
            <a:r>
              <a:rPr lang="en" sz="1200">
                <a:solidFill>
                  <a:srgbClr val="1F1F1F"/>
                </a:solidFill>
                <a:highlight>
                  <a:srgbClr val="FFFFFF"/>
                </a:highlight>
                <a:latin typeface="Open Sans Light"/>
                <a:ea typeface="Open Sans Light"/>
                <a:cs typeface="Open Sans Light"/>
                <a:sym typeface="Open Sans Light"/>
              </a:rPr>
              <a:t>It creates a frequency table (freqTable) storing the count of each word (excluding common stop words).</a:t>
            </a:r>
            <a:endParaRPr sz="1200">
              <a:solidFill>
                <a:srgbClr val="1F1F1F"/>
              </a:solidFill>
              <a:highlight>
                <a:srgbClr val="FFFFFF"/>
              </a:highlight>
              <a:latin typeface="Open Sans Light"/>
              <a:ea typeface="Open Sans Light"/>
              <a:cs typeface="Open Sans Light"/>
              <a:sym typeface="Open Sans Light"/>
            </a:endParaRPr>
          </a:p>
          <a:p>
            <a:pPr marL="457200" lvl="0" indent="-304800" algn="l" rtl="0">
              <a:lnSpc>
                <a:spcPct val="115000"/>
              </a:lnSpc>
              <a:spcBef>
                <a:spcPts val="1000"/>
              </a:spcBef>
              <a:spcAft>
                <a:spcPts val="0"/>
              </a:spcAft>
              <a:buClr>
                <a:srgbClr val="1F1F1F"/>
              </a:buClr>
              <a:buSzPts val="1200"/>
              <a:buFont typeface="Roboto"/>
              <a:buAutoNum type="arabicPeriod"/>
            </a:pPr>
            <a:r>
              <a:rPr lang="en" sz="1200">
                <a:solidFill>
                  <a:srgbClr val="1F1F1F"/>
                </a:solidFill>
                <a:highlight>
                  <a:srgbClr val="FFFFFF"/>
                </a:highlight>
                <a:latin typeface="Open Sans Light"/>
                <a:ea typeface="Open Sans Light"/>
                <a:cs typeface="Open Sans Light"/>
                <a:sym typeface="Open Sans Light"/>
              </a:rPr>
              <a:t>Sentence Scoring:</a:t>
            </a:r>
            <a:endParaRPr sz="1200">
              <a:solidFill>
                <a:srgbClr val="1F1F1F"/>
              </a:solidFill>
              <a:highlight>
                <a:srgbClr val="FFFFFF"/>
              </a:highlight>
              <a:latin typeface="Open Sans Light"/>
              <a:ea typeface="Open Sans Light"/>
              <a:cs typeface="Open Sans Light"/>
              <a:sym typeface="Open Sans Light"/>
            </a:endParaRPr>
          </a:p>
          <a:p>
            <a:pPr marL="914400" lvl="1" indent="-304800" algn="l" rtl="0">
              <a:lnSpc>
                <a:spcPct val="115000"/>
              </a:lnSpc>
              <a:spcBef>
                <a:spcPts val="0"/>
              </a:spcBef>
              <a:spcAft>
                <a:spcPts val="0"/>
              </a:spcAft>
              <a:buClr>
                <a:srgbClr val="1F1F1F"/>
              </a:buClr>
              <a:buSzPts val="1200"/>
              <a:buFont typeface="Open Sans Light"/>
              <a:buChar char="○"/>
            </a:pPr>
            <a:r>
              <a:rPr lang="en" sz="1200">
                <a:solidFill>
                  <a:srgbClr val="1F1F1F"/>
                </a:solidFill>
                <a:highlight>
                  <a:srgbClr val="FFFFFF"/>
                </a:highlight>
                <a:latin typeface="Open Sans Light"/>
                <a:ea typeface="Open Sans Light"/>
                <a:cs typeface="Open Sans Light"/>
                <a:sym typeface="Open Sans Light"/>
              </a:rPr>
              <a:t>It tokenizes the article into sentences.</a:t>
            </a:r>
            <a:endParaRPr sz="1200">
              <a:solidFill>
                <a:srgbClr val="1F1F1F"/>
              </a:solidFill>
              <a:highlight>
                <a:srgbClr val="FFFFFF"/>
              </a:highlight>
              <a:latin typeface="Open Sans Light"/>
              <a:ea typeface="Open Sans Light"/>
              <a:cs typeface="Open Sans Light"/>
              <a:sym typeface="Open Sans Light"/>
            </a:endParaRPr>
          </a:p>
          <a:p>
            <a:pPr marL="914400" lvl="1" indent="-304800" algn="l" rtl="0">
              <a:lnSpc>
                <a:spcPct val="115000"/>
              </a:lnSpc>
              <a:spcBef>
                <a:spcPts val="0"/>
              </a:spcBef>
              <a:spcAft>
                <a:spcPts val="0"/>
              </a:spcAft>
              <a:buClr>
                <a:srgbClr val="1F1F1F"/>
              </a:buClr>
              <a:buSzPts val="1200"/>
              <a:buFont typeface="Roboto"/>
              <a:buChar char="○"/>
            </a:pPr>
            <a:r>
              <a:rPr lang="en" sz="1200">
                <a:solidFill>
                  <a:srgbClr val="1F1F1F"/>
                </a:solidFill>
                <a:highlight>
                  <a:srgbClr val="FFFFFF"/>
                </a:highlight>
                <a:latin typeface="Open Sans Light"/>
                <a:ea typeface="Open Sans Light"/>
                <a:cs typeface="Open Sans Light"/>
                <a:sym typeface="Open Sans Light"/>
              </a:rPr>
              <a:t>For each sentence, it calculates a score based on the frequencies of the words present in that sentence using the freqTable.</a:t>
            </a:r>
            <a:endParaRPr sz="1200">
              <a:solidFill>
                <a:srgbClr val="1F1F1F"/>
              </a:solidFill>
              <a:highlight>
                <a:srgbClr val="FFFFFF"/>
              </a:highlight>
              <a:latin typeface="Open Sans Light"/>
              <a:ea typeface="Open Sans Light"/>
              <a:cs typeface="Open Sans Light"/>
              <a:sym typeface="Open Sans Light"/>
            </a:endParaRPr>
          </a:p>
          <a:p>
            <a:pPr marL="914400" lvl="1" indent="-304800" algn="l" rtl="0">
              <a:lnSpc>
                <a:spcPct val="115000"/>
              </a:lnSpc>
              <a:spcBef>
                <a:spcPts val="0"/>
              </a:spcBef>
              <a:spcAft>
                <a:spcPts val="0"/>
              </a:spcAft>
              <a:buClr>
                <a:srgbClr val="1F1F1F"/>
              </a:buClr>
              <a:buSzPts val="1200"/>
              <a:buFont typeface="Open Sans Light"/>
              <a:buChar char="○"/>
            </a:pPr>
            <a:r>
              <a:rPr lang="en" sz="1200">
                <a:solidFill>
                  <a:srgbClr val="1F1F1F"/>
                </a:solidFill>
                <a:highlight>
                  <a:srgbClr val="FFFFFF"/>
                </a:highlight>
                <a:latin typeface="Open Sans Light"/>
                <a:ea typeface="Open Sans Light"/>
                <a:cs typeface="Open Sans Light"/>
                <a:sym typeface="Open Sans Light"/>
              </a:rPr>
              <a:t>Sentences containing more frequent words receive higher scores, indicating their potential importance.</a:t>
            </a:r>
            <a:endParaRPr sz="1200">
              <a:solidFill>
                <a:srgbClr val="1F1F1F"/>
              </a:solidFill>
              <a:highlight>
                <a:srgbClr val="FFFFFF"/>
              </a:highlight>
              <a:latin typeface="Open Sans Light"/>
              <a:ea typeface="Open Sans Light"/>
              <a:cs typeface="Open Sans Light"/>
              <a:sym typeface="Open Sans Light"/>
            </a:endParaRPr>
          </a:p>
          <a:p>
            <a:pPr marL="457200" lvl="0" indent="-304800" algn="l" rtl="0">
              <a:lnSpc>
                <a:spcPct val="115000"/>
              </a:lnSpc>
              <a:spcBef>
                <a:spcPts val="1000"/>
              </a:spcBef>
              <a:spcAft>
                <a:spcPts val="0"/>
              </a:spcAft>
              <a:buClr>
                <a:srgbClr val="1F1F1F"/>
              </a:buClr>
              <a:buSzPts val="1200"/>
              <a:buFont typeface="Roboto"/>
              <a:buAutoNum type="arabicPeriod"/>
            </a:pPr>
            <a:r>
              <a:rPr lang="en" sz="1200">
                <a:solidFill>
                  <a:srgbClr val="1F1F1F"/>
                </a:solidFill>
                <a:highlight>
                  <a:srgbClr val="FFFFFF"/>
                </a:highlight>
                <a:latin typeface="Open Sans Light"/>
                <a:ea typeface="Open Sans Light"/>
                <a:cs typeface="Open Sans Light"/>
                <a:sym typeface="Open Sans Light"/>
              </a:rPr>
              <a:t>Summarization:</a:t>
            </a:r>
            <a:endParaRPr sz="1200">
              <a:solidFill>
                <a:srgbClr val="1F1F1F"/>
              </a:solidFill>
              <a:highlight>
                <a:srgbClr val="FFFFFF"/>
              </a:highlight>
              <a:latin typeface="Open Sans Light"/>
              <a:ea typeface="Open Sans Light"/>
              <a:cs typeface="Open Sans Light"/>
              <a:sym typeface="Open Sans Light"/>
            </a:endParaRPr>
          </a:p>
          <a:p>
            <a:pPr marL="914400" lvl="1" indent="-304800" algn="l" rtl="0">
              <a:lnSpc>
                <a:spcPct val="115000"/>
              </a:lnSpc>
              <a:spcBef>
                <a:spcPts val="0"/>
              </a:spcBef>
              <a:spcAft>
                <a:spcPts val="0"/>
              </a:spcAft>
              <a:buClr>
                <a:srgbClr val="1F1F1F"/>
              </a:buClr>
              <a:buSzPts val="1200"/>
              <a:buFont typeface="Open Sans Light"/>
              <a:buChar char="○"/>
            </a:pPr>
            <a:r>
              <a:rPr lang="en" sz="1200">
                <a:solidFill>
                  <a:srgbClr val="1F1F1F"/>
                </a:solidFill>
                <a:highlight>
                  <a:srgbClr val="FFFFFF"/>
                </a:highlight>
                <a:latin typeface="Open Sans Light"/>
                <a:ea typeface="Open Sans Light"/>
                <a:cs typeface="Open Sans Light"/>
                <a:sym typeface="Open Sans Light"/>
              </a:rPr>
              <a:t>It calculates the median sentence score.</a:t>
            </a:r>
            <a:endParaRPr sz="1200">
              <a:solidFill>
                <a:srgbClr val="1F1F1F"/>
              </a:solidFill>
              <a:highlight>
                <a:srgbClr val="FFFFFF"/>
              </a:highlight>
              <a:latin typeface="Open Sans Light"/>
              <a:ea typeface="Open Sans Light"/>
              <a:cs typeface="Open Sans Light"/>
              <a:sym typeface="Open Sans Light"/>
            </a:endParaRPr>
          </a:p>
          <a:p>
            <a:pPr marL="914400" lvl="1" indent="-304800" algn="l" rtl="0">
              <a:lnSpc>
                <a:spcPct val="115000"/>
              </a:lnSpc>
              <a:spcBef>
                <a:spcPts val="0"/>
              </a:spcBef>
              <a:spcAft>
                <a:spcPts val="0"/>
              </a:spcAft>
              <a:buClr>
                <a:srgbClr val="1F1F1F"/>
              </a:buClr>
              <a:buSzPts val="1200"/>
              <a:buFont typeface="Open Sans Light"/>
              <a:buChar char="○"/>
            </a:pPr>
            <a:r>
              <a:rPr lang="en" sz="1200">
                <a:solidFill>
                  <a:srgbClr val="1F1F1F"/>
                </a:solidFill>
                <a:highlight>
                  <a:srgbClr val="FFFFFF"/>
                </a:highlight>
                <a:latin typeface="Open Sans Light"/>
                <a:ea typeface="Open Sans Light"/>
                <a:cs typeface="Open Sans Light"/>
                <a:sym typeface="Open Sans Light"/>
              </a:rPr>
              <a:t>It iterates through the sentences and selects those with scores significantly above the median (by a factor of 1.20 in this case).</a:t>
            </a:r>
            <a:endParaRPr sz="1200">
              <a:solidFill>
                <a:srgbClr val="1F1F1F"/>
              </a:solidFill>
              <a:highlight>
                <a:srgbClr val="FFFFFF"/>
              </a:highlight>
              <a:latin typeface="Open Sans Light"/>
              <a:ea typeface="Open Sans Light"/>
              <a:cs typeface="Open Sans Light"/>
              <a:sym typeface="Open Sans Light"/>
            </a:endParaRPr>
          </a:p>
          <a:p>
            <a:pPr marL="914400" lvl="1" indent="-304800" algn="l" rtl="0">
              <a:lnSpc>
                <a:spcPct val="115000"/>
              </a:lnSpc>
              <a:spcBef>
                <a:spcPts val="0"/>
              </a:spcBef>
              <a:spcAft>
                <a:spcPts val="0"/>
              </a:spcAft>
              <a:buClr>
                <a:srgbClr val="1F1F1F"/>
              </a:buClr>
              <a:buSzPts val="1200"/>
              <a:buFont typeface="Open Sans Light"/>
              <a:buChar char="○"/>
            </a:pPr>
            <a:r>
              <a:rPr lang="en" sz="1200">
                <a:solidFill>
                  <a:srgbClr val="1F1F1F"/>
                </a:solidFill>
                <a:highlight>
                  <a:srgbClr val="FFFFFF"/>
                </a:highlight>
                <a:latin typeface="Open Sans Light"/>
                <a:ea typeface="Open Sans Light"/>
                <a:cs typeface="Open Sans Light"/>
                <a:sym typeface="Open Sans Light"/>
              </a:rPr>
              <a:t>These selected sentences are combined to form the summary.</a:t>
            </a:r>
            <a:endParaRPr sz="1200" i="0" u="none" strike="noStrike" cap="none">
              <a:solidFill>
                <a:schemeClr val="dk2"/>
              </a:solidFill>
              <a:latin typeface="Open Sans Light"/>
              <a:ea typeface="Open Sans Light"/>
              <a:cs typeface="Open Sans Light"/>
              <a:sym typeface="Open Sans Light"/>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12"/>
        <p:cNvGrpSpPr/>
        <p:nvPr/>
      </p:nvGrpSpPr>
      <p:grpSpPr>
        <a:xfrm>
          <a:off x="0" y="0"/>
          <a:ext cx="0" cy="0"/>
          <a:chOff x="0" y="0"/>
          <a:chExt cx="0" cy="0"/>
        </a:xfrm>
      </p:grpSpPr>
      <p:sp>
        <p:nvSpPr>
          <p:cNvPr id="413" name="Google Shape;413;g31c6c500ab9_0_10"/>
          <p:cNvSpPr txBox="1"/>
          <p:nvPr/>
        </p:nvSpPr>
        <p:spPr>
          <a:xfrm>
            <a:off x="311700" y="165300"/>
            <a:ext cx="8520600" cy="572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 sz="2800">
                <a:solidFill>
                  <a:srgbClr val="002D45"/>
                </a:solidFill>
                <a:latin typeface="Montserrat"/>
                <a:ea typeface="Montserrat"/>
                <a:cs typeface="Montserrat"/>
                <a:sym typeface="Montserrat"/>
              </a:rPr>
              <a:t>TextRank Summarization</a:t>
            </a:r>
            <a:endParaRPr sz="2800" b="0" i="0" u="none" strike="noStrike" cap="none">
              <a:solidFill>
                <a:srgbClr val="002D45"/>
              </a:solidFill>
              <a:latin typeface="Montserrat"/>
              <a:ea typeface="Montserrat"/>
              <a:cs typeface="Montserrat"/>
              <a:sym typeface="Montserrat"/>
            </a:endParaRPr>
          </a:p>
        </p:txBody>
      </p:sp>
      <p:sp>
        <p:nvSpPr>
          <p:cNvPr id="414" name="Google Shape;414;g31c6c500ab9_0_10"/>
          <p:cNvSpPr txBox="1"/>
          <p:nvPr/>
        </p:nvSpPr>
        <p:spPr>
          <a:xfrm>
            <a:off x="311700" y="636275"/>
            <a:ext cx="8520600" cy="4440300"/>
          </a:xfrm>
          <a:prstGeom prst="rect">
            <a:avLst/>
          </a:prstGeom>
          <a:noFill/>
          <a:ln>
            <a:noFill/>
          </a:ln>
        </p:spPr>
        <p:txBody>
          <a:bodyPr spcFirstLastPara="1" wrap="square" lIns="91425" tIns="91425" rIns="91425" bIns="91425" anchor="t" anchorCtr="0">
            <a:noAutofit/>
          </a:bodyPr>
          <a:lstStyle/>
          <a:p>
            <a:pPr marL="457200" lvl="0" indent="-295275" algn="l" rtl="0">
              <a:lnSpc>
                <a:spcPct val="115000"/>
              </a:lnSpc>
              <a:spcBef>
                <a:spcPts val="500"/>
              </a:spcBef>
              <a:spcAft>
                <a:spcPts val="0"/>
              </a:spcAft>
              <a:buClr>
                <a:srgbClr val="1F1F1F"/>
              </a:buClr>
              <a:buSzPts val="1050"/>
              <a:buFont typeface="Open Sans Light"/>
              <a:buAutoNum type="arabicPeriod"/>
            </a:pPr>
            <a:r>
              <a:rPr lang="en" sz="1050">
                <a:solidFill>
                  <a:srgbClr val="1F1F1F"/>
                </a:solidFill>
                <a:highlight>
                  <a:srgbClr val="FFFFFF"/>
                </a:highlight>
                <a:latin typeface="Open Sans Light"/>
                <a:ea typeface="Open Sans Light"/>
                <a:cs typeface="Open Sans Light"/>
                <a:sym typeface="Open Sans Light"/>
              </a:rPr>
              <a:t>Sentence Embeddings:</a:t>
            </a:r>
            <a:endParaRPr sz="1050">
              <a:solidFill>
                <a:srgbClr val="1F1F1F"/>
              </a:solidFill>
              <a:highlight>
                <a:srgbClr val="FFFFFF"/>
              </a:highlight>
              <a:latin typeface="Open Sans Light"/>
              <a:ea typeface="Open Sans Light"/>
              <a:cs typeface="Open Sans Light"/>
              <a:sym typeface="Open Sans Light"/>
            </a:endParaRPr>
          </a:p>
          <a:p>
            <a:pPr marL="914400" lvl="1" indent="-295275" algn="l" rtl="0">
              <a:lnSpc>
                <a:spcPct val="115000"/>
              </a:lnSpc>
              <a:spcBef>
                <a:spcPts val="0"/>
              </a:spcBef>
              <a:spcAft>
                <a:spcPts val="0"/>
              </a:spcAft>
              <a:buClr>
                <a:srgbClr val="1F1F1F"/>
              </a:buClr>
              <a:buSzPts val="1050"/>
              <a:buFont typeface="Open Sans Light"/>
              <a:buChar char="○"/>
            </a:pPr>
            <a:r>
              <a:rPr lang="en" sz="1050">
                <a:solidFill>
                  <a:srgbClr val="1F1F1F"/>
                </a:solidFill>
                <a:highlight>
                  <a:srgbClr val="FFFFFF"/>
                </a:highlight>
                <a:latin typeface="Open Sans Light"/>
                <a:ea typeface="Open Sans Light"/>
                <a:cs typeface="Open Sans Light"/>
                <a:sym typeface="Open Sans Light"/>
              </a:rPr>
              <a:t>The text is first split into individual sentences.</a:t>
            </a:r>
            <a:endParaRPr sz="1050">
              <a:solidFill>
                <a:srgbClr val="1F1F1F"/>
              </a:solidFill>
              <a:highlight>
                <a:srgbClr val="FFFFFF"/>
              </a:highlight>
              <a:latin typeface="Open Sans Light"/>
              <a:ea typeface="Open Sans Light"/>
              <a:cs typeface="Open Sans Light"/>
              <a:sym typeface="Open Sans Light"/>
            </a:endParaRPr>
          </a:p>
          <a:p>
            <a:pPr marL="914400" lvl="1" indent="-295275" algn="l" rtl="0">
              <a:lnSpc>
                <a:spcPct val="115000"/>
              </a:lnSpc>
              <a:spcBef>
                <a:spcPts val="0"/>
              </a:spcBef>
              <a:spcAft>
                <a:spcPts val="0"/>
              </a:spcAft>
              <a:buClr>
                <a:srgbClr val="1F1F1F"/>
              </a:buClr>
              <a:buSzPts val="1050"/>
              <a:buFont typeface="Open Sans Light"/>
              <a:buChar char="○"/>
            </a:pPr>
            <a:r>
              <a:rPr lang="en" sz="1050">
                <a:solidFill>
                  <a:srgbClr val="1F1F1F"/>
                </a:solidFill>
                <a:highlight>
                  <a:srgbClr val="FFFFFF"/>
                </a:highlight>
                <a:latin typeface="Open Sans Light"/>
                <a:ea typeface="Open Sans Light"/>
                <a:cs typeface="Open Sans Light"/>
                <a:sym typeface="Open Sans Light"/>
              </a:rPr>
              <a:t>Each sentence is then converted into a </a:t>
            </a:r>
            <a:r>
              <a:rPr lang="en" sz="1050" b="1">
                <a:solidFill>
                  <a:srgbClr val="1F1F1F"/>
                </a:solidFill>
                <a:highlight>
                  <a:srgbClr val="FFFFFF"/>
                </a:highlight>
                <a:latin typeface="Open Sans"/>
                <a:ea typeface="Open Sans"/>
                <a:cs typeface="Open Sans"/>
                <a:sym typeface="Open Sans"/>
              </a:rPr>
              <a:t>numerical vector</a:t>
            </a:r>
            <a:r>
              <a:rPr lang="en" sz="1050">
                <a:solidFill>
                  <a:srgbClr val="1F1F1F"/>
                </a:solidFill>
                <a:highlight>
                  <a:srgbClr val="FFFFFF"/>
                </a:highlight>
                <a:latin typeface="Open Sans Light"/>
                <a:ea typeface="Open Sans Light"/>
                <a:cs typeface="Open Sans Light"/>
                <a:sym typeface="Open Sans Light"/>
              </a:rPr>
              <a:t> representation called an embedding. These embeddings capture the semantic meaning of the sentences.</a:t>
            </a:r>
            <a:endParaRPr sz="1050">
              <a:solidFill>
                <a:srgbClr val="1F1F1F"/>
              </a:solidFill>
              <a:highlight>
                <a:srgbClr val="FFFFFF"/>
              </a:highlight>
              <a:latin typeface="Open Sans Light"/>
              <a:ea typeface="Open Sans Light"/>
              <a:cs typeface="Open Sans Light"/>
              <a:sym typeface="Open Sans Light"/>
            </a:endParaRPr>
          </a:p>
          <a:p>
            <a:pPr marL="457200" lvl="0" indent="-295275" algn="l" rtl="0">
              <a:lnSpc>
                <a:spcPct val="115000"/>
              </a:lnSpc>
              <a:spcBef>
                <a:spcPts val="1000"/>
              </a:spcBef>
              <a:spcAft>
                <a:spcPts val="0"/>
              </a:spcAft>
              <a:buClr>
                <a:srgbClr val="1F1F1F"/>
              </a:buClr>
              <a:buSzPts val="1050"/>
              <a:buFont typeface="Open Sans Light"/>
              <a:buAutoNum type="arabicPeriod"/>
            </a:pPr>
            <a:r>
              <a:rPr lang="en" sz="1050">
                <a:solidFill>
                  <a:srgbClr val="1F1F1F"/>
                </a:solidFill>
                <a:highlight>
                  <a:srgbClr val="FFFFFF"/>
                </a:highlight>
                <a:latin typeface="Open Sans Light"/>
                <a:ea typeface="Open Sans Light"/>
                <a:cs typeface="Open Sans Light"/>
                <a:sym typeface="Open Sans Light"/>
              </a:rPr>
              <a:t>Similarity Matrix:</a:t>
            </a:r>
            <a:endParaRPr sz="1050">
              <a:solidFill>
                <a:srgbClr val="1F1F1F"/>
              </a:solidFill>
              <a:highlight>
                <a:srgbClr val="FFFFFF"/>
              </a:highlight>
              <a:latin typeface="Open Sans Light"/>
              <a:ea typeface="Open Sans Light"/>
              <a:cs typeface="Open Sans Light"/>
              <a:sym typeface="Open Sans Light"/>
            </a:endParaRPr>
          </a:p>
          <a:p>
            <a:pPr marL="914400" lvl="1" indent="-295275" algn="l" rtl="0">
              <a:lnSpc>
                <a:spcPct val="115000"/>
              </a:lnSpc>
              <a:spcBef>
                <a:spcPts val="0"/>
              </a:spcBef>
              <a:spcAft>
                <a:spcPts val="0"/>
              </a:spcAft>
              <a:buClr>
                <a:srgbClr val="1F1F1F"/>
              </a:buClr>
              <a:buSzPts val="1050"/>
              <a:buFont typeface="Open Sans Light"/>
              <a:buChar char="○"/>
            </a:pPr>
            <a:r>
              <a:rPr lang="en" sz="1050">
                <a:solidFill>
                  <a:srgbClr val="1F1F1F"/>
                </a:solidFill>
                <a:highlight>
                  <a:srgbClr val="FFFFFF"/>
                </a:highlight>
                <a:latin typeface="Open Sans Light"/>
                <a:ea typeface="Open Sans Light"/>
                <a:cs typeface="Open Sans Light"/>
                <a:sym typeface="Open Sans Light"/>
              </a:rPr>
              <a:t>A </a:t>
            </a:r>
            <a:r>
              <a:rPr lang="en" sz="1050" b="1">
                <a:solidFill>
                  <a:srgbClr val="1F1F1F"/>
                </a:solidFill>
                <a:highlight>
                  <a:srgbClr val="FFFFFF"/>
                </a:highlight>
                <a:latin typeface="Open Sans"/>
                <a:ea typeface="Open Sans"/>
                <a:cs typeface="Open Sans"/>
                <a:sym typeface="Open Sans"/>
              </a:rPr>
              <a:t>similarity matrix</a:t>
            </a:r>
            <a:r>
              <a:rPr lang="en" sz="1050">
                <a:solidFill>
                  <a:srgbClr val="1F1F1F"/>
                </a:solidFill>
                <a:highlight>
                  <a:srgbClr val="FFFFFF"/>
                </a:highlight>
                <a:latin typeface="Open Sans Light"/>
                <a:ea typeface="Open Sans Light"/>
                <a:cs typeface="Open Sans Light"/>
                <a:sym typeface="Open Sans Light"/>
              </a:rPr>
              <a:t> is constructed to represent the relationships between sentences.</a:t>
            </a:r>
            <a:endParaRPr sz="1050">
              <a:solidFill>
                <a:srgbClr val="1F1F1F"/>
              </a:solidFill>
              <a:highlight>
                <a:srgbClr val="FFFFFF"/>
              </a:highlight>
              <a:latin typeface="Open Sans Light"/>
              <a:ea typeface="Open Sans Light"/>
              <a:cs typeface="Open Sans Light"/>
              <a:sym typeface="Open Sans Light"/>
            </a:endParaRPr>
          </a:p>
          <a:p>
            <a:pPr marL="914400" lvl="1" indent="-295275" algn="l" rtl="0">
              <a:lnSpc>
                <a:spcPct val="115000"/>
              </a:lnSpc>
              <a:spcBef>
                <a:spcPts val="0"/>
              </a:spcBef>
              <a:spcAft>
                <a:spcPts val="0"/>
              </a:spcAft>
              <a:buClr>
                <a:srgbClr val="1F1F1F"/>
              </a:buClr>
              <a:buSzPts val="1050"/>
              <a:buFont typeface="Open Sans Light"/>
              <a:buChar char="○"/>
            </a:pPr>
            <a:r>
              <a:rPr lang="en" sz="1050">
                <a:solidFill>
                  <a:srgbClr val="1F1F1F"/>
                </a:solidFill>
                <a:highlight>
                  <a:srgbClr val="FFFFFF"/>
                </a:highlight>
                <a:latin typeface="Open Sans Light"/>
                <a:ea typeface="Open Sans Light"/>
                <a:cs typeface="Open Sans Light"/>
                <a:sym typeface="Open Sans Light"/>
              </a:rPr>
              <a:t>Each element in the matrix indicates the similarity between two sentences based on their embeddings. Higher values denote stronger semantic similarity.</a:t>
            </a:r>
            <a:endParaRPr sz="1050">
              <a:solidFill>
                <a:srgbClr val="1F1F1F"/>
              </a:solidFill>
              <a:highlight>
                <a:srgbClr val="FFFFFF"/>
              </a:highlight>
              <a:latin typeface="Open Sans Light"/>
              <a:ea typeface="Open Sans Light"/>
              <a:cs typeface="Open Sans Light"/>
              <a:sym typeface="Open Sans Light"/>
            </a:endParaRPr>
          </a:p>
          <a:p>
            <a:pPr marL="914400" lvl="1" indent="-295275" algn="l" rtl="0">
              <a:lnSpc>
                <a:spcPct val="115000"/>
              </a:lnSpc>
              <a:spcBef>
                <a:spcPts val="0"/>
              </a:spcBef>
              <a:spcAft>
                <a:spcPts val="0"/>
              </a:spcAft>
              <a:buClr>
                <a:srgbClr val="1F1F1F"/>
              </a:buClr>
              <a:buSzPts val="1050"/>
              <a:buFont typeface="Roboto"/>
              <a:buChar char="○"/>
            </a:pPr>
            <a:r>
              <a:rPr lang="en" sz="1050">
                <a:solidFill>
                  <a:srgbClr val="1F1F1F"/>
                </a:solidFill>
                <a:highlight>
                  <a:srgbClr val="FFFFFF"/>
                </a:highlight>
                <a:latin typeface="Open Sans Light"/>
                <a:ea typeface="Open Sans Light"/>
                <a:cs typeface="Open Sans Light"/>
                <a:sym typeface="Open Sans Light"/>
              </a:rPr>
              <a:t>The similarity_matrix method in the code calculates this matrix using cosine similarity.</a:t>
            </a:r>
            <a:endParaRPr sz="1050">
              <a:solidFill>
                <a:srgbClr val="1F1F1F"/>
              </a:solidFill>
              <a:highlight>
                <a:srgbClr val="FFFFFF"/>
              </a:highlight>
              <a:latin typeface="Open Sans Light"/>
              <a:ea typeface="Open Sans Light"/>
              <a:cs typeface="Open Sans Light"/>
              <a:sym typeface="Open Sans Light"/>
            </a:endParaRPr>
          </a:p>
          <a:p>
            <a:pPr marL="457200" lvl="0" indent="-295275" algn="l" rtl="0">
              <a:lnSpc>
                <a:spcPct val="115000"/>
              </a:lnSpc>
              <a:spcBef>
                <a:spcPts val="1000"/>
              </a:spcBef>
              <a:spcAft>
                <a:spcPts val="0"/>
              </a:spcAft>
              <a:buClr>
                <a:srgbClr val="1F1F1F"/>
              </a:buClr>
              <a:buSzPts val="1050"/>
              <a:buFont typeface="Open Sans Light"/>
              <a:buAutoNum type="arabicPeriod"/>
            </a:pPr>
            <a:r>
              <a:rPr lang="en" sz="1050">
                <a:solidFill>
                  <a:srgbClr val="1F1F1F"/>
                </a:solidFill>
                <a:highlight>
                  <a:srgbClr val="FFFFFF"/>
                </a:highlight>
                <a:latin typeface="Open Sans Light"/>
                <a:ea typeface="Open Sans Light"/>
                <a:cs typeface="Open Sans Light"/>
                <a:sym typeface="Open Sans Light"/>
              </a:rPr>
              <a:t>Graph Representation:</a:t>
            </a:r>
            <a:endParaRPr sz="1050">
              <a:solidFill>
                <a:srgbClr val="1F1F1F"/>
              </a:solidFill>
              <a:highlight>
                <a:srgbClr val="FFFFFF"/>
              </a:highlight>
              <a:latin typeface="Open Sans Light"/>
              <a:ea typeface="Open Sans Light"/>
              <a:cs typeface="Open Sans Light"/>
              <a:sym typeface="Open Sans Light"/>
            </a:endParaRPr>
          </a:p>
          <a:p>
            <a:pPr marL="914400" lvl="1" indent="-295275" algn="l" rtl="0">
              <a:lnSpc>
                <a:spcPct val="115000"/>
              </a:lnSpc>
              <a:spcBef>
                <a:spcPts val="0"/>
              </a:spcBef>
              <a:spcAft>
                <a:spcPts val="0"/>
              </a:spcAft>
              <a:buClr>
                <a:srgbClr val="1F1F1F"/>
              </a:buClr>
              <a:buSzPts val="1050"/>
              <a:buFont typeface="Open Sans Light"/>
              <a:buChar char="○"/>
            </a:pPr>
            <a:r>
              <a:rPr lang="en" sz="1050">
                <a:solidFill>
                  <a:srgbClr val="1F1F1F"/>
                </a:solidFill>
                <a:highlight>
                  <a:srgbClr val="FFFFFF"/>
                </a:highlight>
                <a:latin typeface="Open Sans Light"/>
                <a:ea typeface="Open Sans Light"/>
                <a:cs typeface="Open Sans Light"/>
                <a:sym typeface="Open Sans Light"/>
              </a:rPr>
              <a:t>The similarity matrix is then interpreted as a graph where sentences are nodes and the similarity scores are edge weights.</a:t>
            </a:r>
            <a:endParaRPr sz="1050">
              <a:solidFill>
                <a:srgbClr val="1F1F1F"/>
              </a:solidFill>
              <a:highlight>
                <a:srgbClr val="FFFFFF"/>
              </a:highlight>
              <a:latin typeface="Open Sans Light"/>
              <a:ea typeface="Open Sans Light"/>
              <a:cs typeface="Open Sans Light"/>
              <a:sym typeface="Open Sans Light"/>
            </a:endParaRPr>
          </a:p>
          <a:p>
            <a:pPr marL="914400" lvl="1" indent="-295275" algn="l" rtl="0">
              <a:lnSpc>
                <a:spcPct val="115000"/>
              </a:lnSpc>
              <a:spcBef>
                <a:spcPts val="0"/>
              </a:spcBef>
              <a:spcAft>
                <a:spcPts val="0"/>
              </a:spcAft>
              <a:buClr>
                <a:srgbClr val="1F1F1F"/>
              </a:buClr>
              <a:buSzPts val="1050"/>
              <a:buFont typeface="Open Sans Light"/>
              <a:buChar char="○"/>
            </a:pPr>
            <a:r>
              <a:rPr lang="en" sz="1050">
                <a:solidFill>
                  <a:srgbClr val="1F1F1F"/>
                </a:solidFill>
                <a:highlight>
                  <a:srgbClr val="FFFFFF"/>
                </a:highlight>
                <a:latin typeface="Open Sans Light"/>
                <a:ea typeface="Open Sans Light"/>
                <a:cs typeface="Open Sans Light"/>
                <a:sym typeface="Open Sans Light"/>
              </a:rPr>
              <a:t>This graph representation captures the interconnectedness of sentences based on their </a:t>
            </a:r>
            <a:r>
              <a:rPr lang="en" sz="1050" b="1">
                <a:solidFill>
                  <a:srgbClr val="1F1F1F"/>
                </a:solidFill>
                <a:highlight>
                  <a:srgbClr val="FFFFFF"/>
                </a:highlight>
                <a:latin typeface="Open Sans"/>
                <a:ea typeface="Open Sans"/>
                <a:cs typeface="Open Sans"/>
                <a:sym typeface="Open Sans"/>
              </a:rPr>
              <a:t>semantic relationships</a:t>
            </a:r>
            <a:r>
              <a:rPr lang="en" sz="1050">
                <a:solidFill>
                  <a:srgbClr val="1F1F1F"/>
                </a:solidFill>
                <a:highlight>
                  <a:srgbClr val="FFFFFF"/>
                </a:highlight>
                <a:latin typeface="Open Sans Light"/>
                <a:ea typeface="Open Sans Light"/>
                <a:cs typeface="Open Sans Light"/>
                <a:sym typeface="Open Sans Light"/>
              </a:rPr>
              <a:t>.</a:t>
            </a:r>
            <a:endParaRPr sz="1050">
              <a:solidFill>
                <a:srgbClr val="1F1F1F"/>
              </a:solidFill>
              <a:highlight>
                <a:srgbClr val="FFFFFF"/>
              </a:highlight>
              <a:latin typeface="Open Sans Light"/>
              <a:ea typeface="Open Sans Light"/>
              <a:cs typeface="Open Sans Light"/>
              <a:sym typeface="Open Sans Light"/>
            </a:endParaRPr>
          </a:p>
          <a:p>
            <a:pPr marL="457200" lvl="0" indent="-295275" algn="l" rtl="0">
              <a:lnSpc>
                <a:spcPct val="115000"/>
              </a:lnSpc>
              <a:spcBef>
                <a:spcPts val="1000"/>
              </a:spcBef>
              <a:spcAft>
                <a:spcPts val="0"/>
              </a:spcAft>
              <a:buClr>
                <a:srgbClr val="1F1F1F"/>
              </a:buClr>
              <a:buSzPts val="1050"/>
              <a:buFont typeface="Open Sans Light"/>
              <a:buAutoNum type="arabicPeriod"/>
            </a:pPr>
            <a:r>
              <a:rPr lang="en" sz="1050">
                <a:solidFill>
                  <a:srgbClr val="1F1F1F"/>
                </a:solidFill>
                <a:highlight>
                  <a:srgbClr val="FFFFFF"/>
                </a:highlight>
                <a:latin typeface="Open Sans Light"/>
                <a:ea typeface="Open Sans Light"/>
                <a:cs typeface="Open Sans Light"/>
                <a:sym typeface="Open Sans Light"/>
              </a:rPr>
              <a:t>PageRank Algorithm:</a:t>
            </a:r>
            <a:endParaRPr sz="1050">
              <a:solidFill>
                <a:srgbClr val="1F1F1F"/>
              </a:solidFill>
              <a:highlight>
                <a:srgbClr val="FFFFFF"/>
              </a:highlight>
              <a:latin typeface="Open Sans Light"/>
              <a:ea typeface="Open Sans Light"/>
              <a:cs typeface="Open Sans Light"/>
              <a:sym typeface="Open Sans Light"/>
            </a:endParaRPr>
          </a:p>
          <a:p>
            <a:pPr marL="914400" lvl="1" indent="-295275" algn="l" rtl="0">
              <a:lnSpc>
                <a:spcPct val="115000"/>
              </a:lnSpc>
              <a:spcBef>
                <a:spcPts val="0"/>
              </a:spcBef>
              <a:spcAft>
                <a:spcPts val="0"/>
              </a:spcAft>
              <a:buClr>
                <a:srgbClr val="1F1F1F"/>
              </a:buClr>
              <a:buSzPts val="1050"/>
              <a:buFont typeface="Open Sans Light"/>
              <a:buChar char="○"/>
            </a:pPr>
            <a:r>
              <a:rPr lang="en" sz="1050">
                <a:solidFill>
                  <a:srgbClr val="1F1F1F"/>
                </a:solidFill>
                <a:highlight>
                  <a:srgbClr val="FFFFFF"/>
                </a:highlight>
                <a:latin typeface="Open Sans Light"/>
                <a:ea typeface="Open Sans Light"/>
                <a:cs typeface="Open Sans Light"/>
                <a:sym typeface="Open Sans Light"/>
              </a:rPr>
              <a:t>The PageRank algorithm, originally used for ranking web pages, is applied to this sentence graph.</a:t>
            </a:r>
            <a:endParaRPr sz="1050">
              <a:solidFill>
                <a:srgbClr val="1F1F1F"/>
              </a:solidFill>
              <a:highlight>
                <a:srgbClr val="FFFFFF"/>
              </a:highlight>
              <a:latin typeface="Open Sans Light"/>
              <a:ea typeface="Open Sans Light"/>
              <a:cs typeface="Open Sans Light"/>
              <a:sym typeface="Open Sans Light"/>
            </a:endParaRPr>
          </a:p>
          <a:p>
            <a:pPr marL="914400" lvl="1" indent="-295275" algn="l" rtl="0">
              <a:lnSpc>
                <a:spcPct val="115000"/>
              </a:lnSpc>
              <a:spcBef>
                <a:spcPts val="0"/>
              </a:spcBef>
              <a:spcAft>
                <a:spcPts val="0"/>
              </a:spcAft>
              <a:buClr>
                <a:srgbClr val="1F1F1F"/>
              </a:buClr>
              <a:buSzPts val="1050"/>
              <a:buFont typeface="Open Sans Light"/>
              <a:buChar char="○"/>
            </a:pPr>
            <a:r>
              <a:rPr lang="en" sz="1050">
                <a:solidFill>
                  <a:srgbClr val="1F1F1F"/>
                </a:solidFill>
                <a:highlight>
                  <a:srgbClr val="FFFFFF"/>
                </a:highlight>
                <a:latin typeface="Open Sans Light"/>
                <a:ea typeface="Open Sans Light"/>
                <a:cs typeface="Open Sans Light"/>
                <a:sym typeface="Open Sans Light"/>
              </a:rPr>
              <a:t>It iteratively </a:t>
            </a:r>
            <a:r>
              <a:rPr lang="en" sz="1050" b="1">
                <a:solidFill>
                  <a:srgbClr val="1F1F1F"/>
                </a:solidFill>
                <a:highlight>
                  <a:srgbClr val="FFFFFF"/>
                </a:highlight>
                <a:latin typeface="Open Sans"/>
                <a:ea typeface="Open Sans"/>
                <a:cs typeface="Open Sans"/>
                <a:sym typeface="Open Sans"/>
              </a:rPr>
              <a:t>assigns scores</a:t>
            </a:r>
            <a:r>
              <a:rPr lang="en" sz="1050">
                <a:solidFill>
                  <a:srgbClr val="1F1F1F"/>
                </a:solidFill>
                <a:highlight>
                  <a:srgbClr val="FFFFFF"/>
                </a:highlight>
                <a:latin typeface="Open Sans Light"/>
                <a:ea typeface="Open Sans Light"/>
                <a:cs typeface="Open Sans Light"/>
                <a:sym typeface="Open Sans Light"/>
              </a:rPr>
              <a:t> to each sentence (node) based on the scores of its connected sentences (neighbors).</a:t>
            </a:r>
            <a:endParaRPr sz="1050">
              <a:solidFill>
                <a:srgbClr val="1F1F1F"/>
              </a:solidFill>
              <a:highlight>
                <a:srgbClr val="FFFFFF"/>
              </a:highlight>
              <a:latin typeface="Open Sans Light"/>
              <a:ea typeface="Open Sans Light"/>
              <a:cs typeface="Open Sans Light"/>
              <a:sym typeface="Open Sans Light"/>
            </a:endParaRPr>
          </a:p>
          <a:p>
            <a:pPr marL="914400" lvl="1" indent="-295275" algn="l" rtl="0">
              <a:lnSpc>
                <a:spcPct val="115000"/>
              </a:lnSpc>
              <a:spcBef>
                <a:spcPts val="0"/>
              </a:spcBef>
              <a:spcAft>
                <a:spcPts val="0"/>
              </a:spcAft>
              <a:buClr>
                <a:srgbClr val="1F1F1F"/>
              </a:buClr>
              <a:buSzPts val="1050"/>
              <a:buFont typeface="Open Sans Light"/>
              <a:buChar char="○"/>
            </a:pPr>
            <a:r>
              <a:rPr lang="en" sz="1050">
                <a:solidFill>
                  <a:srgbClr val="1F1F1F"/>
                </a:solidFill>
                <a:highlight>
                  <a:srgbClr val="FFFFFF"/>
                </a:highlight>
                <a:latin typeface="Open Sans Light"/>
                <a:ea typeface="Open Sans Light"/>
                <a:cs typeface="Open Sans Light"/>
                <a:sym typeface="Open Sans Light"/>
              </a:rPr>
              <a:t>Sentences with connections to high-scoring sentences receive higher scores, indicating their importance in the overall context.</a:t>
            </a:r>
            <a:endParaRPr sz="1050">
              <a:solidFill>
                <a:srgbClr val="1F1F1F"/>
              </a:solidFill>
              <a:highlight>
                <a:srgbClr val="FFFFFF"/>
              </a:highlight>
              <a:latin typeface="Open Sans Light"/>
              <a:ea typeface="Open Sans Light"/>
              <a:cs typeface="Open Sans Light"/>
              <a:sym typeface="Open Sans Light"/>
            </a:endParaRPr>
          </a:p>
          <a:p>
            <a:pPr marL="457200" lvl="0" indent="-295275" algn="l" rtl="0">
              <a:lnSpc>
                <a:spcPct val="115000"/>
              </a:lnSpc>
              <a:spcBef>
                <a:spcPts val="1000"/>
              </a:spcBef>
              <a:spcAft>
                <a:spcPts val="0"/>
              </a:spcAft>
              <a:buClr>
                <a:srgbClr val="1F1F1F"/>
              </a:buClr>
              <a:buSzPts val="1050"/>
              <a:buFont typeface="Open Sans Light"/>
              <a:buAutoNum type="arabicPeriod"/>
            </a:pPr>
            <a:r>
              <a:rPr lang="en" sz="1050">
                <a:solidFill>
                  <a:srgbClr val="1F1F1F"/>
                </a:solidFill>
                <a:highlight>
                  <a:srgbClr val="FFFFFF"/>
                </a:highlight>
                <a:latin typeface="Open Sans Light"/>
                <a:ea typeface="Open Sans Light"/>
                <a:cs typeface="Open Sans Light"/>
                <a:sym typeface="Open Sans Light"/>
              </a:rPr>
              <a:t>Sentence Selection:</a:t>
            </a:r>
            <a:endParaRPr sz="1050">
              <a:solidFill>
                <a:srgbClr val="1F1F1F"/>
              </a:solidFill>
              <a:highlight>
                <a:srgbClr val="FFFFFF"/>
              </a:highlight>
              <a:latin typeface="Open Sans Light"/>
              <a:ea typeface="Open Sans Light"/>
              <a:cs typeface="Open Sans Light"/>
              <a:sym typeface="Open Sans Light"/>
            </a:endParaRPr>
          </a:p>
          <a:p>
            <a:pPr marL="914400" lvl="1" indent="-295275" algn="l" rtl="0">
              <a:lnSpc>
                <a:spcPct val="115000"/>
              </a:lnSpc>
              <a:spcBef>
                <a:spcPts val="0"/>
              </a:spcBef>
              <a:spcAft>
                <a:spcPts val="0"/>
              </a:spcAft>
              <a:buClr>
                <a:srgbClr val="1F1F1F"/>
              </a:buClr>
              <a:buSzPts val="1050"/>
              <a:buFont typeface="Open Sans Light"/>
              <a:buChar char="○"/>
            </a:pPr>
            <a:r>
              <a:rPr lang="en" sz="1050">
                <a:solidFill>
                  <a:srgbClr val="1F1F1F"/>
                </a:solidFill>
                <a:highlight>
                  <a:srgbClr val="FFFFFF"/>
                </a:highlight>
                <a:latin typeface="Open Sans Light"/>
                <a:ea typeface="Open Sans Light"/>
                <a:cs typeface="Open Sans Light"/>
                <a:sym typeface="Open Sans Light"/>
              </a:rPr>
              <a:t>Finally, the sentences with the </a:t>
            </a:r>
            <a:r>
              <a:rPr lang="en" sz="1050" b="1">
                <a:solidFill>
                  <a:srgbClr val="1F1F1F"/>
                </a:solidFill>
                <a:highlight>
                  <a:srgbClr val="FFFFFF"/>
                </a:highlight>
                <a:latin typeface="Open Sans"/>
                <a:ea typeface="Open Sans"/>
                <a:cs typeface="Open Sans"/>
                <a:sym typeface="Open Sans"/>
              </a:rPr>
              <a:t>high PageRank scores</a:t>
            </a:r>
            <a:r>
              <a:rPr lang="en" sz="1050">
                <a:solidFill>
                  <a:srgbClr val="1F1F1F"/>
                </a:solidFill>
                <a:highlight>
                  <a:srgbClr val="FFFFFF"/>
                </a:highlight>
                <a:latin typeface="Open Sans Light"/>
                <a:ea typeface="Open Sans Light"/>
                <a:cs typeface="Open Sans Light"/>
                <a:sym typeface="Open Sans Light"/>
              </a:rPr>
              <a:t> are selected to form the summary.</a:t>
            </a:r>
            <a:endParaRPr sz="1050">
              <a:solidFill>
                <a:srgbClr val="1F1F1F"/>
              </a:solidFill>
              <a:highlight>
                <a:srgbClr val="FFFFFF"/>
              </a:highlight>
              <a:latin typeface="Open Sans Light"/>
              <a:ea typeface="Open Sans Light"/>
              <a:cs typeface="Open Sans Light"/>
              <a:sym typeface="Open Sans Light"/>
            </a:endParaRPr>
          </a:p>
          <a:p>
            <a:pPr marL="914400" lvl="1" indent="-295275" algn="l" rtl="0">
              <a:lnSpc>
                <a:spcPct val="115000"/>
              </a:lnSpc>
              <a:spcBef>
                <a:spcPts val="0"/>
              </a:spcBef>
              <a:spcAft>
                <a:spcPts val="0"/>
              </a:spcAft>
              <a:buClr>
                <a:srgbClr val="1F1F1F"/>
              </a:buClr>
              <a:buSzPts val="1050"/>
              <a:buFont typeface="Open Sans Light"/>
              <a:buChar char="○"/>
            </a:pPr>
            <a:r>
              <a:rPr lang="en" sz="1050">
                <a:solidFill>
                  <a:srgbClr val="1F1F1F"/>
                </a:solidFill>
                <a:highlight>
                  <a:srgbClr val="FFFFFF"/>
                </a:highlight>
                <a:latin typeface="Open Sans Light"/>
                <a:ea typeface="Open Sans Light"/>
                <a:cs typeface="Open Sans Light"/>
                <a:sym typeface="Open Sans Light"/>
              </a:rPr>
              <a:t>These sentences are considered the most central and informative in the text, representing the main ideas.</a:t>
            </a:r>
            <a:endParaRPr sz="1050">
              <a:solidFill>
                <a:srgbClr val="1F1F1F"/>
              </a:solidFill>
              <a:highlight>
                <a:srgbClr val="FFFFFF"/>
              </a:highlight>
              <a:latin typeface="Open Sans Light"/>
              <a:ea typeface="Open Sans Light"/>
              <a:cs typeface="Open Sans Light"/>
              <a:sym typeface="Open Sans Light"/>
            </a:endParaRPr>
          </a:p>
          <a:p>
            <a:pPr marL="0" marR="0" lvl="0" indent="0" algn="l" rtl="0">
              <a:lnSpc>
                <a:spcPct val="115000"/>
              </a:lnSpc>
              <a:spcBef>
                <a:spcPts val="1600"/>
              </a:spcBef>
              <a:spcAft>
                <a:spcPts val="0"/>
              </a:spcAft>
              <a:buClr>
                <a:schemeClr val="dk1"/>
              </a:buClr>
              <a:buSzPts val="1400"/>
              <a:buFont typeface="Arial"/>
              <a:buNone/>
            </a:pPr>
            <a:endParaRPr sz="1100">
              <a:solidFill>
                <a:schemeClr val="dk2"/>
              </a:solidFill>
              <a:latin typeface="Open Sans Light"/>
              <a:ea typeface="Open Sans Light"/>
              <a:cs typeface="Open Sans Light"/>
              <a:sym typeface="Open Sans Light"/>
            </a:endParaRPr>
          </a:p>
          <a:p>
            <a:pPr marL="0" marR="0" lvl="0" indent="0" algn="l" rtl="0">
              <a:lnSpc>
                <a:spcPct val="115000"/>
              </a:lnSpc>
              <a:spcBef>
                <a:spcPts val="0"/>
              </a:spcBef>
              <a:spcAft>
                <a:spcPts val="600"/>
              </a:spcAft>
              <a:buClr>
                <a:srgbClr val="000000"/>
              </a:buClr>
              <a:buSzPts val="1400"/>
              <a:buFont typeface="Arial"/>
              <a:buNone/>
            </a:pPr>
            <a:endParaRPr sz="1100" b="0" i="0" u="none" strike="noStrike" cap="none">
              <a:solidFill>
                <a:schemeClr val="dk2"/>
              </a:solidFill>
              <a:latin typeface="Open Sans Light"/>
              <a:ea typeface="Open Sans Light"/>
              <a:cs typeface="Open Sans Light"/>
              <a:sym typeface="Open Sans Light"/>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18"/>
        <p:cNvGrpSpPr/>
        <p:nvPr/>
      </p:nvGrpSpPr>
      <p:grpSpPr>
        <a:xfrm>
          <a:off x="0" y="0"/>
          <a:ext cx="0" cy="0"/>
          <a:chOff x="0" y="0"/>
          <a:chExt cx="0" cy="0"/>
        </a:xfrm>
      </p:grpSpPr>
      <p:sp>
        <p:nvSpPr>
          <p:cNvPr id="419" name="Google Shape;419;g31c6c500ab9_0_17"/>
          <p:cNvSpPr txBox="1"/>
          <p:nvPr/>
        </p:nvSpPr>
        <p:spPr>
          <a:xfrm>
            <a:off x="311700" y="357950"/>
            <a:ext cx="8520600" cy="572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 sz="2800">
                <a:solidFill>
                  <a:srgbClr val="002D45"/>
                </a:solidFill>
                <a:latin typeface="Montserrat"/>
                <a:ea typeface="Montserrat"/>
                <a:cs typeface="Montserrat"/>
                <a:sym typeface="Montserrat"/>
              </a:rPr>
              <a:t>Retrieval Augmented Generation</a:t>
            </a:r>
            <a:endParaRPr sz="2800" b="0" i="0" u="none" strike="noStrike" cap="none">
              <a:solidFill>
                <a:srgbClr val="002D45"/>
              </a:solidFill>
              <a:latin typeface="Montserrat"/>
              <a:ea typeface="Montserrat"/>
              <a:cs typeface="Montserrat"/>
              <a:sym typeface="Montserrat"/>
            </a:endParaRPr>
          </a:p>
        </p:txBody>
      </p:sp>
      <p:sp>
        <p:nvSpPr>
          <p:cNvPr id="420" name="Google Shape;420;g31c6c500ab9_0_17"/>
          <p:cNvSpPr txBox="1"/>
          <p:nvPr/>
        </p:nvSpPr>
        <p:spPr>
          <a:xfrm>
            <a:off x="311700" y="1091650"/>
            <a:ext cx="8448300" cy="348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Retrieval-Augmented Generation (RAG) combines two key elements—retrieval and generation—to create smarter AI systems.</a:t>
            </a:r>
            <a:endParaRPr/>
          </a:p>
          <a:p>
            <a:pPr marL="0" lvl="0" indent="0" algn="l" rtl="0">
              <a:spcBef>
                <a:spcPts val="0"/>
              </a:spcBef>
              <a:spcAft>
                <a:spcPts val="0"/>
              </a:spcAft>
              <a:buClr>
                <a:schemeClr val="dk1"/>
              </a:buClr>
              <a:buSzPts val="1100"/>
              <a:buFont typeface="Arial"/>
              <a:buNone/>
            </a:pPr>
            <a:endParaRPr/>
          </a:p>
          <a:p>
            <a:pPr marL="457200" lvl="0" indent="-304800" algn="l" rtl="0">
              <a:lnSpc>
                <a:spcPct val="100000"/>
              </a:lnSpc>
              <a:spcBef>
                <a:spcPts val="0"/>
              </a:spcBef>
              <a:spcAft>
                <a:spcPts val="0"/>
              </a:spcAft>
              <a:buSzPts val="1200"/>
              <a:buAutoNum type="arabicPeriod"/>
            </a:pPr>
            <a:r>
              <a:rPr lang="en" sz="1200"/>
              <a:t>Retrieval: Imagine having a massive library of information. When you ask a question, instead of trying to remember everything, the system quickly looks up the most relevant articles to find useful information.</a:t>
            </a:r>
            <a:endParaRPr sz="1200"/>
          </a:p>
          <a:p>
            <a:pPr marL="457200" lvl="0" indent="0" algn="l" rtl="0">
              <a:lnSpc>
                <a:spcPct val="100000"/>
              </a:lnSpc>
              <a:spcBef>
                <a:spcPts val="0"/>
              </a:spcBef>
              <a:spcAft>
                <a:spcPts val="0"/>
              </a:spcAft>
              <a:buNone/>
            </a:pPr>
            <a:endParaRPr sz="1200"/>
          </a:p>
          <a:p>
            <a:pPr marL="457200" lvl="0" indent="-304800" algn="l" rtl="0">
              <a:lnSpc>
                <a:spcPct val="100000"/>
              </a:lnSpc>
              <a:spcBef>
                <a:spcPts val="0"/>
              </a:spcBef>
              <a:spcAft>
                <a:spcPts val="0"/>
              </a:spcAft>
              <a:buSzPts val="1200"/>
              <a:buAutoNum type="arabicPeriod"/>
            </a:pPr>
            <a:r>
              <a:rPr lang="en" sz="1200"/>
              <a:t>Generation: Once the system has the relevant information, it uses AI (like GPT) to write a clear response, combining the facts it found with its own language skills.</a:t>
            </a:r>
            <a:endParaRPr sz="900">
              <a:solidFill>
                <a:schemeClr val="dk1"/>
              </a:solidFill>
            </a:endParaRPr>
          </a:p>
          <a:p>
            <a:pPr marL="0" marR="0" lvl="0" indent="0" algn="l" rtl="0">
              <a:lnSpc>
                <a:spcPct val="115000"/>
              </a:lnSpc>
              <a:spcBef>
                <a:spcPts val="0"/>
              </a:spcBef>
              <a:spcAft>
                <a:spcPts val="0"/>
              </a:spcAft>
              <a:buClr>
                <a:schemeClr val="dk1"/>
              </a:buClr>
              <a:buSzPts val="1400"/>
              <a:buFont typeface="Arial"/>
              <a:buNone/>
            </a:pPr>
            <a:endParaRPr>
              <a:solidFill>
                <a:schemeClr val="dk2"/>
              </a:solidFill>
              <a:latin typeface="Open Sans Light"/>
              <a:ea typeface="Open Sans Light"/>
              <a:cs typeface="Open Sans Light"/>
              <a:sym typeface="Open Sans Light"/>
            </a:endParaRPr>
          </a:p>
          <a:p>
            <a:pPr marL="0" marR="0" lvl="0" indent="0" algn="l" rtl="0">
              <a:lnSpc>
                <a:spcPct val="115000"/>
              </a:lnSpc>
              <a:spcBef>
                <a:spcPts val="0"/>
              </a:spcBef>
              <a:spcAft>
                <a:spcPts val="600"/>
              </a:spcAft>
              <a:buClr>
                <a:srgbClr val="000000"/>
              </a:buClr>
              <a:buSzPts val="1400"/>
              <a:buFont typeface="Arial"/>
              <a:buNone/>
            </a:pPr>
            <a:endParaRPr sz="1400" b="0" i="0" u="none" strike="noStrike" cap="none">
              <a:solidFill>
                <a:schemeClr val="dk2"/>
              </a:solidFill>
              <a:latin typeface="Open Sans Light"/>
              <a:ea typeface="Open Sans Light"/>
              <a:cs typeface="Open Sans Light"/>
              <a:sym typeface="Open Sans Light"/>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2832</Words>
  <Application>Microsoft Office PowerPoint</Application>
  <PresentationFormat>On-screen Show (16:9)</PresentationFormat>
  <Paragraphs>378</Paragraphs>
  <Slides>48</Slides>
  <Notes>48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48</vt:i4>
      </vt:variant>
    </vt:vector>
  </HeadingPairs>
  <TitlesOfParts>
    <vt:vector size="54" baseType="lpstr">
      <vt:lpstr>Open Sans Light</vt:lpstr>
      <vt:lpstr>Roboto</vt:lpstr>
      <vt:lpstr>Arial</vt:lpstr>
      <vt:lpstr>Open Sans</vt:lpstr>
      <vt:lpstr>Montserrat</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Junze He</cp:lastModifiedBy>
  <cp:revision>3</cp:revision>
  <dcterms:modified xsi:type="dcterms:W3CDTF">2024-12-16T00:45:20Z</dcterms:modified>
</cp:coreProperties>
</file>